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732" r:id="rId1"/>
  </p:sldMasterIdLst>
  <p:notesMasterIdLst>
    <p:notesMasterId r:id="rId13"/>
  </p:notesMasterIdLst>
  <p:handoutMasterIdLst>
    <p:handoutMasterId r:id="rId14"/>
  </p:handoutMasterIdLst>
  <p:sldIdLst>
    <p:sldId id="256" r:id="rId9"/>
    <p:sldId id="257" r:id="rId10"/>
    <p:sldId id="258" r:id="rId11"/>
    <p:sldId id="259" r:id="rId12"/>
    <p:sldId id="260" r:id="rId8"/>
    <p:sldId id="261" r:id="rId7"/>
    <p:sldId id="26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96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A15E724-AFC9-A4C0-CAB9-D6EC0C560360}" name="Khan, Kamran" initials="KK" userId="S::kjkhan@amazon.com::8c16a378-efd2-4586-a4a5-f0725abc41b4" providerId="AD"/>
  <p188:author id="{485EC9B9-D043-2072-5CDA-0E18DA86FA5A}" name="Lakhotia, Esha" initials="LE" userId="S::elakhoti@amazon.com::458df9ec-1ecb-4c08-9ab9-581bf4e2578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CE8F4"/>
    <a:srgbClr val="7F1EE7"/>
    <a:srgbClr val="000000"/>
    <a:srgbClr val="1D262F"/>
    <a:srgbClr val="1A0033"/>
    <a:srgbClr val="FFFFFF"/>
    <a:srgbClr val="FCFCFD"/>
    <a:srgbClr val="0000A3"/>
    <a:srgbClr val="B81EE7"/>
    <a:srgbClr val="5400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12C8C85-51F0-491E-9774-3900AFEF0F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77" autoAdjust="0"/>
    <p:restoredTop sz="79852" autoAdjust="0"/>
  </p:normalViewPr>
  <p:slideViewPr>
    <p:cSldViewPr snapToGrid="0">
      <p:cViewPr varScale="1">
        <p:scale>
          <a:sx n="132" d="100"/>
          <a:sy n="132" d="100"/>
        </p:scale>
        <p:origin x="1152" y="176"/>
      </p:cViewPr>
      <p:guideLst>
        <p:guide orient="horz" pos="1296"/>
        <p:guide pos="3840"/>
      </p:guideLst>
    </p:cSldViewPr>
  </p:slideViewPr>
  <p:outlineViewPr>
    <p:cViewPr>
      <p:scale>
        <a:sx n="33" d="100"/>
        <a:sy n="33" d="100"/>
      </p:scale>
      <p:origin x="0" y="-4488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109" d="100"/>
          <a:sy n="109" d="100"/>
        </p:scale>
        <p:origin x="4040" y="17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6" Type="http://schemas.openxmlformats.org/officeDocument/2006/relationships/slide" Target="slides/slide7.xml"/><Relationship Id="rId7" Type="http://schemas.openxmlformats.org/officeDocument/2006/relationships/slide" Target="slides/slide6.xml"/><Relationship Id="rId8" Type="http://schemas.openxmlformats.org/officeDocument/2006/relationships/slide" Target="slides/slide5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4" Type="http://schemas.openxmlformats.org/officeDocument/2006/relationships/handoutMaster" Target="handoutMasters/handout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>
                <a:latin typeface="Amazon Ember Display" panose="020F0603020204020204" pitchFamily="34" charset="0"/>
              </a:rPr>
              <a:pPr algn="ctr"/>
              <a:t>‹#›</a:t>
            </a:fld>
            <a:endParaRPr lang="en-US" sz="1000" dirty="0">
              <a:latin typeface="Amazon Ember Display" panose="020F06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 b="0" i="0">
                <a:latin typeface="Amazon Ember Display" panose="020F0603020204020204" pitchFamily="34" charset="0"/>
              </a:defRPr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de 1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DF3A4-5795-4C3E-A626-E8705501F60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7246" y="3418321"/>
            <a:ext cx="6460999" cy="923330"/>
          </a:xfrm>
          <a:prstGeom prst="rect">
            <a:avLst/>
          </a:prstGeom>
        </p:spPr>
        <p:txBody>
          <a:bodyPr wrap="square" anchor="t" anchorCtr="0"/>
          <a:lstStyle>
            <a:lvl1pPr algn="l">
              <a:defRPr sz="6000" b="1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Enter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AD1914-560C-4D5C-AA3F-8A993D908EC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8" y="4366830"/>
            <a:ext cx="6460998" cy="584775"/>
          </a:xfrm>
          <a:prstGeom prst="rect">
            <a:avLst/>
          </a:prstGeo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3200" b="1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Enter subtitle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235E33B-41A5-4ACB-9AE6-2F3E7CAA44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5261981"/>
            <a:ext cx="3797302" cy="400110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1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 (pronouns)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54CE4ED-4096-479A-AA41-A2286E854B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8" y="332014"/>
            <a:ext cx="6477002" cy="230832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000" b="0" i="0" cap="all" spc="300" baseline="0">
                <a:solidFill>
                  <a:schemeClr val="tx2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dirty="0"/>
              <a:t>Enter session ID if required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7D4CE88-F816-4273-A6C0-5D3F9D2E05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5674769"/>
            <a:ext cx="3797302" cy="584775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 b="0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job title</a:t>
            </a:r>
            <a:br>
              <a:rPr lang="en-US" dirty="0"/>
            </a:br>
            <a:r>
              <a:rPr lang="en-US" dirty="0"/>
              <a:t>Speaker company</a:t>
            </a:r>
          </a:p>
        </p:txBody>
      </p:sp>
    </p:spTree>
    <p:extLst>
      <p:ext uri="{BB962C8B-B14F-4D97-AF65-F5344CB8AC3E}">
        <p14:creationId xmlns:p14="http://schemas.microsoft.com/office/powerpoint/2010/main" val="3116447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1750401-572B-4B45-BF07-5D528B05F8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377715"/>
            <a:ext cx="11247438" cy="3549690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  <a:lvl2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2pPr>
            <a:lvl3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3pPr>
            <a:lvl4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4pPr>
            <a:lvl5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high-level agenda items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タイトル 5">
            <a:extLst>
              <a:ext uri="{FF2B5EF4-FFF2-40B4-BE49-F238E27FC236}">
                <a16:creationId xmlns:a16="http://schemas.microsoft.com/office/drawing/2014/main" id="{64188B27-D1F7-5699-25C7-360C2A3C7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293583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071E41DC-3AB2-33CA-0E29-26E2B0164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021467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Gradi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9C0C633D-6533-7A81-CB54-487A1ECE7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582845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6213DF-CEC6-4F46-9CD4-5ED4A416AF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7987" y="908050"/>
            <a:ext cx="11449049" cy="3693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cap="none" spc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7" name="タイトル 6">
            <a:extLst>
              <a:ext uri="{FF2B5EF4-FFF2-40B4-BE49-F238E27FC236}">
                <a16:creationId xmlns:a16="http://schemas.microsoft.com/office/drawing/2014/main" id="{ADA10BAA-117E-4979-BFDE-E8E27E25E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922509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840">
          <p15:clr>
            <a:srgbClr val="9FCC3B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2984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6">
            <a:extLst>
              <a:ext uri="{FF2B5EF4-FFF2-40B4-BE49-F238E27FC236}">
                <a16:creationId xmlns:a16="http://schemas.microsoft.com/office/drawing/2014/main" id="{C31057A0-1AB3-C59E-241E-58D9A94D4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19982E9C-19F2-6D70-0138-2D7C09EA2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lvl1pPr marL="0" indent="0">
              <a:buNone/>
              <a:defRPr/>
            </a:lvl1pPr>
            <a:lvl2pPr marL="280800" indent="0">
              <a:buNone/>
              <a:defRPr/>
            </a:lvl2pPr>
            <a:lvl3pPr marL="622800" indent="0">
              <a:buNone/>
              <a:defRPr/>
            </a:lvl3pPr>
            <a:lvl4pPr marL="795600" indent="0">
              <a:buNone/>
              <a:defRPr/>
            </a:lvl4pPr>
            <a:lvl5pPr marL="968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10861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86EE66B-2848-D944-6D93-4D6603CDC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EC2E6AE7-4E53-3437-B370-670CC07AF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578817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718036"/>
            <a:ext cx="7823200" cy="1421928"/>
          </a:xfrm>
          <a:prstGeom prst="rect">
            <a:avLst/>
          </a:prstGeom>
        </p:spPr>
        <p:txBody>
          <a:bodyPr anchor="ctr" anchorCtr="0"/>
          <a:lstStyle>
            <a:lvl1pPr>
              <a:defRPr sz="4800" b="1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Section layout: Enter section name here</a:t>
            </a:r>
          </a:p>
        </p:txBody>
      </p:sp>
    </p:spTree>
    <p:extLst>
      <p:ext uri="{BB962C8B-B14F-4D97-AF65-F5344CB8AC3E}">
        <p14:creationId xmlns:p14="http://schemas.microsoft.com/office/powerpoint/2010/main" val="3490127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1FFA190-394C-4586-A84A-BA2A6770300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682D70F-F9C4-4C4C-A916-589EA4438C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93A1250-E885-4935-B98D-9C62E4E51F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146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F7E9957-AB07-4CE6-BD9E-3631EF6ED5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146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E064B62F-5416-46A2-BBC6-945C362C63D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101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4BBE44B1-E140-4E35-AF0B-41A3CDA5CA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101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BEBFA3-8C5E-448A-B03D-8DAAEBB407B0}"/>
              </a:ext>
            </a:extLst>
          </p:cNvPr>
          <p:cNvSpPr txBox="1"/>
          <p:nvPr userDrawn="1"/>
        </p:nvSpPr>
        <p:spPr>
          <a:xfrm>
            <a:off x="609599" y="2461211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58040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9">
            <a:extLst>
              <a:ext uri="{FF2B5EF4-FFF2-40B4-BE49-F238E27FC236}">
                <a16:creationId xmlns:a16="http://schemas.microsoft.com/office/drawing/2014/main" id="{6BA9B5C3-6371-84F6-B7DD-E715A7747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301169"/>
            <a:ext cx="11449050" cy="60688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7F0757-0A35-2523-9D3C-4010D62C72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47485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9" r:id="rId2"/>
    <p:sldLayoutId id="2147483742" r:id="rId3"/>
    <p:sldLayoutId id="2147483744" r:id="rId4"/>
    <p:sldLayoutId id="2147483746" r:id="rId5"/>
    <p:sldLayoutId id="2147483747" r:id="rId6"/>
    <p:sldLayoutId id="2147483748" r:id="rId7"/>
    <p:sldLayoutId id="2147483749" r:id="rId8"/>
    <p:sldLayoutId id="2147483772" r:id="rId9"/>
    <p:sldLayoutId id="2147483780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1pPr>
    </p:titleStyle>
    <p:bodyStyle>
      <a:lvl1pPr marL="3492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4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1pPr>
      <a:lvl2pPr marL="6300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システムフォント（レギュラー）"/>
        <a:buChar char="-"/>
        <a:defRPr sz="24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2pPr>
      <a:lvl3pPr marL="9720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システムフォント（レギュラー）"/>
        <a:buChar char="&gt;"/>
        <a:defRPr sz="20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3pPr>
      <a:lvl4pPr marL="11448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4pPr>
      <a:lvl5pPr marL="13176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06" userDrawn="1">
          <p15:clr>
            <a:srgbClr val="F26B43"/>
          </p15:clr>
        </p15:guide>
        <p15:guide id="3" pos="257" userDrawn="1">
          <p15:clr>
            <a:srgbClr val="F26B43"/>
          </p15:clr>
        </p15:guide>
        <p15:guide id="4" pos="7469" userDrawn="1">
          <p15:clr>
            <a:srgbClr val="F26B43"/>
          </p15:clr>
        </p15:guide>
        <p15:guide id="5" orient="horz" pos="187" userDrawn="1">
          <p15:clr>
            <a:srgbClr val="F26B43"/>
          </p15:clr>
        </p15:guide>
        <p15:guide id="6" orient="horz" pos="572" userDrawn="1">
          <p15:clr>
            <a:srgbClr val="F26B43"/>
          </p15:clr>
        </p15:guide>
        <p15:guide id="7" orient="horz" pos="867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From sbatch to NCCL over EFA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Who starts what, and where each fix lands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9575" y="1428750"/>
            <a:ext cx="2228850" cy="60960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sbatch script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(host shell)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95575" y="1428750"/>
            <a:ext cx="2228850" cy="60960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srun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(one task per node)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638425" y="1733550"/>
            <a:ext cx="5715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981575" y="1428750"/>
            <a:ext cx="2228850" cy="6096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enroot container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(pyxis)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924425" y="1733550"/>
            <a:ext cx="5715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267575" y="1428750"/>
            <a:ext cx="2228850" cy="6096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torchrun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sets RANK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210425" y="1733550"/>
            <a:ext cx="5715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553575" y="1428750"/>
            <a:ext cx="2228850" cy="6096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train.py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NCCL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496425" y="1733550"/>
            <a:ext cx="5715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553575" y="2571750"/>
            <a:ext cx="2228850" cy="5715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aws-ofi-nccl -&gt; EFA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668000" y="2038350"/>
            <a:ext cx="0" cy="5334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09575" y="2247900"/>
            <a:ext cx="22288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200" b="0">
                <a:solidFill>
                  <a:srgbClr val="FBD332"/>
                </a:solidFill>
                <a:latin typeface="Amazon Ember"/>
                <a:ea typeface="メイリオ"/>
                <a:cs typeface="メイリオ"/>
              </a:rPr>
              <a:t>pitfall (not in PR): PATH lacks</a:t>
            </a:r>
          </a:p>
          <a:p>
            <a:pPr algn="ctr">
              <a:lnSpc>
                <a:spcPct val="122000"/>
              </a:lnSpc>
            </a:pPr>
            <a:r>
              <a:rPr sz="1200" b="0">
                <a:solidFill>
                  <a:srgbClr val="FBD332"/>
                </a:solidFill>
                <a:latin typeface="Amazon Ember"/>
                <a:ea typeface="メイリオ"/>
                <a:cs typeface="メイリオ"/>
              </a:rPr>
              <a:t>/opt/slurm/bin on ParallelCluster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7575" y="2247900"/>
            <a:ext cx="22288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200" b="0">
                <a:solidFill>
                  <a:srgbClr val="FBD332"/>
                </a:solidFill>
                <a:latin typeface="Amazon Ember"/>
                <a:ea typeface="メイリオ"/>
                <a:cs typeface="メイリオ"/>
              </a:rPr>
              <a:t>pitfall (not in PR): srun alone</a:t>
            </a:r>
          </a:p>
          <a:p>
            <a:pPr algn="ctr">
              <a:lnSpc>
                <a:spcPct val="122000"/>
              </a:lnSpc>
            </a:pPr>
            <a:r>
              <a:rPr sz="1200" b="0">
                <a:solidFill>
                  <a:srgbClr val="FBD332"/>
                </a:solidFill>
                <a:latin typeface="Amazon Ember"/>
                <a:ea typeface="メイリオ"/>
                <a:cs typeface="メイリオ"/>
              </a:rPr>
              <a:t>does not set RANK / WORLD_SIZE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9575" y="3619500"/>
            <a:ext cx="5715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Fixes in PR #1019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9575" y="4000500"/>
            <a:ext cx="2705100" cy="4762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Dockerfile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9575" y="4514850"/>
            <a:ext cx="27051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pin picotron to 59714b1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67075" y="4000500"/>
            <a:ext cx="2705100" cy="4762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create_config.py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67075" y="4514850"/>
            <a:ext cx="27051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template path from __file__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4575" y="4000500"/>
            <a:ext cx="2705100" cy="4762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train.sbatch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4575" y="4514850"/>
            <a:ext cx="27051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EFA provider, huge pages off,</a:t>
            </a:r>
          </a:p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skip docker/lo/veth sockets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82075" y="4000500"/>
            <a:ext cx="2705100" cy="4762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READMEs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82075" y="4514850"/>
            <a:ext cx="27051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config path, duplicate step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DDP container training: what broke and what changed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Issues #1038 and #1047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9575" y="1333500"/>
            <a:ext cx="2476500" cy="609600"/>
          </a:xfrm>
          <a:prstGeom prst="roundRect">
            <a:avLst>
              <a:gd name="adj" fmla="val 10000"/>
            </a:avLst>
          </a:prstGeom>
          <a:solidFill>
            <a:srgbClr val="461020"/>
          </a:solidFill>
          <a:ln w="15875">
            <a:solidFill>
              <a:srgbClr val="DC26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2.create-enroot-image.sh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pulls pytorch:latest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76575" y="1333500"/>
            <a:ext cx="2476500" cy="609600"/>
          </a:xfrm>
          <a:prstGeom prst="roundRect">
            <a:avLst>
              <a:gd name="adj" fmla="val 10000"/>
            </a:avLst>
          </a:prstGeom>
          <a:solidFill>
            <a:srgbClr val="461020"/>
          </a:solidFill>
          <a:ln w="15875">
            <a:solidFill>
              <a:srgbClr val="DC26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Dockerfile ignored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-&gt; no mlflow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86075" y="1638300"/>
            <a:ext cx="19050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743575" y="1333500"/>
            <a:ext cx="2476500" cy="6096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build from Dockerfile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(dockerd://)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553075" y="1638300"/>
            <a:ext cx="19050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09575" y="2286000"/>
            <a:ext cx="2476500" cy="609600"/>
          </a:xfrm>
          <a:prstGeom prst="roundRect">
            <a:avLst>
              <a:gd name="adj" fmla="val 10000"/>
            </a:avLst>
          </a:prstGeom>
          <a:solidFill>
            <a:srgbClr val="461020"/>
          </a:solidFill>
          <a:ln w="15875">
            <a:solidFill>
              <a:srgbClr val="DC26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sbatch passes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--use-mlflow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76575" y="2286000"/>
            <a:ext cx="2476500" cy="609600"/>
          </a:xfrm>
          <a:prstGeom prst="roundRect">
            <a:avLst>
              <a:gd name="adj" fmla="val 10000"/>
            </a:avLst>
          </a:prstGeom>
          <a:solidFill>
            <a:srgbClr val="461020"/>
          </a:solidFill>
          <a:ln w="15875">
            <a:solidFill>
              <a:srgbClr val="DC26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argparse defines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--use_mlflow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886075" y="2590800"/>
            <a:ext cx="19050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743575" y="2286000"/>
            <a:ext cx="2476500" cy="6096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--use_mlflow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553075" y="2590800"/>
            <a:ext cx="19050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09575" y="3143250"/>
            <a:ext cx="8572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FBD332"/>
                </a:solidFill>
                <a:latin typeface="Amazon Ember"/>
                <a:ea typeface="メイリオ"/>
                <a:cs typeface="メイリオ"/>
              </a:rPr>
              <a:t>Intermittent failures on CPU nodes (#1047)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9575" y="3524250"/>
            <a:ext cx="2476500" cy="609600"/>
          </a:xfrm>
          <a:prstGeom prst="roundRect">
            <a:avLst>
              <a:gd name="adj" fmla="val 10000"/>
            </a:avLst>
          </a:prstGeom>
          <a:solidFill>
            <a:srgbClr val="461020"/>
          </a:solidFill>
          <a:ln w="15875">
            <a:solidFill>
              <a:srgbClr val="DC26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nproc_per_node=4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8 ranks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76575" y="3524250"/>
            <a:ext cx="2476500" cy="609600"/>
          </a:xfrm>
          <a:prstGeom prst="roundRect">
            <a:avLst>
              <a:gd name="adj" fmla="val 10000"/>
            </a:avLst>
          </a:prstGeom>
          <a:solidFill>
            <a:srgbClr val="461020"/>
          </a:solidFill>
          <a:ln w="15875">
            <a:solidFill>
              <a:srgbClr val="DC26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some ranks: MNIST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file corrupted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886075" y="3829050"/>
            <a:ext cx="19050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743575" y="3524250"/>
            <a:ext cx="2476500" cy="609600"/>
          </a:xfrm>
          <a:prstGeom prst="roundRect">
            <a:avLst>
              <a:gd name="adj" fmla="val 10000"/>
            </a:avLst>
          </a:prstGeom>
          <a:solidFill>
            <a:srgbClr val="461020"/>
          </a:solidFill>
          <a:ln w="15875">
            <a:solidFill>
              <a:srgbClr val="DC26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other ranks: GLOO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connection closed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553075" y="3829050"/>
            <a:ext cx="19050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410575" y="3524250"/>
            <a:ext cx="2476500" cy="6096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pin 2.10.0 +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NPROC_PER_NODE knob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220075" y="3829050"/>
            <a:ext cx="19050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09575" y="4476750"/>
            <a:ext cx="10477500" cy="47625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open (hypothesis): concurrent MNIST download on shared storage  -&gt;  follow-up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Monitoring ParallelCluster compute nodes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PR #1043: same collector as HyperPod, a different install hook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9575" y="1333500"/>
            <a:ext cx="2857500" cy="285750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75" y="1409700"/>
            <a:ext cx="2476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Compute node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0075" y="1809750"/>
            <a:ext cx="2476500" cy="6096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OnNodeConfigured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install-node-exporter.sh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0075" y="2762250"/>
            <a:ext cx="2476500" cy="60960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node_exporter :9100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(systemd, own user)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38325" y="2419350"/>
            <a:ext cx="0" cy="3429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286250" y="2476500"/>
            <a:ext cx="2857500" cy="8572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Prometheus agent collector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scrape 1m, timeout 30s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3076575" y="2905125"/>
            <a:ext cx="1209675" cy="161925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191500" y="2095500"/>
            <a:ext cx="3143250" cy="60960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Amazon Managed Prometheus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91500" y="3048000"/>
            <a:ext cx="3143250" cy="60960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Grafana dashboards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7143750" y="2400300"/>
            <a:ext cx="1047750" cy="36195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763125" y="2705100"/>
            <a:ext cx="0" cy="3429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286250" y="3429000"/>
            <a:ext cx="28575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no instance-type filter:</a:t>
            </a:r>
          </a:p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CPU, GPU, Trainium alike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9575" y="4381500"/>
            <a:ext cx="109537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checksum verified, 3 retries, arm64 and amd64, skips if already running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helm-chart-installer: why import ssl failed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PR #1206: one line removed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9575" y="1333500"/>
            <a:ext cx="3619500" cy="285750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75" y="1409700"/>
            <a:ext cx="3238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Lambda python3.12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0075" y="1809750"/>
            <a:ext cx="3238500" cy="57150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_ssl (needs OPENSSL_3.3.0)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0075" y="2762250"/>
            <a:ext cx="1524000" cy="57150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runtime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libcrypto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14575" y="2762250"/>
            <a:ext cx="1524000" cy="571500"/>
          </a:xfrm>
          <a:prstGeom prst="roundRect">
            <a:avLst>
              <a:gd name="adj" fmla="val 10000"/>
            </a:avLst>
          </a:prstGeom>
          <a:solidFill>
            <a:srgbClr val="461020"/>
          </a:solidFill>
          <a:ln w="15875">
            <a:solidFill>
              <a:srgbClr val="DC26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layer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libcrypto (old)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19325" y="2381250"/>
            <a:ext cx="857250" cy="381000"/>
          </a:xfrm>
          <a:prstGeom prst="line">
            <a:avLst/>
          </a:prstGeom>
          <a:ln w="25400">
            <a:solidFill>
              <a:srgbClr val="DC265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00075" y="3524250"/>
            <a:ext cx="32385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FBD332"/>
                </a:solidFill>
                <a:latin typeface="Amazon Ember"/>
                <a:ea typeface="メイリオ"/>
                <a:cs typeface="メイリオ"/>
              </a:rPr>
              <a:t>LD_LIBRARY_PATH=/opt/python/lib</a:t>
            </a:r>
          </a:p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FBD332"/>
                </a:solidFill>
                <a:latin typeface="Amazon Ember"/>
                <a:ea typeface="メイリオ"/>
                <a:cs typeface="メイリオ"/>
              </a:rPr>
              <a:t>puts the layer first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53000" y="1333500"/>
            <a:ext cx="3619500" cy="285750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43500" y="1409700"/>
            <a:ext cx="3238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1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After the fix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43500" y="1809750"/>
            <a:ext cx="3238500" cy="57150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_ssl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43500" y="2762250"/>
            <a:ext cx="1524000" cy="5715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runtime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libcrypto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0" y="2762250"/>
            <a:ext cx="1524000" cy="57150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layer: git,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helm, kubectl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5905500" y="2381250"/>
            <a:ext cx="857250" cy="381000"/>
          </a:xfrm>
          <a:prstGeom prst="line">
            <a:avLst/>
          </a:prstGeom>
          <a:ln w="25400">
            <a:solidFill>
              <a:srgbClr val="3BD16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144000" y="1809750"/>
            <a:ext cx="2638425" cy="152400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same installer also in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aws/sagemaker-hyperpod-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cluster-setup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-&gt; RFC #1205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Why MODEL_ARGS arrived empty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ray job submit -- bash -c "... ${MODEL_ARGS[@]} ..."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9575" y="1428750"/>
            <a:ext cx="2476500" cy="60960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recipe builds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one string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76575" y="1428750"/>
            <a:ext cx="2476500" cy="60960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Ray: list2cmdline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+ /bin/sh -c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86075" y="1733550"/>
            <a:ext cx="19050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743575" y="1428750"/>
            <a:ext cx="2476500" cy="609600"/>
          </a:xfrm>
          <a:prstGeom prst="roundRect">
            <a:avLst>
              <a:gd name="adj" fmla="val 10000"/>
            </a:avLst>
          </a:prstGeom>
          <a:solidFill>
            <a:srgbClr val="461020"/>
          </a:solidFill>
          <a:ln w="15875">
            <a:solidFill>
              <a:srgbClr val="DC26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outer sh expands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MODEL_ARGS: empty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553075" y="1733550"/>
            <a:ext cx="19050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8410575" y="1428750"/>
            <a:ext cx="2476500" cy="609600"/>
          </a:xfrm>
          <a:prstGeom prst="roundRect">
            <a:avLst>
              <a:gd name="adj" fmla="val 10000"/>
            </a:avLst>
          </a:prstGeom>
          <a:solidFill>
            <a:srgbClr val="461020"/>
          </a:solidFill>
          <a:ln w="15875">
            <a:solidFill>
              <a:srgbClr val="DC26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train.py: hidden_size None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220075" y="1733550"/>
            <a:ext cx="19050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09575" y="2476500"/>
            <a:ext cx="8572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Fix: follow SLIME's own launch pattern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9575" y="2857500"/>
            <a:ext cx="2476500" cy="6096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ray job submit --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launcher.sh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76575" y="2857500"/>
            <a:ext cx="2476500" cy="6096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same shell sources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the model script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886075" y="3162300"/>
            <a:ext cx="19050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743575" y="2857500"/>
            <a:ext cx="2476500" cy="6096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argv tokens reach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train.py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553075" y="3162300"/>
            <a:ext cx="19050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09575" y="3810000"/>
            <a:ext cx="8572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FBD332"/>
                </a:solidFill>
                <a:latin typeface="Amazon Ember"/>
                <a:ea typeface="メイリオ"/>
                <a:cs typeface="メイリオ"/>
              </a:rPr>
              <a:t>Other fixes in the epic (#1164)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9575" y="4191000"/>
            <a:ext cx="2705100" cy="66675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log level WARN -&gt; warning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(uvicorn)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67075" y="4191000"/>
            <a:ext cx="2705100" cy="66675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torch_memory_saver .so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for CUDA 13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4575" y="4191000"/>
            <a:ext cx="2705100" cy="66675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numpy&lt;2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(Megatron init)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82075" y="4191000"/>
            <a:ext cx="2705100" cy="66675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30B MoE: mbridge,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GPU-less validate_args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miles GRPO test case on EKS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PR #1225: same shape as the slime test case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9575" y="1333500"/>
            <a:ext cx="3429000" cy="323850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75" y="1409700"/>
            <a:ext cx="3048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RayCluster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0075" y="1809750"/>
            <a:ext cx="3048000" cy="57150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head: coordinator (num-cpus 0)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0075" y="2571750"/>
            <a:ext cx="3048000" cy="8572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GPU workers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SGLang rollout + Megatron train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0075" y="3619500"/>
            <a:ext cx="3048000" cy="6667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colocated or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disaggregated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809750"/>
            <a:ext cx="2857500" cy="66675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reward service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(CPU, FastAPI)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3648075" y="2143125"/>
            <a:ext cx="923925" cy="85725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572000" y="2857500"/>
            <a:ext cx="2857500" cy="66675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FSx for Lustre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checkpoints, data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648075" y="3190875"/>
            <a:ext cx="923925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572000" y="3905250"/>
            <a:ext cx="2857500" cy="66675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BuildKit Job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(in-cluster image)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1500" y="1333500"/>
            <a:ext cx="3590925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FBD332"/>
                </a:solidFill>
                <a:latin typeface="Amazon Ember"/>
                <a:ea typeface="メイリオ"/>
                <a:cs typeface="メイリオ"/>
              </a:rPr>
              <a:t>Review: 18 findings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91500" y="1714500"/>
            <a:ext cx="3590925" cy="57150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wrong namespace / head pod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91500" y="2428875"/>
            <a:ext cx="3590925" cy="57150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reward errors scored as 0.0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91500" y="3143250"/>
            <a:ext cx="3590925" cy="57150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docs vs pinned image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91500" y="3857625"/>
            <a:ext cx="3590925" cy="57150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validation rows not reproducible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EKS GPU cluster as five templates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PR #1269: a GPU node group can be deployed on its own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9575" y="1428750"/>
            <a:ext cx="2857500" cy="6667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root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eks-gpu-cluster-deploy-all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00500" y="1428750"/>
            <a:ext cx="1866900" cy="66675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prerequisites</a:t>
            </a:r>
          </a:p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VPC, subnets, SG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00750" y="1428750"/>
            <a:ext cx="1866900" cy="66675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node AMI</a:t>
            </a:r>
          </a:p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Image Builder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01000" y="1428750"/>
            <a:ext cx="1866900" cy="66675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cluster</a:t>
            </a:r>
          </a:p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EKS control plane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01250" y="1428750"/>
            <a:ext cx="1866900" cy="6667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GPU node group</a:t>
            </a:r>
          </a:p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access entry, plugins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267075" y="1762125"/>
            <a:ext cx="733425" cy="0"/>
          </a:xfrm>
          <a:prstGeom prst="line">
            <a:avLst/>
          </a:prstGeom>
          <a:ln w="19050">
            <a:solidFill>
              <a:srgbClr val="F5F5F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000500" y="2190750"/>
            <a:ext cx="7810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created by URL from an S3 bucket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9575" y="2857500"/>
            <a:ext cx="2857500" cy="66675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existing EKS cluster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67075" y="3190875"/>
            <a:ext cx="6734175" cy="0"/>
          </a:xfrm>
          <a:prstGeom prst="line">
            <a:avLst/>
          </a:prstGeom>
          <a:ln w="25400">
            <a:solidFill>
              <a:srgbClr val="3BD16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000500" y="2857500"/>
            <a:ext cx="5715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standalone path: add GPU capacity to a cluster you already run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01250" y="2857500"/>
            <a:ext cx="1781175" cy="6667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node group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alone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9575" y="3905250"/>
            <a:ext cx="113728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Bootstrap fails the stack unless every GPU node is Ready and advertises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9575" y="4286250"/>
            <a:ext cx="5334000" cy="57150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nvidia.com/gpu = GPU count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6000" y="4286250"/>
            <a:ext cx="5334000" cy="57150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vpc.amazonaws.com/efa = NIC layout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WS Confidential Dark">
  <a:themeElements>
    <a:clrScheme name="AWS 2024">
      <a:dk1>
        <a:srgbClr val="000000"/>
      </a:dk1>
      <a:lt1>
        <a:srgbClr val="FFFFFF"/>
      </a:lt1>
      <a:dk2>
        <a:srgbClr val="161D26"/>
      </a:dk2>
      <a:lt2>
        <a:srgbClr val="F3F3F7"/>
      </a:lt2>
      <a:accent1>
        <a:srgbClr val="41B3FF"/>
      </a:accent1>
      <a:accent2>
        <a:srgbClr val="AD5CFF"/>
      </a:accent2>
      <a:accent3>
        <a:srgbClr val="00E500"/>
      </a:accent3>
      <a:accent4>
        <a:srgbClr val="FF5C85"/>
      </a:accent4>
      <a:accent5>
        <a:srgbClr val="FF693C"/>
      </a:accent5>
      <a:accent6>
        <a:srgbClr val="FBD332"/>
      </a:accent6>
      <a:hlink>
        <a:srgbClr val="41B1E8"/>
      </a:hlink>
      <a:folHlink>
        <a:srgbClr val="41B1E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>
            <a:lumMod val="75000"/>
          </a:schemeClr>
        </a:solidFill>
        <a:ln>
          <a:noFill/>
        </a:ln>
      </a:spPr>
      <a:bodyPr rtlCol="0" anchor="ctr"/>
      <a:lstStyle>
        <a:defPPr algn="ctr">
          <a:defRPr kumimoji="1" smtClean="0">
            <a:latin typeface="Amazon Ember Display" panose="020F0603020204020204" pitchFamily="34" charset="0"/>
            <a:ea typeface="メイリオ" panose="020B0604030504040204" pitchFamily="34" charset="-128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kumimoji="1" smtClean="0">
            <a:latin typeface="Amazon Ember Display" panose="020F0603020204020204" pitchFamily="34" charset="0"/>
            <a:ea typeface="メイリオ" panose="020B0604030504040204" pitchFamily="34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31027CB-BA99-4849-AD2B-D501A617C772}">
  <we:reference id="wa200001625" version="1.0.0.8" store="en-US" storeType="OMEX"/>
  <we:alternateReferences>
    <we:reference id="wa200001625" version="1.0.0.8" store="wa200001625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103425</TotalTime>
  <Words>1507</Words>
  <Application>Microsoft Macintosh PowerPoint</Application>
  <PresentationFormat>Widescreen</PresentationFormat>
  <Paragraphs>93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Meiryo</vt:lpstr>
      <vt:lpstr>システムフォント（レギュラー）</vt:lpstr>
      <vt:lpstr>Amazon Ember</vt:lpstr>
      <vt:lpstr>Amazon Ember Display</vt:lpstr>
      <vt:lpstr>Amazon Ember Mono</vt:lpstr>
      <vt:lpstr>Arial</vt:lpstr>
      <vt:lpstr>AWS Confidential Dark</vt:lpstr>
      <vt:lpstr>PFN 様向けの取り組み状況</vt:lpstr>
      <vt:lpstr>PowerPoint Presentation</vt:lpstr>
      <vt:lpstr>PowerPoint Presentation</vt:lpstr>
      <vt:lpstr>PLaMo3 on Trainium</vt:lpstr>
      <vt:lpstr>PowerPoint Presentation</vt:lpstr>
      <vt:lpstr>PowerPoint Presentation</vt:lpstr>
      <vt:lpstr>Native PyTorch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template includes</dc:title>
  <dc:creator>Microsoft Office User</dc:creator>
  <cp:lastModifiedBy>Akazawa, Toshinobu</cp:lastModifiedBy>
  <cp:revision>1088</cp:revision>
  <cp:lastPrinted>2026-06-30T17:34:27Z</cp:lastPrinted>
  <dcterms:created xsi:type="dcterms:W3CDTF">2022-07-18T16:28:56Z</dcterms:created>
  <dcterms:modified xsi:type="dcterms:W3CDTF">2026-06-30T17:42:46Z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2025-07-23T09:55:06Z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72dc440f-c268-47a9-b913-f18389bbf79d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