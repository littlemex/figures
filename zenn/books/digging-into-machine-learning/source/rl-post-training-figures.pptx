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Five parts of GRPO, and the work that changed 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a part of the GRPO loss.  Yellow: what that part decides.  Blue: methods that change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8500" y="1066800"/>
            <a:ext cx="5715000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GRPO loss for one group of G responses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466850" y="1600200"/>
            <a:ext cx="4629150" cy="3619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09575" y="1962150"/>
            <a:ext cx="2114550" cy="7048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averaging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over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9575" y="2781300"/>
            <a:ext cx="211455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how much each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 weighs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9575" y="3543300"/>
            <a:ext cx="2114550" cy="7048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DAPO: per token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 the group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575" y="4343400"/>
            <a:ext cx="2114550" cy="4953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Dr. GRPO: no 1/|o|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4933950"/>
            <a:ext cx="2114550" cy="914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proof (binary reward):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 length weight is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unbiased and length-free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771900" y="1600200"/>
            <a:ext cx="2324100" cy="3619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14625" y="1962150"/>
            <a:ext cx="2114550" cy="7048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baseline and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normalization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4625" y="2781300"/>
            <a:ext cx="211455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how good a response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is, against what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14625" y="3543300"/>
            <a:ext cx="2114550" cy="4953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Dr. GRPO: no std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14625" y="4133850"/>
            <a:ext cx="2114550" cy="4953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RLOO: leave-one-out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14625" y="4724400"/>
            <a:ext cx="2114550" cy="7048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REINFORCE++: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batch-wide norm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14625" y="5524500"/>
            <a:ext cx="2114550" cy="7048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DAPO, Magistral, Olmo 3: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skip all-same groups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076950" y="1600200"/>
            <a:ext cx="19050" cy="3619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19675" y="1962150"/>
            <a:ext cx="2114550" cy="7048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19675" y="2781300"/>
            <a:ext cx="211455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how much an update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is limited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19675" y="3543300"/>
            <a:ext cx="2114550" cy="4953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DAPO: Clip-Higher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19675" y="4133850"/>
            <a:ext cx="2114550" cy="7048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CISPO: clip the weight,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keep the gradient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19675" y="4933950"/>
            <a:ext cx="2114550" cy="4953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SAPO: smooth gate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6000" y="1600200"/>
            <a:ext cx="2286000" cy="3619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4725" y="1962150"/>
            <a:ext cx="2114550" cy="7048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unit of the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probability ratio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24725" y="2781300"/>
            <a:ext cx="211455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 or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whole response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24725" y="3543300"/>
            <a:ext cx="2114550" cy="7048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GSPO: geometric mean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per response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24725" y="4343400"/>
            <a:ext cx="2114550" cy="7048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GMPO: geometric mean,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clip per token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6000" y="1600200"/>
            <a:ext cx="4591050" cy="361950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29775" y="1962150"/>
            <a:ext cx="2114550" cy="7048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KL term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29775" y="2781300"/>
            <a:ext cx="211455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distance to the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reference model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29775" y="3543300"/>
            <a:ext cx="2114550" cy="914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removed: DAPO,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Magistral, GLM-4.5,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Olmo 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29775" y="4552950"/>
            <a:ext cx="2114550" cy="7048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DeepSeek-V3.2: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corrected estimator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Where the clipped term passes gradient, advantage &gt;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gradient flows.  Grey: no gradient from this term.  Yellow: weight held at the cap.  Bars: SAPO weight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333500"/>
            <a:ext cx="2667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1657350"/>
            <a:ext cx="2667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common default ε = 0.2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43250" y="1390650"/>
            <a:ext cx="5029200" cy="49530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gradient 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72450" y="1390650"/>
            <a:ext cx="3352800" cy="49530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 gradient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575" y="2362200"/>
            <a:ext cx="2667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DAPO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575" y="2686050"/>
            <a:ext cx="2667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Clip-Higher, ε_high = 0.28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43250" y="2419350"/>
            <a:ext cx="5364480" cy="49530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gradient 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7730" y="2419350"/>
            <a:ext cx="3017520" cy="495300"/>
          </a:xfrm>
          <a:prstGeom prst="roundRect">
            <a:avLst>
              <a:gd name="adj" fmla="val 8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 gradient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3390900"/>
            <a:ext cx="2667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CISPO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575" y="3714750"/>
            <a:ext cx="2667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cap 1 + ε_high (illustrative)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43250" y="3448050"/>
            <a:ext cx="5364480" cy="495300"/>
          </a:xfrm>
          <a:prstGeom prst="roundRect">
            <a:avLst>
              <a:gd name="adj" fmla="val 8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gradient 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7730" y="3448050"/>
            <a:ext cx="3017520" cy="495300"/>
          </a:xfrm>
          <a:prstGeom prst="roundRect">
            <a:avLst>
              <a:gd name="adj" fmla="val 8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weight = cap, gradient 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575" y="4419600"/>
            <a:ext cx="2667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575" y="4743450"/>
            <a:ext cx="2667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τ_pos = 1.0, weight w(r)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62300" y="4588095"/>
            <a:ext cx="381000" cy="53635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81400" y="4564986"/>
            <a:ext cx="381000" cy="559464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00500" y="4543324"/>
            <a:ext cx="381000" cy="581126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19600" y="4523448"/>
            <a:ext cx="381000" cy="601002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38700" y="4505686"/>
            <a:ext cx="381000" cy="618764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57800" y="4490347"/>
            <a:ext cx="381000" cy="634103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76900" y="4477709"/>
            <a:ext cx="381000" cy="646741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6000" y="4468010"/>
            <a:ext cx="381000" cy="65644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15100" y="4461436"/>
            <a:ext cx="381000" cy="663014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34200" y="4458117"/>
            <a:ext cx="381000" cy="666333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3300" y="4458117"/>
            <a:ext cx="381000" cy="666333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0" y="4461436"/>
            <a:ext cx="381000" cy="663014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91500" y="4468010"/>
            <a:ext cx="381000" cy="656440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10600" y="4477709"/>
            <a:ext cx="381000" cy="646741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29700" y="4490347"/>
            <a:ext cx="381000" cy="634103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48800" y="4505686"/>
            <a:ext cx="381000" cy="618764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67900" y="4523448"/>
            <a:ext cx="381000" cy="601002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87000" y="4543324"/>
            <a:ext cx="381000" cy="581126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706100" y="4564986"/>
            <a:ext cx="381000" cy="559464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125200" y="4588095"/>
            <a:ext cx="381000" cy="536355"/>
          </a:xfrm>
          <a:prstGeom prst="rect">
            <a:avLst/>
          </a:prstGeom>
          <a:solidFill>
            <a:srgbClr val="124022"/>
          </a:solidFill>
          <a:ln w="127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2750" y="421005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 =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48000" y="42100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 ≈ 0.79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96500" y="4210050"/>
            <a:ext cx="15240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 ≈ 0.79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43250" y="5505450"/>
            <a:ext cx="8382000" cy="19050"/>
          </a:xfrm>
          <a:prstGeom prst="rect">
            <a:avLst/>
          </a:prstGeom>
          <a:solidFill>
            <a:srgbClr val="F5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33725" y="5448300"/>
            <a:ext cx="19050" cy="133350"/>
          </a:xfrm>
          <a:prstGeom prst="rect">
            <a:avLst/>
          </a:prstGeom>
          <a:solidFill>
            <a:srgbClr val="F5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62250" y="561975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29225" y="5448300"/>
            <a:ext cx="19050" cy="133350"/>
          </a:xfrm>
          <a:prstGeom prst="rect">
            <a:avLst/>
          </a:prstGeom>
          <a:solidFill>
            <a:srgbClr val="F5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57750" y="561975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0.5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24725" y="5448300"/>
            <a:ext cx="19050" cy="133350"/>
          </a:xfrm>
          <a:prstGeom prst="rect">
            <a:avLst/>
          </a:prstGeom>
          <a:solidFill>
            <a:srgbClr val="F5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53250" y="561975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20225" y="5448300"/>
            <a:ext cx="19050" cy="133350"/>
          </a:xfrm>
          <a:prstGeom prst="rect">
            <a:avLst/>
          </a:prstGeom>
          <a:solidFill>
            <a:srgbClr val="F5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48750" y="561975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515725" y="5448300"/>
            <a:ext cx="19050" cy="133350"/>
          </a:xfrm>
          <a:prstGeom prst="rect">
            <a:avLst/>
          </a:prstGeom>
          <a:solidFill>
            <a:srgbClr val="F5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44250" y="5619750"/>
            <a:ext cx="76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43250" y="5886450"/>
            <a:ext cx="838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probability ratio  r = new / old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ratio per token, or one ratio per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one response's tokens.  Green: kept.  Grey: removed from the update.  Advantage &gt; 0, example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143000"/>
            <a:ext cx="11334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one response, six tokens, each with ratio r = new / 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524000"/>
            <a:ext cx="10287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 = 1.01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2575" y="1524000"/>
            <a:ext cx="10287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 = 0.99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5575" y="1524000"/>
            <a:ext cx="10287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 = 1.02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38575" y="1524000"/>
            <a:ext cx="10287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 = 1.60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1575" y="1524000"/>
            <a:ext cx="10287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 = 1.00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4575" y="1524000"/>
            <a:ext cx="102870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 = 0.98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575" y="2476500"/>
            <a:ext cx="5524500" cy="3143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075" y="2590800"/>
            <a:ext cx="5143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 ratios (GRPO, DAPO)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5325" y="3143250"/>
            <a:ext cx="74295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33525" y="3143250"/>
            <a:ext cx="74295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0.99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1725" y="3143250"/>
            <a:ext cx="74295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9925" y="3143250"/>
            <a:ext cx="742950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1.60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48125" y="3143250"/>
            <a:ext cx="74295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86325" y="3143250"/>
            <a:ext cx="74295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0.98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075" y="3810000"/>
            <a:ext cx="514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each token is clipped on its 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075" y="4191000"/>
            <a:ext cx="51435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1.60 token leaves the update</a:t>
            </a:r>
          </a:p>
          <a:p>
            <a:pPr algn="ctr">
              <a:lnSpc>
                <a:spcPct val="122000"/>
              </a:lnSpc>
            </a:pPr>
            <a:r>
              <a:rPr sz="17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other five stay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7925" y="2476500"/>
            <a:ext cx="5524500" cy="3143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8425" y="2590800"/>
            <a:ext cx="5143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Sequence ratio (GSPO)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29425" y="3143250"/>
            <a:ext cx="4381500" cy="533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 = geometric mean = 1.08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29425" y="4533900"/>
            <a:ext cx="647700" cy="381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72375" y="4533900"/>
            <a:ext cx="647700" cy="381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15325" y="4533900"/>
            <a:ext cx="647700" cy="381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58275" y="4533900"/>
            <a:ext cx="647700" cy="381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01225" y="4533900"/>
            <a:ext cx="647700" cy="381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44175" y="4533900"/>
            <a:ext cx="647700" cy="381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8425" y="3771900"/>
            <a:ext cx="5143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outlier is diluted to 1.08, still above</a:t>
            </a:r>
          </a:p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GSPO's cap 1 + 4e-4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8425" y="4953000"/>
            <a:ext cx="5143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 six tokens leave together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Two engines, two probabilities for the same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rollout and its probability μ.  Green: training engine.  Yellow: what reduces each 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333500"/>
            <a:ext cx="3143250" cy="1047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inference engine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vLLM, SGLang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samples tokens, returns 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39175" y="1333500"/>
            <a:ext cx="3143250" cy="1047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training engine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Megatron, FSDP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recomputes π_old, gradient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52825" y="1714500"/>
            <a:ext cx="50863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19500" y="1352550"/>
            <a:ext cx="495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tokens + μ (+ routing, sampling mask if replayed)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552825" y="2095500"/>
            <a:ext cx="5086350" cy="0"/>
          </a:xfrm>
          <a:prstGeom prst="line">
            <a:avLst/>
          </a:prstGeom>
          <a:ln w="25400">
            <a:solidFill>
              <a:srgbClr val="96969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0" y="215265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updated weights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1000" y="2628900"/>
            <a:ext cx="381000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ρ = π_old / μ ≠ 1   (same weights)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575" y="3619500"/>
            <a:ext cx="180975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summation order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varies with batch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575" y="4572000"/>
            <a:ext cx="1809750" cy="8763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batch-invariant kernels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(Thinking Machines,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DeepSeek-V4)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14450" y="4286250"/>
            <a:ext cx="0" cy="285750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314450" y="3200400"/>
            <a:ext cx="3162300" cy="419100"/>
          </a:xfrm>
          <a:prstGeom prst="line">
            <a:avLst/>
          </a:prstGeom>
          <a:ln w="127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33625" y="3619500"/>
            <a:ext cx="180975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BF16 rounding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3625" y="4572000"/>
            <a:ext cx="1809750" cy="8763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FP16 for training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and rollout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38500" y="4286250"/>
            <a:ext cx="0" cy="285750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238500" y="3200400"/>
            <a:ext cx="2047875" cy="419100"/>
          </a:xfrm>
          <a:prstGeom prst="line">
            <a:avLst/>
          </a:prstGeom>
          <a:ln w="127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257675" y="3619500"/>
            <a:ext cx="180975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LM head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precision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7675" y="4572000"/>
            <a:ext cx="1809750" cy="8763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FP32 LM head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(MiniMax-M1)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62550" y="4286250"/>
            <a:ext cx="0" cy="285750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162550" y="3200400"/>
            <a:ext cx="933450" cy="419100"/>
          </a:xfrm>
          <a:prstGeom prst="line">
            <a:avLst/>
          </a:prstGeom>
          <a:ln w="127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81725" y="3619500"/>
            <a:ext cx="180975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MoE picks other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experts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725" y="4572000"/>
            <a:ext cx="1809750" cy="8763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replay rollout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routing (R3,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Keep Routing)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86600" y="4286250"/>
            <a:ext cx="0" cy="285750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6905625" y="3200400"/>
            <a:ext cx="180975" cy="419100"/>
          </a:xfrm>
          <a:prstGeom prst="line">
            <a:avLst/>
          </a:prstGeom>
          <a:ln w="127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105775" y="3619500"/>
            <a:ext cx="180975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top-p / top-k cut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only in rollout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5775" y="4572000"/>
            <a:ext cx="1809750" cy="8763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Keep Sampling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Mask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(DeepSeek-V3.2)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010650" y="4286250"/>
            <a:ext cx="0" cy="285750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7715250" y="3200400"/>
            <a:ext cx="1295400" cy="419100"/>
          </a:xfrm>
          <a:prstGeom prst="line">
            <a:avLst/>
          </a:prstGeom>
          <a:ln w="127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029825" y="3619500"/>
            <a:ext cx="175260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9696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stale policy: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weights differ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29825" y="4572000"/>
            <a:ext cx="1752600" cy="8763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π_θ / μ differs too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AReaL, M2PO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906125" y="4286250"/>
            <a:ext cx="0" cy="285750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09575" y="5715000"/>
            <a:ext cx="11372850" cy="476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what is left: weight it  (TIS: min(ρ, C))  or drop it  (IcePop, masked IS, sequence masking)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Who writes the response, and what signal each token 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teacher.  Green: student.  Yellow: the learning signal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43000"/>
            <a:ext cx="3667125" cy="4572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825" y="1257300"/>
            <a:ext cx="3476625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Off-policy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825" y="1619250"/>
            <a:ext cx="34766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teacher writes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125" y="203835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71575" y="203835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24025" y="203835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76475" y="203835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28925" y="203835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1375" y="203835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825" y="2667000"/>
            <a:ext cx="347662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 student rollout needed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learns on teacher's prefixes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125" y="4476750"/>
            <a:ext cx="3248025" cy="857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match teacher's tokens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 teacher's prefix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200" y="1143000"/>
            <a:ext cx="3667125" cy="4572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2450" y="1257300"/>
            <a:ext cx="3476625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Outcome-reward RL (GRPO)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2450" y="1619250"/>
            <a:ext cx="34766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student writes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76750" y="203835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0" y="203835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81650" y="203835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34100" y="203835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86550" y="203835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39000" y="203835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76750" y="2857500"/>
            <a:ext cx="3248025" cy="476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reward R → advantage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4714875" y="2514600"/>
            <a:ext cx="1381125" cy="342900"/>
          </a:xfrm>
          <a:prstGeom prst="line">
            <a:avLst/>
          </a:prstGeom>
          <a:ln w="15875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267325" y="2514600"/>
            <a:ext cx="828675" cy="342900"/>
          </a:xfrm>
          <a:prstGeom prst="line">
            <a:avLst/>
          </a:prstGeom>
          <a:ln w="15875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5819775" y="2514600"/>
            <a:ext cx="276225" cy="342900"/>
          </a:xfrm>
          <a:prstGeom prst="line">
            <a:avLst/>
          </a:prstGeom>
          <a:ln w="15875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096000" y="2514600"/>
            <a:ext cx="276225" cy="342900"/>
          </a:xfrm>
          <a:prstGeom prst="line">
            <a:avLst/>
          </a:prstGeom>
          <a:ln w="15875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096000" y="2514600"/>
            <a:ext cx="828675" cy="342900"/>
          </a:xfrm>
          <a:prstGeom prst="line">
            <a:avLst/>
          </a:prstGeom>
          <a:ln w="15875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096000" y="2514600"/>
            <a:ext cx="1381125" cy="342900"/>
          </a:xfrm>
          <a:prstGeom prst="line">
            <a:avLst/>
          </a:prstGeom>
          <a:ln w="15875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476750" y="4476750"/>
            <a:ext cx="3248025" cy="857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advantage from one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reward, same for every token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4825" y="1143000"/>
            <a:ext cx="3667125" cy="4572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0075" y="1257300"/>
            <a:ext cx="3476625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On-policy distillation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075" y="1619250"/>
            <a:ext cx="3476625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student writes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34375" y="203835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86825" y="203835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439275" y="203835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91725" y="203835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544175" y="203835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096625" y="203835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334375" y="285750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A1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8572500" y="2514600"/>
            <a:ext cx="0" cy="342900"/>
          </a:xfrm>
          <a:prstGeom prst="line">
            <a:avLst/>
          </a:prstGeom>
          <a:ln w="15875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886825" y="285750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A2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9124950" y="2514600"/>
            <a:ext cx="0" cy="342900"/>
          </a:xfrm>
          <a:prstGeom prst="line">
            <a:avLst/>
          </a:prstGeom>
          <a:ln w="15875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439275" y="285750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A3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9677400" y="2514600"/>
            <a:ext cx="0" cy="342900"/>
          </a:xfrm>
          <a:prstGeom prst="line">
            <a:avLst/>
          </a:prstGeom>
          <a:ln w="15875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991725" y="285750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A4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10229850" y="2514600"/>
            <a:ext cx="0" cy="342900"/>
          </a:xfrm>
          <a:prstGeom prst="line">
            <a:avLst/>
          </a:prstGeom>
          <a:ln w="15875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0544175" y="285750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A5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10782300" y="2514600"/>
            <a:ext cx="0" cy="342900"/>
          </a:xfrm>
          <a:prstGeom prst="line">
            <a:avLst/>
          </a:prstGeom>
          <a:ln w="15875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11096625" y="2857500"/>
            <a:ext cx="476250" cy="476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A6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11334750" y="2514600"/>
            <a:ext cx="0" cy="342900"/>
          </a:xfrm>
          <a:prstGeom prst="line">
            <a:avLst/>
          </a:prstGeom>
          <a:ln w="15875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334375" y="3543300"/>
            <a:ext cx="3248025" cy="4381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teacher scores each token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34375" y="4476750"/>
            <a:ext cx="3248025" cy="857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sampled-token form: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log π_T − log π_θ per token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Distill RL-trained domain experts into one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student, starting from the SFT model.  Blue: domain teachers.  Yellow: per-token signal in each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2667000"/>
            <a:ext cx="161925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SFT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57500" y="1238250"/>
            <a:ext cx="20002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math expert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domain RL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028825" y="1571625"/>
            <a:ext cx="828675" cy="1476375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57500" y="2190750"/>
            <a:ext cx="20002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code expert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domain RL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028825" y="2524125"/>
            <a:ext cx="828675" cy="523875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57500" y="3143250"/>
            <a:ext cx="20002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agent expert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domain RL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28825" y="3048000"/>
            <a:ext cx="828675" cy="428625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57500" y="4095750"/>
            <a:ext cx="20002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... more domains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28825" y="3048000"/>
            <a:ext cx="828675" cy="1381125"/>
          </a:xfrm>
          <a:prstGeom prst="line">
            <a:avLst/>
          </a:prstGeom>
          <a:ln w="15875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96000" y="2476500"/>
            <a:ext cx="2190750" cy="1143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2540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student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writes a response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 prompt 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28825" y="3143250"/>
            <a:ext cx="4067175" cy="0"/>
          </a:xfrm>
          <a:prstGeom prst="line">
            <a:avLst/>
          </a:prstGeom>
          <a:ln w="1905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57750" y="1571625"/>
            <a:ext cx="1238250" cy="1095375"/>
          </a:xfrm>
          <a:prstGeom prst="line">
            <a:avLst/>
          </a:prstGeom>
          <a:ln w="12700">
            <a:solidFill>
              <a:srgbClr val="2896F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57750" y="2524125"/>
            <a:ext cx="1238250" cy="333375"/>
          </a:xfrm>
          <a:prstGeom prst="line">
            <a:avLst/>
          </a:prstGeom>
          <a:ln w="12700">
            <a:solidFill>
              <a:srgbClr val="2896F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857750" y="3048000"/>
            <a:ext cx="1238250" cy="428625"/>
          </a:xfrm>
          <a:prstGeom prst="line">
            <a:avLst/>
          </a:prstGeom>
          <a:ln w="12700">
            <a:solidFill>
              <a:srgbClr val="2896F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857750" y="3238500"/>
            <a:ext cx="1238250" cy="1190625"/>
          </a:xfrm>
          <a:prstGeom prst="line">
            <a:avLst/>
          </a:prstGeom>
          <a:ln w="12700">
            <a:solidFill>
              <a:srgbClr val="2896F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953000" y="1143000"/>
            <a:ext cx="1428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teacher for</a:t>
            </a:r>
          </a:p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x's domain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914400"/>
            <a:ext cx="2638425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what the student learns from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238250"/>
            <a:ext cx="2638425" cy="1047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sampled token only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log π_T(y_t) − log π_θ(y_t)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MiMo-V2-Flash, Kimi K3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571750"/>
            <a:ext cx="2638425" cy="1047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full vocabulary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reverse KL per position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DeepSeek-V4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3905250"/>
            <a:ext cx="2638425" cy="1047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plus outcome-reward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advantage (GRPO)</a:t>
            </a:r>
          </a:p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MiMo-V2-Flash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8286750" y="1762125"/>
            <a:ext cx="857250" cy="1095375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8286750" y="3048000"/>
            <a:ext cx="857250" cy="47625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8286750" y="3286125"/>
            <a:ext cx="857250" cy="1143000"/>
          </a:xfrm>
          <a:prstGeom prst="line">
            <a:avLst/>
          </a:prstGeom>
          <a:ln w="190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09575" y="5334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schematic.  GLM-5 and Nemotron-Cascade 2 take teachers from earlier training stages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