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32" r:id="rId1"/>
  </p:sldMasterIdLst>
  <p:notesMasterIdLst>
    <p:notesMasterId r:id="rId13"/>
  </p:notesMasterIdLst>
  <p:handoutMasterIdLst>
    <p:handoutMasterId r:id="rId14"/>
  </p:handoutMasterIdLst>
  <p:sldIdLst>
    <p:sldId id="256" r:id="rId9"/>
    <p:sldId id="257" r:id="rId10"/>
    <p:sldId id="258" r:id="rId11"/>
    <p:sldId id="25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A15E724-AFC9-A4C0-CAB9-D6EC0C560360}" name="Khan, Kamran" initials="KK" userId="S::kjkhan@amazon.com::8c16a378-efd2-4586-a4a5-f0725abc41b4" providerId="AD"/>
  <p188:author id="{485EC9B9-D043-2072-5CDA-0E18DA86FA5A}" name="Lakhotia, Esha" initials="LE" userId="S::elakhoti@amazon.com::458df9ec-1ecb-4c08-9ab9-581bf4e2578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CE8F4"/>
    <a:srgbClr val="7F1EE7"/>
    <a:srgbClr val="000000"/>
    <a:srgbClr val="1D262F"/>
    <a:srgbClr val="1A0033"/>
    <a:srgbClr val="FFFFFF"/>
    <a:srgbClr val="FCFCFD"/>
    <a:srgbClr val="0000A3"/>
    <a:srgbClr val="B81EE7"/>
    <a:srgbClr val="540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7" autoAdjust="0"/>
    <p:restoredTop sz="79852" autoAdjust="0"/>
  </p:normalViewPr>
  <p:slideViewPr>
    <p:cSldViewPr snapToGrid="0">
      <p:cViewPr varScale="1">
        <p:scale>
          <a:sx n="132" d="100"/>
          <a:sy n="132" d="100"/>
        </p:scale>
        <p:origin x="1152" y="176"/>
      </p:cViewPr>
      <p:guideLst>
        <p:guide orient="horz" pos="1296"/>
        <p:guide pos="3840"/>
      </p:guideLst>
    </p:cSldViewPr>
  </p:slideViewPr>
  <p:outlineViewPr>
    <p:cViewPr>
      <p:scale>
        <a:sx n="33" d="100"/>
        <a:sy n="33" d="100"/>
      </p:scale>
      <p:origin x="0" y="-4488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109" d="100"/>
          <a:sy n="109" d="100"/>
        </p:scale>
        <p:origin x="4040" y="17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>
                <a:latin typeface="Amazon Ember Display" panose="020F0603020204020204" pitchFamily="34" charset="0"/>
              </a:rPr>
              <a:pPr algn="ctr"/>
              <a:t>‹#›</a:t>
            </a:fld>
            <a:endParaRPr lang="en-US" sz="1000" dirty="0">
              <a:latin typeface="Amazon Ember Display" panose="020F06030202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 b="0" i="0">
                <a:latin typeface="Amazon Ember Display" panose="020F0603020204020204" pitchFamily="34" charset="0"/>
              </a:defRPr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b="0" i="0" kern="1200">
        <a:solidFill>
          <a:schemeClr val="tx1"/>
        </a:solidFill>
        <a:latin typeface="Amazon Ember Display" panose="020F06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ide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246" y="3418321"/>
            <a:ext cx="6460999" cy="923330"/>
          </a:xfrm>
          <a:prstGeom prst="rect">
            <a:avLst/>
          </a:prstGeom>
        </p:spPr>
        <p:txBody>
          <a:bodyPr wrap="square" anchor="t" anchorCtr="0"/>
          <a:lstStyle>
            <a:lvl1pPr algn="l">
              <a:defRPr sz="60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Enter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8" y="4366830"/>
            <a:ext cx="6460998" cy="584775"/>
          </a:xfrm>
          <a:prstGeom prst="rect">
            <a:avLst/>
          </a:prstGeom>
        </p:spPr>
        <p:txBody>
          <a:bodyPr wrap="square"/>
          <a:lstStyle>
            <a:lvl1pPr marL="0" indent="0" algn="l">
              <a:spcAft>
                <a:spcPts val="0"/>
              </a:spcAft>
              <a:buFont typeface="Arial" panose="020B0604020202020204" pitchFamily="34" charset="0"/>
              <a:buNone/>
              <a:defRPr sz="32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Enter subtitle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598" y="5261981"/>
            <a:ext cx="3797302" cy="400110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2000" b="1" i="0" cap="none" spc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 (pronouns)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8" y="332014"/>
            <a:ext cx="6477002" cy="230832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 panose="020B0509020204020204" pitchFamily="49" charset="0"/>
                <a:ea typeface="Amazon Ember Mono" panose="020B0509020204020204" pitchFamily="49" charset="0"/>
                <a:cs typeface="Amazon Ember Mono" panose="020B0509020204020204" pitchFamily="49" charset="0"/>
              </a:defRPr>
            </a:lvl1pPr>
          </a:lstStyle>
          <a:p>
            <a:pPr lvl="0"/>
            <a:r>
              <a:rPr lang="en-US" dirty="0"/>
              <a:t>Enter session ID if required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8" y="5674769"/>
            <a:ext cx="3797302" cy="584775"/>
          </a:xfrm>
          <a:prstGeom prst="rect">
            <a:avLst/>
          </a:prstGeom>
        </p:spPr>
        <p:txBody>
          <a:bodyPr wrap="square"/>
          <a:lstStyle>
            <a:lvl1pPr marL="0" indent="0">
              <a:spcAft>
                <a:spcPts val="300"/>
              </a:spcAft>
              <a:buNone/>
              <a:defRPr sz="1600" b="0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job title</a:t>
            </a:r>
            <a:br>
              <a:rPr lang="en-US" dirty="0"/>
            </a:br>
            <a:r>
              <a:rPr lang="en-US" dirty="0"/>
              <a:t>Speaker company</a:t>
            </a:r>
          </a:p>
        </p:txBody>
      </p:sp>
    </p:spTree>
    <p:extLst>
      <p:ext uri="{BB962C8B-B14F-4D97-AF65-F5344CB8AC3E}">
        <p14:creationId xmlns:p14="http://schemas.microsoft.com/office/powerpoint/2010/main" val="311644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464">
          <p15:clr>
            <a:srgbClr val="FBAE40"/>
          </p15:clr>
        </p15:guide>
        <p15:guide id="3" orient="horz" pos="2736">
          <p15:clr>
            <a:srgbClr val="FBAE40"/>
          </p15:clr>
        </p15:guide>
        <p15:guide id="4" orient="horz" pos="1272">
          <p15:clr>
            <a:srgbClr val="FBAE40"/>
          </p15:clr>
        </p15:guide>
        <p15:guide id="5" orient="horz" pos="17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377715"/>
            <a:ext cx="11247438" cy="3549690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  <a:lvl2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2pPr>
            <a:lvl3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3pPr>
            <a:lvl4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4pPr>
            <a:lvl5pPr marL="0" indent="0">
              <a:spcAft>
                <a:spcPts val="3000"/>
              </a:spcAft>
              <a:buNone/>
              <a:defRPr sz="2400" b="0" i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5pPr>
          </a:lstStyle>
          <a:p>
            <a:pPr lvl="0"/>
            <a:r>
              <a:rPr lang="en-US" dirty="0"/>
              <a:t>Enter high-level agenda items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64188B27-D1F7-5699-25C7-360C2A3C7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293583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071E41DC-3AB2-33CA-0E29-26E2B0164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02146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Gradi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9C0C633D-6533-7A81-CB54-487A1ECE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8284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7987" y="908050"/>
            <a:ext cx="11449049" cy="3693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cap="none" spc="0" baseline="0"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Enter subtitle</a:t>
            </a:r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ADA10BAA-117E-4979-BFDE-E8E27E25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922509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840">
          <p15:clr>
            <a:srgbClr val="9FCC3B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298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C31057A0-1AB3-C59E-241E-58D9A94D4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9982E9C-19F2-6D70-0138-2D7C09EA29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>
            <a:lvl1pPr marL="0" indent="0">
              <a:buNone/>
              <a:defRPr/>
            </a:lvl1pPr>
            <a:lvl2pPr marL="280800" indent="0">
              <a:buNone/>
              <a:defRPr/>
            </a:lvl2pPr>
            <a:lvl3pPr marL="622800" indent="0">
              <a:buNone/>
              <a:defRPr/>
            </a:lvl3pPr>
            <a:lvl4pPr marL="795600" indent="0">
              <a:buNone/>
              <a:defRPr/>
            </a:lvl4pPr>
            <a:lvl5pPr marL="968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1086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86EE66B-2848-D944-6D93-4D6603CDC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EC2E6AE7-4E53-3437-B370-670CC07AF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7881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718036"/>
            <a:ext cx="7823200" cy="1421928"/>
          </a:xfrm>
          <a:prstGeom prst="rect">
            <a:avLst/>
          </a:prstGeom>
        </p:spPr>
        <p:txBody>
          <a:bodyPr anchor="ctr" anchorCtr="0"/>
          <a:lstStyle>
            <a:lvl1pPr>
              <a:defRPr sz="4800" b="1" i="0" baseline="0">
                <a:solidFill>
                  <a:schemeClr val="tx2"/>
                </a:solidFill>
                <a:latin typeface="Amazon Ember Display" panose="020F0603020204020204" pitchFamily="34" charset="0"/>
                <a:ea typeface="メイリオ" panose="020B0604030504040204" pitchFamily="34" charset="-128"/>
                <a:cs typeface="Amazon Ember Display" panose="020F0603020204020204" pitchFamily="34" charset="0"/>
              </a:defRPr>
            </a:lvl1pPr>
          </a:lstStyle>
          <a:p>
            <a:r>
              <a:rPr lang="en-US" dirty="0"/>
              <a:t>Section layout: Enter section name here</a:t>
            </a:r>
          </a:p>
        </p:txBody>
      </p:sp>
    </p:spTree>
    <p:extLst>
      <p:ext uri="{BB962C8B-B14F-4D97-AF65-F5344CB8AC3E}">
        <p14:creationId xmlns:p14="http://schemas.microsoft.com/office/powerpoint/2010/main" val="349012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9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9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146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146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0125" y="3621643"/>
            <a:ext cx="1994088" cy="369332"/>
          </a:xfrm>
          <a:prstGeom prst="rect">
            <a:avLst/>
          </a:prstGeom>
        </p:spPr>
        <p:txBody>
          <a:bodyPr anchor="b" anchorCtr="0"/>
          <a:lstStyle>
            <a:lvl1pPr marL="0" indent="0">
              <a:buNone/>
              <a:defRPr sz="20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10125" y="3990975"/>
            <a:ext cx="1994088" cy="535531"/>
          </a:xfrm>
          <a:prstGeom prst="rect">
            <a:avLst/>
          </a:prstGeom>
        </p:spPr>
        <p:txBody>
          <a:bodyPr/>
          <a:lstStyle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 panose="020F0603020204020204" pitchFamily="34" charset="0"/>
                <a:ea typeface="Amazon Ember Display" panose="020F0603020204020204" pitchFamily="34" charset="0"/>
                <a:cs typeface="Amazon Ember Display" panose="020F0603020204020204" pitchFamily="34" charset="0"/>
              </a:defRPr>
            </a:lvl1pPr>
          </a:lstStyle>
          <a:p>
            <a:pPr lvl="0"/>
            <a:r>
              <a:rPr lang="en-US" dirty="0"/>
              <a:t>Speaker contact info (email or socials)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 txBox="1"/>
          <p:nvPr userDrawn="1"/>
        </p:nvSpPr>
        <p:spPr>
          <a:xfrm>
            <a:off x="609599" y="2461211"/>
            <a:ext cx="6867525" cy="92333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r>
              <a:rPr lang="en-US" sz="4800" b="0" i="0" dirty="0">
                <a:solidFill>
                  <a:schemeClr val="tx2"/>
                </a:solidFill>
                <a:latin typeface="Amazon Ember Display" panose="020F0603020204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58040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9">
            <a:extLst>
              <a:ext uri="{FF2B5EF4-FFF2-40B4-BE49-F238E27FC236}">
                <a16:creationId xmlns:a16="http://schemas.microsoft.com/office/drawing/2014/main" id="{6BA9B5C3-6371-84F6-B7DD-E715A7747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301169"/>
            <a:ext cx="11449050" cy="6068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F0757-0A35-2523-9D3C-4010D62C7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1376363"/>
            <a:ext cx="11449049" cy="2062103"/>
          </a:xfrm>
          <a:prstGeom prst="rect">
            <a:avLst/>
          </a:prstGeom>
        </p:spPr>
        <p:txBody>
          <a:bodyPr vert="horz" wrap="square" lIns="0" tIns="45720" rIns="0" bIns="4572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47485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9" r:id="rId2"/>
    <p:sldLayoutId id="2147483742" r:id="rId3"/>
    <p:sldLayoutId id="2147483744" r:id="rId4"/>
    <p:sldLayoutId id="2147483746" r:id="rId5"/>
    <p:sldLayoutId id="2147483747" r:id="rId6"/>
    <p:sldLayoutId id="2147483748" r:id="rId7"/>
    <p:sldLayoutId id="2147483749" r:id="rId8"/>
    <p:sldLayoutId id="2147483772" r:id="rId9"/>
    <p:sldLayoutId id="214748378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</p:titleStyle>
    <p:bodyStyle>
      <a:lvl1pPr marL="3492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1pPr>
      <a:lvl2pPr marL="630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-"/>
        <a:defRPr sz="24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2pPr>
      <a:lvl3pPr marL="9720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システムフォント（レギュラー）"/>
        <a:buChar char="&gt;"/>
        <a:defRPr sz="20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3pPr>
      <a:lvl4pPr marL="11448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4pPr>
      <a:lvl5pPr marL="1317600" indent="-3492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b="0" i="0" kern="1200" baseline="0">
          <a:solidFill>
            <a:schemeClr val="tx1"/>
          </a:solidFill>
          <a:latin typeface="Amazon Ember Display" panose="020F0603020204020204" pitchFamily="34" charset="0"/>
          <a:ea typeface="メイリオ" panose="020B0604030504040204" pitchFamily="34" charset="-128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6" userDrawn="1">
          <p15:clr>
            <a:srgbClr val="F26B43"/>
          </p15:clr>
        </p15:guide>
        <p15:guide id="3" pos="257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orient="horz" pos="187" userDrawn="1">
          <p15:clr>
            <a:srgbClr val="F26B43"/>
          </p15:clr>
        </p15:guide>
        <p15:guide id="6" orient="horz" pos="572" userDrawn="1">
          <p15:clr>
            <a:srgbClr val="F26B43"/>
          </p15:clr>
        </p15:guide>
        <p15:guide id="7" orient="horz" pos="867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From forward to a Trainium binary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Green: you write it.  Blue: the toolchain.  Yellow: needs a NeuronCore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809750"/>
            <a:ext cx="1619250" cy="85725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forward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9575" y="2724150"/>
            <a:ext cx="16192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Python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66925" y="2238375"/>
            <a:ext cx="685800" cy="0"/>
          </a:xfrm>
          <a:prstGeom prst="line">
            <a:avLst/>
          </a:prstGeom>
          <a:ln w="3175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838325" y="1428750"/>
            <a:ext cx="1143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TorchDynamo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90825" y="1809750"/>
            <a:ext cx="1619250" cy="857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FX 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90825" y="2724150"/>
            <a:ext cx="16192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fxgraph.txt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448175" y="2238375"/>
            <a:ext cx="685800" cy="0"/>
          </a:xfrm>
          <a:prstGeom prst="line">
            <a:avLst/>
          </a:prstGeom>
          <a:ln w="3175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219575" y="1428750"/>
            <a:ext cx="1143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torch-xla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72075" y="1809750"/>
            <a:ext cx="1619250" cy="857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72075" y="2724150"/>
            <a:ext cx="16192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graph.hlo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29425" y="2238375"/>
            <a:ext cx="685800" cy="0"/>
          </a:xfrm>
          <a:prstGeom prst="line">
            <a:avLst/>
          </a:prstGeom>
          <a:ln w="3175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600825" y="1428750"/>
            <a:ext cx="1143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2896F0"/>
                </a:solidFill>
                <a:latin typeface="Amazon Ember"/>
                <a:ea typeface="メイリオ"/>
                <a:cs typeface="メイリオ"/>
              </a:rPr>
              <a:t>neuronx-cc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53325" y="1809750"/>
            <a:ext cx="1619250" cy="85725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22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NEFF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53325" y="2724150"/>
            <a:ext cx="16192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graph_&lt;hash&gt;.neff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53575" y="1809750"/>
            <a:ext cx="2228850" cy="85725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Neuron Runtime</a:t>
            </a:r>
          </a:p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on a NeuronCore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210675" y="2238375"/>
            <a:ext cx="304800" cy="0"/>
          </a:xfrm>
          <a:prstGeom prst="line">
            <a:avLst/>
          </a:prstGeom>
          <a:ln w="3175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09575" y="3429000"/>
            <a:ext cx="87630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409575" y="3429000"/>
            <a:ext cx="876300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09575" y="3505200"/>
            <a:ext cx="8763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runs on a CPU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553575" y="3429000"/>
            <a:ext cx="2228850" cy="0"/>
          </a:xfrm>
          <a:prstGeom prst="line">
            <a:avLst/>
          </a:prstGeom>
          <a:ln w="2540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9553575" y="3429000"/>
            <a:ext cx="2228850" cy="0"/>
          </a:xfrm>
          <a:prstGeom prst="line">
            <a:avLst/>
          </a:prstGeom>
          <a:ln w="25400">
            <a:solidFill>
              <a:srgbClr val="FBD3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553575" y="3505200"/>
            <a:ext cx="22288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500" b="0">
                <a:solidFill>
                  <a:srgbClr val="FBD332"/>
                </a:solidFill>
                <a:latin typeface="Amazon Ember"/>
                <a:ea typeface="メイリオ"/>
                <a:cs typeface="メイリオ"/>
              </a:rPr>
              <a:t>needs Trainium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53325" y="4286250"/>
            <a:ext cx="1619250" cy="6667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compile cache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362950" y="2990850"/>
            <a:ext cx="0" cy="1257300"/>
          </a:xfrm>
          <a:prstGeom prst="line">
            <a:avLst/>
          </a:prstGeom>
          <a:ln w="2540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981825" y="4991100"/>
            <a:ext cx="27622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4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cache hit: reuse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Inside neuronx-cc, as its log shows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Blue: stages named in log-neuron-cc.txt.  Grey: what the log shows it runs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9550" y="2286000"/>
            <a:ext cx="857250" cy="7620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graph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.hlo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57300" y="2286000"/>
            <a:ext cx="1714500" cy="7620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HLOToTensorizer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90850" y="2667000"/>
            <a:ext cx="1714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181350" y="2286000"/>
            <a:ext cx="1714500" cy="7620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Frontend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14900" y="2667000"/>
            <a:ext cx="1714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105400" y="2286000"/>
            <a:ext cx="1714500" cy="7620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StaticIOTranspose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38950" y="2667000"/>
            <a:ext cx="1714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029450" y="2286000"/>
            <a:ext cx="1714500" cy="7620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WalrusDriver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763000" y="2667000"/>
            <a:ext cx="1714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953500" y="2286000"/>
            <a:ext cx="1714500" cy="7620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NeffWrapper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66800" y="2667000"/>
            <a:ext cx="171450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925175" y="2286000"/>
            <a:ext cx="857250" cy="7620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graph</a:t>
            </a:r>
          </a:p>
          <a:p>
            <a:pPr algn="ctr">
              <a:lnSpc>
                <a:spcPct val="122000"/>
              </a:lnSpc>
            </a:pPr>
            <a:r>
              <a:rPr sz="15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.neff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687050" y="2667000"/>
            <a:ext cx="219075" cy="0"/>
          </a:xfrm>
          <a:prstGeom prst="line">
            <a:avLst/>
          </a:prstGeom>
          <a:ln w="25400">
            <a:solidFill>
              <a:srgbClr val="F5F5F8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257300" y="3333750"/>
            <a:ext cx="1714500" cy="1047750"/>
          </a:xfrm>
          <a:prstGeom prst="roundRect">
            <a:avLst>
              <a:gd name="adj" fmla="val 10000"/>
            </a:avLst>
          </a:prstGeom>
          <a:solidFill>
            <a:srgbClr val="343840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hlo2penguin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HLO -&gt; penguin.py</a:t>
            </a:r>
          </a:p>
          <a:p>
            <a:pPr algn="ctr">
              <a:lnSpc>
                <a:spcPct val="122000"/>
              </a:lnSpc>
            </a:pPr>
            <a:r>
              <a:rPr sz="14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MLIR passes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114550" y="3067050"/>
            <a:ext cx="0" cy="247650"/>
          </a:xfrm>
          <a:prstGeom prst="line">
            <a:avLst/>
          </a:prstGeom>
          <a:ln w="2540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What a CPU compile leaves on disk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Files under VLLM_CACHE_ROOT/.../compile_cache/&lt;hash&gt;/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238250"/>
            <a:ext cx="2190750" cy="7620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FX graph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638425" y="1619250"/>
            <a:ext cx="504825" cy="0"/>
          </a:xfrm>
          <a:prstGeom prst="line">
            <a:avLst/>
          </a:prstGeom>
          <a:ln w="2540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181350" y="1333500"/>
            <a:ext cx="3143250" cy="5715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fxgraph.txt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72250" y="1333500"/>
            <a:ext cx="5210175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passes/00_original.txt ... 05_*.txt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9575" y="2228850"/>
            <a:ext cx="2190750" cy="7620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HLO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38425" y="2609850"/>
            <a:ext cx="504825" cy="0"/>
          </a:xfrm>
          <a:prstGeom prst="line">
            <a:avLst/>
          </a:prstGeom>
          <a:ln w="2540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181350" y="2324100"/>
            <a:ext cx="3143250" cy="5715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graph.hlo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72250" y="2324100"/>
            <a:ext cx="5210175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hlo_passes/step1_torch_xla_trace.hlo ... step4_*.hlo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9575" y="3219450"/>
            <a:ext cx="2190750" cy="7620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neuronx-cc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38425" y="3600450"/>
            <a:ext cx="504825" cy="0"/>
          </a:xfrm>
          <a:prstGeom prst="line">
            <a:avLst/>
          </a:prstGeom>
          <a:ln w="2540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181350" y="3314700"/>
            <a:ext cx="3143250" cy="5715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command.txt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2250" y="3314700"/>
            <a:ext cx="5210175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5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log-neuron-cc.txt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9575" y="4210050"/>
            <a:ext cx="2190750" cy="7620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9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NEFF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38425" y="4591050"/>
            <a:ext cx="504825" cy="0"/>
          </a:xfrm>
          <a:prstGeom prst="line">
            <a:avLst/>
          </a:prstGeom>
          <a:ln w="2540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181350" y="4305300"/>
            <a:ext cx="3143250" cy="571500"/>
          </a:xfrm>
          <a:prstGeom prst="roundRect">
            <a:avLst>
              <a:gd name="adj" fmla="val 10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7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graph_&lt;hash&gt;.neff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9575" y="5334000"/>
            <a:ext cx="11372850" cy="457200"/>
          </a:xfrm>
          <a:prstGeom prst="roundRect">
            <a:avLst>
              <a:gd name="adj" fmla="val 3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Observed next: NEFF load error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09575" y="247650"/>
            <a:ext cx="11334750" cy="438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Why a shared IR in the middle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575" y="685800"/>
            <a:ext cx="11334750" cy="247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600" b="0">
                <a:solidFill>
                  <a:srgbClr val="96969E"/>
                </a:solidFill>
                <a:latin typeface="Amazon Ember"/>
                <a:ea typeface="メイリオ"/>
                <a:cs typeface="メイリオ"/>
              </a:rPr>
              <a:t>Counting model.  Yellow: the shared layer in the middle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575" y="1066800"/>
            <a:ext cx="5448300" cy="44767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5325" y="1524000"/>
            <a:ext cx="1428750" cy="6096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Framework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43375" y="1524000"/>
            <a:ext cx="1428750" cy="6096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Hardware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5325" y="2762250"/>
            <a:ext cx="1428750" cy="6096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Framework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43375" y="2762250"/>
            <a:ext cx="1428750" cy="6096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Hardware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5325" y="4000500"/>
            <a:ext cx="1428750" cy="6096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Framework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43375" y="4000500"/>
            <a:ext cx="1428750" cy="6096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Hardware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4125" y="1066800"/>
            <a:ext cx="5448300" cy="4476750"/>
          </a:xfrm>
          <a:prstGeom prst="roundRect">
            <a:avLst>
              <a:gd name="adj" fmla="val 4000"/>
            </a:avLst>
          </a:prstGeom>
          <a:solidFill>
            <a:srgbClr val="161A1E"/>
          </a:solidFill>
          <a:ln w="15875">
            <a:solidFill>
              <a:srgbClr val="464A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19875" y="1524000"/>
            <a:ext cx="1428750" cy="6096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Framework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67925" y="1524000"/>
            <a:ext cx="1428750" cy="6096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Hardware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19875" y="2762250"/>
            <a:ext cx="1428750" cy="6096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Framework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67925" y="2762250"/>
            <a:ext cx="1428750" cy="6096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Hardware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19875" y="4000500"/>
            <a:ext cx="1428750" cy="609600"/>
          </a:xfrm>
          <a:prstGeom prst="roundRect">
            <a:avLst>
              <a:gd name="adj" fmla="val 10000"/>
            </a:avLst>
          </a:prstGeom>
          <a:solidFill>
            <a:srgbClr val="124022"/>
          </a:solidFill>
          <a:ln w="15875">
            <a:solidFill>
              <a:srgbClr val="24A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Framework 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67925" y="4000500"/>
            <a:ext cx="1428750" cy="609600"/>
          </a:xfrm>
          <a:prstGeom prst="roundRect">
            <a:avLst>
              <a:gd name="adj" fmla="val 10000"/>
            </a:avLst>
          </a:prstGeom>
          <a:solidFill>
            <a:srgbClr val="102C48"/>
          </a:solidFill>
          <a:ln w="15875">
            <a:solidFill>
              <a:srgbClr val="289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6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Hardware 3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124075" y="1828800"/>
            <a:ext cx="2019300" cy="0"/>
          </a:xfrm>
          <a:prstGeom prst="line">
            <a:avLst/>
          </a:prstGeom>
          <a:ln w="1905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124075" y="1828800"/>
            <a:ext cx="2019300" cy="1238250"/>
          </a:xfrm>
          <a:prstGeom prst="line">
            <a:avLst/>
          </a:prstGeom>
          <a:ln w="1905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124075" y="1828800"/>
            <a:ext cx="2019300" cy="2476500"/>
          </a:xfrm>
          <a:prstGeom prst="line">
            <a:avLst/>
          </a:prstGeom>
          <a:ln w="1905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24075" y="1828800"/>
            <a:ext cx="2019300" cy="1238250"/>
          </a:xfrm>
          <a:prstGeom prst="line">
            <a:avLst/>
          </a:prstGeom>
          <a:ln w="1905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124075" y="3067050"/>
            <a:ext cx="2019300" cy="0"/>
          </a:xfrm>
          <a:prstGeom prst="line">
            <a:avLst/>
          </a:prstGeom>
          <a:ln w="1905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124075" y="3067050"/>
            <a:ext cx="2019300" cy="1238250"/>
          </a:xfrm>
          <a:prstGeom prst="line">
            <a:avLst/>
          </a:prstGeom>
          <a:ln w="1905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124075" y="1828800"/>
            <a:ext cx="2019300" cy="2476500"/>
          </a:xfrm>
          <a:prstGeom prst="line">
            <a:avLst/>
          </a:prstGeom>
          <a:ln w="1905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124075" y="3067050"/>
            <a:ext cx="2019300" cy="1238250"/>
          </a:xfrm>
          <a:prstGeom prst="line">
            <a:avLst/>
          </a:prstGeom>
          <a:ln w="1905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124075" y="4305300"/>
            <a:ext cx="2019300" cy="0"/>
          </a:xfrm>
          <a:prstGeom prst="line">
            <a:avLst/>
          </a:prstGeom>
          <a:ln w="1905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343900" y="2876550"/>
            <a:ext cx="1428750" cy="762000"/>
          </a:xfrm>
          <a:prstGeom prst="roundRect">
            <a:avLst>
              <a:gd name="adj" fmla="val 10000"/>
            </a:avLst>
          </a:prstGeom>
          <a:solidFill>
            <a:srgbClr val="50420E"/>
          </a:solidFill>
          <a:ln w="15875">
            <a:solidFill>
              <a:srgbClr val="FBD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9050" rIns="19050" tIns="19050" bIns="19050"/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shared IR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048625" y="1828800"/>
            <a:ext cx="295275" cy="1428750"/>
          </a:xfrm>
          <a:prstGeom prst="line">
            <a:avLst/>
          </a:prstGeom>
          <a:ln w="1905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9772650" y="1828800"/>
            <a:ext cx="295275" cy="1428750"/>
          </a:xfrm>
          <a:prstGeom prst="line">
            <a:avLst/>
          </a:prstGeom>
          <a:ln w="1905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048625" y="3067050"/>
            <a:ext cx="295275" cy="190500"/>
          </a:xfrm>
          <a:prstGeom prst="line">
            <a:avLst/>
          </a:prstGeom>
          <a:ln w="1905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9772650" y="3067050"/>
            <a:ext cx="295275" cy="190500"/>
          </a:xfrm>
          <a:prstGeom prst="line">
            <a:avLst/>
          </a:prstGeom>
          <a:ln w="1905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048625" y="3257550"/>
            <a:ext cx="295275" cy="1047750"/>
          </a:xfrm>
          <a:prstGeom prst="line">
            <a:avLst/>
          </a:prstGeom>
          <a:ln w="1905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772650" y="3257550"/>
            <a:ext cx="295275" cy="1047750"/>
          </a:xfrm>
          <a:prstGeom prst="line">
            <a:avLst/>
          </a:prstGeom>
          <a:ln w="19050">
            <a:solidFill>
              <a:srgbClr val="96969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09575" y="5619750"/>
            <a:ext cx="54483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3 × 3 = 9 translators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34125" y="5619750"/>
            <a:ext cx="54483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1800" b="1">
                <a:solidFill>
                  <a:srgbClr val="F5F5F8"/>
                </a:solidFill>
                <a:latin typeface="Amazon Ember"/>
                <a:ea typeface="メイリオ"/>
                <a:cs typeface="メイリオ"/>
              </a:rPr>
              <a:t>3 + 3 = 6 translators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WS Confidential Dark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75000"/>
          </a:schemeClr>
        </a:solidFill>
        <a:ln>
          <a:noFill/>
        </a:ln>
      </a:spPr>
      <a:bodyPr rtlCol="0" anchor="ctr"/>
      <a:lstStyle>
        <a:defPPr algn="ctr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kumimoji="1" smtClean="0">
            <a:latin typeface="Amazon Ember Display" panose="020F0603020204020204" pitchFamily="34" charset="0"/>
            <a:ea typeface="メイリオ" panose="020B0604030504040204" pitchFamily="34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ne Brand 2022 Dark">
      <a:dk1>
        <a:srgbClr val="000000"/>
      </a:dk1>
      <a:lt1>
        <a:sysClr val="window" lastClr="FFFFFF"/>
      </a:lt1>
      <a:dk2>
        <a:srgbClr val="232F3E"/>
      </a:dk2>
      <a:lt2>
        <a:srgbClr val="F1F3F3"/>
      </a:lt2>
      <a:accent1>
        <a:srgbClr val="FF8500"/>
      </a:accent1>
      <a:accent2>
        <a:srgbClr val="7C59ED"/>
      </a:accent2>
      <a:accent3>
        <a:srgbClr val="38EF7D"/>
      </a:accent3>
      <a:accent4>
        <a:srgbClr val="F46DBA"/>
      </a:accent4>
      <a:accent5>
        <a:srgbClr val="9FFCEA"/>
      </a:accent5>
      <a:accent6>
        <a:srgbClr val="FBD8BF"/>
      </a:accent6>
      <a:hlink>
        <a:srgbClr val="41B1E8"/>
      </a:hlink>
      <a:folHlink>
        <a:srgbClr val="41B1E8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1027CB-BA99-4849-AD2B-D501A617C772}">
  <we:reference id="wa200001625" version="1.0.0.8" store="en-US" storeType="OMEX"/>
  <we:alternateReferences>
    <we:reference id="wa200001625" version="1.0.0.8" store="wa20000162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103425</TotalTime>
  <Words>1507</Words>
  <Application>Microsoft Macintosh PowerPoint</Application>
  <PresentationFormat>Widescreen</PresentationFormat>
  <Paragraphs>93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Meiryo</vt:lpstr>
      <vt:lpstr>システムフォント（レギュラー）</vt:lpstr>
      <vt:lpstr>Amazon Ember</vt:lpstr>
      <vt:lpstr>Amazon Ember Display</vt:lpstr>
      <vt:lpstr>Amazon Ember Mono</vt:lpstr>
      <vt:lpstr>Arial</vt:lpstr>
      <vt:lpstr>AWS Confidential Dark</vt:lpstr>
      <vt:lpstr>PFN 様向けの取り組み状況</vt:lpstr>
      <vt:lpstr>PowerPoint Presentation</vt:lpstr>
      <vt:lpstr>PowerPoint Presentation</vt:lpstr>
      <vt:lpstr>PLaMo3 on Trainium</vt:lpstr>
      <vt:lpstr>PowerPoint Presentation</vt:lpstr>
      <vt:lpstr>PowerPoint Presentation</vt:lpstr>
      <vt:lpstr>Native PyTorch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template includes</dc:title>
  <dc:creator>Microsoft Office User</dc:creator>
  <cp:lastModifiedBy>Akazawa, Toshinobu</cp:lastModifiedBy>
  <cp:revision>1088</cp:revision>
  <cp:lastPrinted>2026-06-30T17:34:27Z</cp:lastPrinted>
  <dcterms:created xsi:type="dcterms:W3CDTF">2022-07-18T16:28:56Z</dcterms:created>
  <dcterms:modified xsi:type="dcterms:W3CDTF">2026-06-30T17:42:46Z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2025-07-23T09:55:06Z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72dc440f-c268-47a9-b913-f18389bbf79d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