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  <p:sldId id="257" r:id="rId10"/>
    <p:sldId id="258" r:id="rId11"/>
    <p:sldId id="259" r:id="rId12"/>
    <p:sldId id="260" r:id="rId8"/>
    <p:sldId id="261" r:id="rId7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GENK: NCCL collectives built on the Device API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9575" y="714375"/>
            <a:ext cx="381000" cy="209550"/>
          </a:xfrm>
          <a:prstGeom prst="roundRect">
            <a:avLst>
              <a:gd name="adj" fmla="val 2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6775" y="685800"/>
            <a:ext cx="12192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inside NCCL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57425" y="714375"/>
            <a:ext cx="381000" cy="209550"/>
          </a:xfrm>
          <a:prstGeom prst="roundRect">
            <a:avLst>
              <a:gd name="adj" fmla="val 20000"/>
            </a:avLst>
          </a:prstGeom>
          <a:pattFill prst="wdUpDiag">
            <a:fgClr>
              <a:srgbClr val="1C582E"/>
            </a:fgClr>
            <a:bgClr>
              <a:srgbClr val="124022"/>
            </a:bgClr>
          </a:patt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14625" y="685800"/>
            <a:ext cx="3209925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(API tag) Device API you can call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0" y="714375"/>
            <a:ext cx="381000" cy="209550"/>
          </a:xfrm>
          <a:prstGeom prst="roundRect">
            <a:avLst>
              <a:gd name="adj" fmla="val 20000"/>
            </a:avLst>
          </a:prstGeom>
          <a:pattFill prst="ltHorz">
            <a:fgClr>
              <a:srgbClr val="484D56"/>
            </a:fgClr>
            <a:bgClr>
              <a:srgbClr val="343840"/>
            </a:bgClr>
          </a:patt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3200" y="685800"/>
            <a:ext cx="59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link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714375"/>
            <a:ext cx="381000" cy="209550"/>
          </a:xfrm>
          <a:prstGeom prst="roundRect">
            <a:avLst>
              <a:gd name="adj" fmla="val 20000"/>
            </a:avLst>
          </a:prstGeom>
          <a:pattFill prst="ltVert">
            <a:fgClr>
              <a:srgbClr val="665514"/>
            </a:fgClr>
            <a:bgClr>
              <a:srgbClr val="50420E"/>
            </a:bgClr>
          </a:pattFill>
          <a:ln w="15875">
            <a:solidFill>
              <a:srgbClr val="FBD3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685800"/>
            <a:ext cx="1038225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condition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575" y="1123950"/>
            <a:ext cx="11372850" cy="4953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AllReduce / AllGather / ReduceScatter / Broadcast / Reduce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6000" y="1619250"/>
            <a:ext cx="0" cy="2286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09575" y="1847850"/>
            <a:ext cx="11372850" cy="4381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cost model picks one kernel family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19325" y="2286000"/>
            <a:ext cx="0" cy="2286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09575" y="2514600"/>
            <a:ext cx="3619500" cy="571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legacy kernels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6000" y="2286000"/>
            <a:ext cx="0" cy="2286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286250" y="2514600"/>
            <a:ext cx="3619500" cy="571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specialized symmetric kernels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972675" y="2286000"/>
            <a:ext cx="0" cy="2286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162925" y="2514600"/>
            <a:ext cx="3619500" cy="571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GENK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Ring (5 ops) · Tree (AllReduce)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972675" y="3086100"/>
            <a:ext cx="0" cy="2095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162925" y="3295650"/>
            <a:ext cx="3619500" cy="609600"/>
          </a:xfrm>
          <a:prstGeom prst="roundRect">
            <a:avLst>
              <a:gd name="adj" fmla="val 10000"/>
            </a:avLst>
          </a:prstGeom>
          <a:pattFill prst="wdUpDiag">
            <a:fgClr>
              <a:srgbClr val="1C582E"/>
            </a:fgClr>
            <a:bgClr>
              <a:srgbClr val="124022"/>
            </a:bgClr>
          </a:pattFill>
          <a:ln w="317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[API] Flow processor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receive / reduce / copy / send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86250" y="3295650"/>
            <a:ext cx="37147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</a:pPr>
            <a:r>
              <a:rPr sz="15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also usable from</a:t>
            </a:r>
          </a:p>
          <a:p>
            <a:pPr algn="r">
              <a:lnSpc>
                <a:spcPct val="122000"/>
              </a:lnSpc>
            </a:pPr>
            <a:r>
              <a:rPr sz="15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your own kernels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62925" y="4229100"/>
            <a:ext cx="1762125" cy="533400"/>
          </a:xfrm>
          <a:prstGeom prst="roundRect">
            <a:avLst>
              <a:gd name="adj" fmla="val 10000"/>
            </a:avLst>
          </a:prstGeom>
          <a:pattFill prst="wdUpDiag">
            <a:fgClr>
              <a:srgbClr val="1C582E"/>
            </a:fgClr>
            <a:bgClr>
              <a:srgbClr val="124022"/>
            </a:bgClr>
          </a:pattFill>
          <a:ln w="317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[API] LSA connection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20300" y="4229100"/>
            <a:ext cx="1762125" cy="533400"/>
          </a:xfrm>
          <a:prstGeom prst="roundRect">
            <a:avLst>
              <a:gd name="adj" fmla="val 10000"/>
            </a:avLst>
          </a:prstGeom>
          <a:pattFill prst="wdUpDiag">
            <a:fgClr>
              <a:srgbClr val="1C582E"/>
            </a:fgClr>
            <a:bgClr>
              <a:srgbClr val="124022"/>
            </a:bgClr>
          </a:pattFill>
          <a:ln w="317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[API] GIN connection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9048750" y="3905250"/>
            <a:ext cx="476250" cy="3238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420350" y="3905250"/>
            <a:ext cx="476250" cy="3238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286250" y="4229100"/>
            <a:ext cx="371475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chosen per peer at run time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62925" y="5219700"/>
            <a:ext cx="1762125" cy="571500"/>
          </a:xfrm>
          <a:prstGeom prst="roundRect">
            <a:avLst>
              <a:gd name="adj" fmla="val 10000"/>
            </a:avLst>
          </a:prstGeom>
          <a:pattFill prst="ltHorz">
            <a:fgClr>
              <a:srgbClr val="484D56"/>
            </a:fgClr>
            <a:bgClr>
              <a:srgbClr val="343840"/>
            </a:bgClr>
          </a:patt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NVLink /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CUDA P2P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20300" y="5219700"/>
            <a:ext cx="1762125" cy="571500"/>
          </a:xfrm>
          <a:prstGeom prst="roundRect">
            <a:avLst>
              <a:gd name="adj" fmla="val 10000"/>
            </a:avLst>
          </a:prstGeom>
          <a:pattFill prst="ltHorz">
            <a:fgClr>
              <a:srgbClr val="484D56"/>
            </a:fgClr>
            <a:bgClr>
              <a:srgbClr val="343840"/>
            </a:bgClr>
          </a:patt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network via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GIN Proxy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048750" y="4762500"/>
            <a:ext cx="0" cy="4572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96600" y="4762500"/>
            <a:ext cx="0" cy="4572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953750" y="4857750"/>
            <a:ext cx="828675" cy="285750"/>
          </a:xfrm>
          <a:prstGeom prst="roundRect">
            <a:avLst>
              <a:gd name="adj" fmla="val 30000"/>
            </a:avLst>
          </a:prstGeom>
          <a:pattFill prst="ltVert">
            <a:fgClr>
              <a:srgbClr val="665514"/>
            </a:fgClr>
            <a:bgClr>
              <a:srgbClr val="50420E"/>
            </a:bgClr>
          </a:pattFill>
          <a:ln w="15875">
            <a:solidFill>
              <a:srgbClr val="FBD3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strong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86250" y="5219700"/>
            <a:ext cx="37147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runs over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9575" y="6000750"/>
            <a:ext cx="11372850" cy="419100"/>
          </a:xfrm>
          <a:prstGeom prst="roundRect">
            <a:avLst>
              <a:gd name="adj" fmla="val 30000"/>
            </a:avLst>
          </a:prstGeom>
          <a:pattFill prst="ltVert">
            <a:fgClr>
              <a:srgbClr val="665514"/>
            </a:fgClr>
            <a:bgClr>
              <a:srgbClr val="50420E"/>
            </a:bgClr>
          </a:pattFill>
          <a:ln w="15875">
            <a:solidFill>
              <a:srgbClr val="FBD3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staging: opt-in · SM90+ · multi-node: Proxy + sym GIN kernels 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On EFA: which GIN backend offers each signal type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9575" y="714375"/>
            <a:ext cx="381000" cy="209550"/>
          </a:xfrm>
          <a:prstGeom prst="roundRect">
            <a:avLst>
              <a:gd name="adj" fmla="val 20000"/>
            </a:avLst>
          </a:prstGeom>
          <a:pattFill prst="wdUpDiag">
            <a:fgClr>
              <a:srgbClr val="1C582E"/>
            </a:fgClr>
            <a:bgClr>
              <a:srgbClr val="124022"/>
            </a:bgClr>
          </a:patt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6775" y="685800"/>
            <a:ext cx="1314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users of GIN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52675" y="714375"/>
            <a:ext cx="381000" cy="209550"/>
          </a:xfrm>
          <a:prstGeom prst="roundRect">
            <a:avLst>
              <a:gd name="adj" fmla="val 20000"/>
            </a:avLst>
          </a:prstGeom>
          <a:pattFill prst="ltVert">
            <a:fgClr>
              <a:srgbClr val="665514"/>
            </a:fgClr>
            <a:bgClr>
              <a:srgbClr val="50420E"/>
            </a:bgClr>
          </a:pattFill>
          <a:ln w="15875">
            <a:solidFill>
              <a:srgbClr val="FBD3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09875" y="685800"/>
            <a:ext cx="16764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signal they need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57725" y="714375"/>
            <a:ext cx="381000" cy="209550"/>
          </a:xfrm>
          <a:prstGeom prst="roundRect">
            <a:avLst>
              <a:gd name="adj" fmla="val 2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14925" y="685800"/>
            <a:ext cx="15811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backends on EFA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9575" y="1333500"/>
            <a:ext cx="3429000" cy="685800"/>
          </a:xfrm>
          <a:prstGeom prst="roundRect">
            <a:avLst>
              <a:gd name="adj" fmla="val 10000"/>
            </a:avLst>
          </a:prstGeom>
          <a:pattFill prst="wdUpDiag">
            <a:fgClr>
              <a:srgbClr val="1C582E"/>
            </a:fgClr>
            <a:bgClr>
              <a:srgbClr val="124022"/>
            </a:bgClr>
          </a:patt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GENK / Flow (GIN)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24325" y="1447800"/>
            <a:ext cx="2381250" cy="457200"/>
          </a:xfrm>
          <a:prstGeom prst="roundRect">
            <a:avLst>
              <a:gd name="adj" fmla="val 10000"/>
            </a:avLst>
          </a:prstGeom>
          <a:pattFill prst="ltVert">
            <a:fgClr>
              <a:srgbClr val="665514"/>
            </a:fgClr>
            <a:bgClr>
              <a:srgbClr val="50420E"/>
            </a:bgClr>
          </a:pattFill>
          <a:ln w="15875">
            <a:solidFill>
              <a:srgbClr val="FBD3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strong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38575" y="1676400"/>
            <a:ext cx="2857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09575" y="2476500"/>
            <a:ext cx="3429000" cy="685800"/>
          </a:xfrm>
          <a:prstGeom prst="roundRect">
            <a:avLst>
              <a:gd name="adj" fmla="val 10000"/>
            </a:avLst>
          </a:prstGeom>
          <a:pattFill prst="wdUpDiag">
            <a:fgClr>
              <a:srgbClr val="1C582E"/>
            </a:fgClr>
            <a:bgClr>
              <a:srgbClr val="124022"/>
            </a:bgClr>
          </a:patt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DeepEP ordered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(upstream hybrid)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24325" y="2590800"/>
            <a:ext cx="2381250" cy="457200"/>
          </a:xfrm>
          <a:prstGeom prst="roundRect">
            <a:avLst>
              <a:gd name="adj" fmla="val 10000"/>
            </a:avLst>
          </a:prstGeom>
          <a:pattFill prst="ltVert">
            <a:fgClr>
              <a:srgbClr val="665514"/>
            </a:fgClr>
            <a:bgClr>
              <a:srgbClr val="50420E"/>
            </a:bgClr>
          </a:pattFill>
          <a:ln w="15875">
            <a:solidFill>
              <a:srgbClr val="FBD3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strong + VA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38575" y="2819400"/>
            <a:ext cx="2857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09575" y="3619500"/>
            <a:ext cx="3429000" cy="685800"/>
          </a:xfrm>
          <a:prstGeom prst="roundRect">
            <a:avLst>
              <a:gd name="adj" fmla="val 10000"/>
            </a:avLst>
          </a:prstGeom>
          <a:pattFill prst="wdUpDiag">
            <a:fgClr>
              <a:srgbClr val="1C582E"/>
            </a:fgClr>
            <a:bgClr>
              <a:srgbClr val="124022"/>
            </a:bgClr>
          </a:patt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DeepEP unordered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(amazon-contributing fork)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24325" y="3733800"/>
            <a:ext cx="2381250" cy="457200"/>
          </a:xfrm>
          <a:prstGeom prst="roundRect">
            <a:avLst>
              <a:gd name="adj" fmla="val 10000"/>
            </a:avLst>
          </a:prstGeom>
          <a:pattFill prst="ltVert">
            <a:fgClr>
              <a:srgbClr val="665514"/>
            </a:fgClr>
            <a:bgClr>
              <a:srgbClr val="50420E"/>
            </a:bgClr>
          </a:pattFill>
          <a:ln w="15875">
            <a:solidFill>
              <a:srgbClr val="FBD3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weak (counting)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38575" y="3962400"/>
            <a:ext cx="2857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620000" y="1333500"/>
            <a:ext cx="4162425" cy="1333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NCCL GIN Proxy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over aws-ofi-nccl RMA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CPU thread posts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strong · weak · indexed · VA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20000" y="3714750"/>
            <a:ext cx="4162425" cy="11430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EFA GDA (NCCL_GIN_TYPE=5)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kernel posts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indexed · weak only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05575" y="1676400"/>
            <a:ext cx="1114425" cy="1333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34150" y="1866900"/>
            <a:ext cx="1066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ginType = Proxy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6505575" y="2190750"/>
            <a:ext cx="1114425" cy="6286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505575" y="2495550"/>
            <a:ext cx="1114425" cy="14668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505575" y="3962400"/>
            <a:ext cx="1114425" cy="3238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620000" y="4953000"/>
            <a:ext cx="416242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≤ 512 signals + counters / device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9575" y="5715000"/>
            <a:ext cx="11372850" cy="438150"/>
          </a:xfrm>
          <a:prstGeom prst="roundRect">
            <a:avLst>
              <a:gd name="adj" fmla="val 30000"/>
            </a:avLst>
          </a:prstGeom>
          <a:noFill/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arrow = signal offered (from source)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Signals one GIN barrier uses (example: 8 ranks)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9575" y="714375"/>
            <a:ext cx="381000" cy="209550"/>
          </a:xfrm>
          <a:prstGeom prst="roundRect">
            <a:avLst>
              <a:gd name="adj" fmla="val 2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6775" y="685800"/>
            <a:ext cx="12192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inside NCCL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57425" y="714375"/>
            <a:ext cx="381000" cy="209550"/>
          </a:xfrm>
          <a:prstGeom prst="roundRect">
            <a:avLst>
              <a:gd name="adj" fmla="val 20000"/>
            </a:avLst>
          </a:prstGeom>
          <a:pattFill prst="ltVert">
            <a:fgClr>
              <a:srgbClr val="665514"/>
            </a:fgClr>
            <a:bgClr>
              <a:srgbClr val="50420E"/>
            </a:bgClr>
          </a:pattFill>
          <a:ln w="15875">
            <a:solidFill>
              <a:srgbClr val="FBD3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14625" y="685800"/>
            <a:ext cx="20383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EFA limit and status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9575" y="1143000"/>
            <a:ext cx="5448300" cy="36195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34125" y="1143000"/>
            <a:ext cx="5448300" cy="36195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9575" y="1238250"/>
            <a:ext cx="54483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Default: one slot per sender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4125" y="1238250"/>
            <a:ext cx="54483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Signal-efficient (staging)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5325" y="1905000"/>
            <a:ext cx="104775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rank 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33575" y="1905000"/>
            <a:ext cx="104775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rank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71825" y="1905000"/>
            <a:ext cx="104775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rank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0075" y="1905000"/>
            <a:ext cx="104775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rank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5325" y="2857500"/>
            <a:ext cx="104775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rank 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33575" y="2857500"/>
            <a:ext cx="104775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rank 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71825" y="2857500"/>
            <a:ext cx="104775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rank 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10075" y="2857500"/>
            <a:ext cx="104775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rank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9575" y="4000500"/>
            <a:ext cx="54483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7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slots = number of ranks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00875" y="2000250"/>
            <a:ext cx="1809750" cy="952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slot 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6875" y="2000250"/>
            <a:ext cx="1809750" cy="952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slot 1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810625" y="2333625"/>
            <a:ext cx="4762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8810625" y="2667000"/>
            <a:ext cx="4762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334125" y="3067050"/>
            <a:ext cx="54483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phase bit alternates the slot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4125" y="3429000"/>
            <a:ext cx="54483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slots = 2 for any team size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15125" y="3905250"/>
            <a:ext cx="4686300" cy="666750"/>
          </a:xfrm>
          <a:prstGeom prst="roundRect">
            <a:avLst>
              <a:gd name="adj" fmla="val 20000"/>
            </a:avLst>
          </a:prstGeom>
          <a:pattFill prst="ltVert">
            <a:fgClr>
              <a:srgbClr val="665514"/>
            </a:fgClr>
            <a:bgClr>
              <a:srgbClr val="50420E"/>
            </a:bgClr>
          </a:pattFill>
          <a:ln w="15875">
            <a:solidFill>
              <a:srgbClr val="FBD3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EFA GDA device code: uses this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host allocation: per peer until plugin v15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9575" y="5048250"/>
            <a:ext cx="11372850" cy="476250"/>
          </a:xfrm>
          <a:prstGeom prst="roundRect">
            <a:avLst>
              <a:gd name="adj" fmla="val 30000"/>
            </a:avLst>
          </a:prstGeom>
          <a:pattFill prst="ltVert">
            <a:fgClr>
              <a:srgbClr val="665514"/>
            </a:fgClr>
            <a:bgClr>
              <a:srgbClr val="50420E"/>
            </a:bgClr>
          </a:pattFill>
          <a:ln w="15875">
            <a:solidFill>
              <a:srgbClr val="FBD3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EFA GDA: ≤ 512 signals + counters / device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New enqueue pipeline (dev branch)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9575" y="714375"/>
            <a:ext cx="381000" cy="209550"/>
          </a:xfrm>
          <a:prstGeom prst="roundRect">
            <a:avLst>
              <a:gd name="adj" fmla="val 2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6775" y="685800"/>
            <a:ext cx="12192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inside NCCL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57425" y="714375"/>
            <a:ext cx="381000" cy="209550"/>
          </a:xfrm>
          <a:prstGeom prst="roundRect">
            <a:avLst>
              <a:gd name="adj" fmla="val 20000"/>
            </a:avLst>
          </a:prstGeom>
          <a:pattFill prst="ltHorz">
            <a:fgClr>
              <a:srgbClr val="484D56"/>
            </a:fgClr>
            <a:bgClr>
              <a:srgbClr val="343840"/>
            </a:bgClr>
          </a:patt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14625" y="685800"/>
            <a:ext cx="2581275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what goes in and comes 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67350" y="714375"/>
            <a:ext cx="381000" cy="209550"/>
          </a:xfrm>
          <a:prstGeom prst="roundRect">
            <a:avLst>
              <a:gd name="adj" fmla="val 20000"/>
            </a:avLst>
          </a:prstGeom>
          <a:pattFill prst="ltVert">
            <a:fgClr>
              <a:srgbClr val="665514"/>
            </a:fgClr>
            <a:bgClr>
              <a:srgbClr val="50420E"/>
            </a:bgClr>
          </a:pattFill>
          <a:ln w="15875">
            <a:solidFill>
              <a:srgbClr val="FBD3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24550" y="685800"/>
            <a:ext cx="771525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9575" y="1143000"/>
            <a:ext cx="11372850" cy="476250"/>
          </a:xfrm>
          <a:prstGeom prst="roundRect">
            <a:avLst>
              <a:gd name="adj" fmla="val 10000"/>
            </a:avLst>
          </a:prstGeom>
          <a:pattFill prst="ltHorz">
            <a:fgClr>
              <a:srgbClr val="484D56"/>
            </a:fgClr>
            <a:bgClr>
              <a:srgbClr val="343840"/>
            </a:bgClr>
          </a:patt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grouped calls: collectives, p2p, put/signal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1619250"/>
            <a:ext cx="0" cy="2476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09575" y="1866900"/>
            <a:ext cx="2476500" cy="2857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Management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/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communicator jobs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(init, split,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destroy, ...)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own queue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71825" y="1866900"/>
            <a:ext cx="4476750" cy="28575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71825" y="1943100"/>
            <a:ext cx="44767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Preparation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2325" y="2343150"/>
            <a:ext cx="4095750" cy="4572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pre-tuning: tuning input per task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2325" y="2914650"/>
            <a:ext cx="4095750" cy="4572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tuning: every collective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2325" y="3486150"/>
            <a:ext cx="4095750" cy="4572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classification: route by tuning result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2325" y="4057650"/>
            <a:ext cx="4095750" cy="4572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post-tuning: register, connect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34325" y="1866900"/>
            <a:ext cx="3848100" cy="28575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4325" y="1943100"/>
            <a:ext cx="38481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Scheduling (per path)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4825" y="2343150"/>
            <a:ext cx="3467100" cy="4572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symmetric kernels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24825" y="2914650"/>
            <a:ext cx="3467100" cy="4572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one-sided: puts before waits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24825" y="3486150"/>
            <a:ext cx="3467100" cy="4572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copy engine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4825" y="4057650"/>
            <a:ext cx="3467100" cy="4572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legacy symmetric (GENK today)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48575" y="3295650"/>
            <a:ext cx="2857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858375" y="4724400"/>
            <a:ext cx="0" cy="2286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934325" y="4953000"/>
            <a:ext cx="3848100" cy="476250"/>
          </a:xfrm>
          <a:prstGeom prst="roundRect">
            <a:avLst>
              <a:gd name="adj" fmla="val 10000"/>
            </a:avLst>
          </a:prstGeom>
          <a:pattFill prst="ltHorz">
            <a:fgClr>
              <a:srgbClr val="484D56"/>
            </a:fgClr>
            <a:bgClr>
              <a:srgbClr val="343840"/>
            </a:bgClr>
          </a:patt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each path: one queue per stream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9575" y="5715000"/>
            <a:ext cx="11372850" cy="438150"/>
          </a:xfrm>
          <a:prstGeom prst="roundRect">
            <a:avLst>
              <a:gd name="adj" fmla="val 30000"/>
            </a:avLst>
          </a:prstGeom>
          <a:pattFill prst="ltVert">
            <a:fgClr>
              <a:srgbClr val="665514"/>
            </a:fgClr>
            <a:bgClr>
              <a:srgbClr val="50420E"/>
            </a:bgClr>
          </a:pattFill>
          <a:ln w="15875">
            <a:solidFill>
              <a:srgbClr val="FBD3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framework since 2.31.2 · off by default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Host API vs Device API: who writes the kernel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9575" y="714375"/>
            <a:ext cx="381000" cy="209550"/>
          </a:xfrm>
          <a:prstGeom prst="roundRect">
            <a:avLst>
              <a:gd name="adj" fmla="val 20000"/>
            </a:avLst>
          </a:prstGeom>
          <a:pattFill prst="wdUpDiag">
            <a:fgClr>
              <a:srgbClr val="1C582E"/>
            </a:fgClr>
            <a:bgClr>
              <a:srgbClr val="124022"/>
            </a:bgClr>
          </a:patt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6775" y="685800"/>
            <a:ext cx="1314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you write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52675" y="714375"/>
            <a:ext cx="381000" cy="209550"/>
          </a:xfrm>
          <a:prstGeom prst="roundRect">
            <a:avLst>
              <a:gd name="adj" fmla="val 2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09875" y="685800"/>
            <a:ext cx="59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NCCL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71875" y="714375"/>
            <a:ext cx="381000" cy="209550"/>
          </a:xfrm>
          <a:prstGeom prst="roundRect">
            <a:avLst>
              <a:gd name="adj" fmla="val 20000"/>
            </a:avLst>
          </a:prstGeom>
          <a:pattFill prst="ltHorz">
            <a:fgClr>
              <a:srgbClr val="484D56"/>
            </a:fgClr>
            <a:bgClr>
              <a:srgbClr val="343840"/>
            </a:bgClr>
          </a:patt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9075" y="685800"/>
            <a:ext cx="95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hardware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9575" y="1066800"/>
            <a:ext cx="5448300" cy="44767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34125" y="1066800"/>
            <a:ext cx="5448300" cy="44767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9575" y="1162050"/>
            <a:ext cx="54483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Host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4125" y="1162050"/>
            <a:ext cx="54483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Device API (since 2.28)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575" y="1638300"/>
            <a:ext cx="4686300" cy="533400"/>
          </a:xfrm>
          <a:prstGeom prst="roundRect">
            <a:avLst>
              <a:gd name="adj" fmla="val 10000"/>
            </a:avLst>
          </a:prstGeom>
          <a:pattFill prst="wdUpDiag">
            <a:fgClr>
              <a:srgbClr val="1C582E"/>
            </a:fgClr>
            <a:bgClr>
              <a:srgbClr val="124022"/>
            </a:bgClr>
          </a:patt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CPU: ncclAllReduce(..., stream)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33725" y="2171700"/>
            <a:ext cx="0" cy="2667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90575" y="2438400"/>
            <a:ext cx="468630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NCCL picks algorithm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and launches its own kernel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33725" y="3105150"/>
            <a:ext cx="0" cy="2667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90575" y="3371850"/>
            <a:ext cx="468630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NCCL kernel on the GPU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(code written by NCCL)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133725" y="4038600"/>
            <a:ext cx="0" cy="2667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90575" y="4305300"/>
            <a:ext cx="4686300" cy="533400"/>
          </a:xfrm>
          <a:prstGeom prst="roundRect">
            <a:avLst>
              <a:gd name="adj" fmla="val 10000"/>
            </a:avLst>
          </a:prstGeom>
          <a:pattFill prst="ltHorz">
            <a:fgClr>
              <a:srgbClr val="484D56"/>
            </a:fgClr>
            <a:bgClr>
              <a:srgbClr val="343840"/>
            </a:bgClr>
          </a:patt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NVLink / network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" y="4953000"/>
            <a:ext cx="46863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your compute: a separate kernel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15125" y="1638300"/>
            <a:ext cx="4686300" cy="533400"/>
          </a:xfrm>
          <a:prstGeom prst="roundRect">
            <a:avLst>
              <a:gd name="adj" fmla="val 10000"/>
            </a:avLst>
          </a:prstGeom>
          <a:pattFill prst="wdUpDiag">
            <a:fgClr>
              <a:srgbClr val="1C582E"/>
            </a:fgClr>
            <a:bgClr>
              <a:srgbClr val="124022"/>
            </a:bgClr>
          </a:patt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CPU: register window, create devComm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058275" y="2171700"/>
            <a:ext cx="0" cy="2667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715125" y="2438400"/>
            <a:ext cx="4686300" cy="1600200"/>
          </a:xfrm>
          <a:prstGeom prst="roundRect">
            <a:avLst>
              <a:gd name="adj" fmla="val 6000"/>
            </a:avLst>
          </a:prstGeom>
          <a:pattFill prst="wdUpDiag">
            <a:fgClr>
              <a:srgbClr val="1C582E"/>
            </a:fgClr>
            <a:bgClr>
              <a:srgbClr val="124022"/>
            </a:bgClr>
          </a:patt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15125" y="2495550"/>
            <a:ext cx="46863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your kernel on the GPU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00875" y="2895600"/>
            <a:ext cx="1905000" cy="952500"/>
          </a:xfrm>
          <a:prstGeom prst="roundRect">
            <a:avLst>
              <a:gd name="adj" fmla="val 10000"/>
            </a:avLst>
          </a:prstGeom>
          <a:pattFill prst="wdUpDiag">
            <a:fgClr>
              <a:srgbClr val="1C582E"/>
            </a:fgClr>
            <a:bgClr>
              <a:srgbClr val="124022"/>
            </a:bgClr>
          </a:patt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your compute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(e.g. MoE routing)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91625" y="2895600"/>
            <a:ext cx="1924050" cy="952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NCCL device calls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LSA · GIN · ...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058275" y="4038600"/>
            <a:ext cx="0" cy="2667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715125" y="4305300"/>
            <a:ext cx="4686300" cy="533400"/>
          </a:xfrm>
          <a:prstGeom prst="roundRect">
            <a:avLst>
              <a:gd name="adj" fmla="val 10000"/>
            </a:avLst>
          </a:prstGeom>
          <a:pattFill prst="ltHorz">
            <a:fgClr>
              <a:srgbClr val="484D56"/>
            </a:fgClr>
            <a:bgClr>
              <a:srgbClr val="343840"/>
            </a:bgClr>
          </a:patt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NVLink / network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15125" y="4953000"/>
            <a:ext cx="46863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compute and communication in one kernel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Device API modules and what they reach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9575" y="714375"/>
            <a:ext cx="381000" cy="209550"/>
          </a:xfrm>
          <a:prstGeom prst="roundRect">
            <a:avLst>
              <a:gd name="adj" fmla="val 20000"/>
            </a:avLst>
          </a:prstGeom>
          <a:pattFill prst="wdUpDiag">
            <a:fgClr>
              <a:srgbClr val="1C582E"/>
            </a:fgClr>
            <a:bgClr>
              <a:srgbClr val="124022"/>
            </a:bgClr>
          </a:patt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6775" y="685800"/>
            <a:ext cx="23050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called from your kernel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43275" y="714375"/>
            <a:ext cx="381000" cy="209550"/>
          </a:xfrm>
          <a:prstGeom prst="roundRect">
            <a:avLst>
              <a:gd name="adj" fmla="val 2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00475" y="685800"/>
            <a:ext cx="2124075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NCCL setup on the CPU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0" y="714375"/>
            <a:ext cx="381000" cy="209550"/>
          </a:xfrm>
          <a:prstGeom prst="roundRect">
            <a:avLst>
              <a:gd name="adj" fmla="val 20000"/>
            </a:avLst>
          </a:prstGeom>
          <a:pattFill prst="ltHorz">
            <a:fgClr>
              <a:srgbClr val="484D56"/>
            </a:fgClr>
            <a:bgClr>
              <a:srgbClr val="343840"/>
            </a:bgClr>
          </a:patt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3200" y="685800"/>
            <a:ext cx="95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hardware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9575" y="1066800"/>
            <a:ext cx="11372850" cy="533400"/>
          </a:xfrm>
          <a:prstGeom prst="roundRect">
            <a:avLst>
              <a:gd name="adj" fmla="val 10000"/>
            </a:avLst>
          </a:prstGeom>
          <a:pattFill prst="wdUpDiag">
            <a:fgClr>
              <a:srgbClr val="1C582E"/>
            </a:fgClr>
            <a:bgClr>
              <a:srgbClr val="124022"/>
            </a:bgClr>
          </a:patt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your CUDA kernel  (Flow on staging builds on LSA and GIN)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6850" y="1600200"/>
            <a:ext cx="0" cy="2667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09575" y="1866900"/>
            <a:ext cx="2114550" cy="476250"/>
          </a:xfrm>
          <a:prstGeom prst="roundRect">
            <a:avLst>
              <a:gd name="adj" fmla="val 10000"/>
            </a:avLst>
          </a:prstGeom>
          <a:pattFill prst="wdUpDiag">
            <a:fgClr>
              <a:srgbClr val="1C582E"/>
            </a:fgClr>
            <a:bgClr>
              <a:srgbClr val="124022"/>
            </a:bgClr>
          </a:patt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575" y="2400300"/>
            <a:ext cx="21145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load / store to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peer GPU memory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9575" y="3105150"/>
            <a:ext cx="2114550" cy="476250"/>
          </a:xfrm>
          <a:prstGeom prst="roundRect">
            <a:avLst>
              <a:gd name="adj" fmla="val 10000"/>
            </a:avLst>
          </a:prstGeom>
          <a:pattFill prst="ltHorz">
            <a:fgClr>
              <a:srgbClr val="484D56"/>
            </a:fgClr>
            <a:bgClr>
              <a:srgbClr val="343840"/>
            </a:bgClr>
          </a:patt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CUDA P2P (NVLink, some PCIe)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81425" y="1600200"/>
            <a:ext cx="0" cy="2667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724150" y="1866900"/>
            <a:ext cx="2114550" cy="476250"/>
          </a:xfrm>
          <a:prstGeom prst="roundRect">
            <a:avLst>
              <a:gd name="adj" fmla="val 10000"/>
            </a:avLst>
          </a:prstGeom>
          <a:pattFill prst="wdUpDiag">
            <a:fgClr>
              <a:srgbClr val="1C582E"/>
            </a:fgClr>
            <a:bgClr>
              <a:srgbClr val="124022"/>
            </a:bgClr>
          </a:patt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Multimem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4150" y="2400300"/>
            <a:ext cx="21145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one store or reduce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to many GPUs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24150" y="3105150"/>
            <a:ext cx="2114550" cy="476250"/>
          </a:xfrm>
          <a:prstGeom prst="roundRect">
            <a:avLst>
              <a:gd name="adj" fmla="val 10000"/>
            </a:avLst>
          </a:prstGeom>
          <a:pattFill prst="ltHorz">
            <a:fgClr>
              <a:srgbClr val="484D56"/>
            </a:fgClr>
            <a:bgClr>
              <a:srgbClr val="343840"/>
            </a:bgClr>
          </a:patt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NVLink SHARP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96000" y="1600200"/>
            <a:ext cx="0" cy="2667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38725" y="1866900"/>
            <a:ext cx="2114550" cy="476250"/>
          </a:xfrm>
          <a:prstGeom prst="roundRect">
            <a:avLst>
              <a:gd name="adj" fmla="val 10000"/>
            </a:avLst>
          </a:prstGeom>
          <a:pattFill prst="wdUpDiag">
            <a:fgClr>
              <a:srgbClr val="1C582E"/>
            </a:fgClr>
            <a:bgClr>
              <a:srgbClr val="124022"/>
            </a:bgClr>
          </a:patt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8725" y="2400300"/>
            <a:ext cx="21145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put / get / signal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over the network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38725" y="3105150"/>
            <a:ext cx="2114550" cy="476250"/>
          </a:xfrm>
          <a:prstGeom prst="roundRect">
            <a:avLst>
              <a:gd name="adj" fmla="val 10000"/>
            </a:avLst>
          </a:prstGeom>
          <a:pattFill prst="ltHorz">
            <a:fgClr>
              <a:srgbClr val="484D56"/>
            </a:fgClr>
            <a:bgClr>
              <a:srgbClr val="343840"/>
            </a:bgClr>
          </a:patt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IB · RoCE · EFA via plugin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10575" y="1600200"/>
            <a:ext cx="0" cy="2667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353300" y="1866900"/>
            <a:ext cx="2114550" cy="476250"/>
          </a:xfrm>
          <a:prstGeom prst="roundRect">
            <a:avLst>
              <a:gd name="adj" fmla="val 10000"/>
            </a:avLst>
          </a:prstGeom>
          <a:pattFill prst="wdUpDiag">
            <a:fgClr>
              <a:srgbClr val="1C582E"/>
            </a:fgClr>
            <a:bgClr>
              <a:srgbClr val="124022"/>
            </a:bgClr>
          </a:patt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3300" y="2400300"/>
            <a:ext cx="21145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put / get / reduce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to fabric endpoints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53300" y="3105150"/>
            <a:ext cx="2114550" cy="476250"/>
          </a:xfrm>
          <a:prstGeom prst="roundRect">
            <a:avLst>
              <a:gd name="adj" fmla="val 10000"/>
            </a:avLst>
          </a:prstGeom>
          <a:pattFill prst="ltHorz">
            <a:fgClr>
              <a:srgbClr val="484D56"/>
            </a:fgClr>
            <a:bgClr>
              <a:srgbClr val="343840"/>
            </a:bgClr>
          </a:patt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CUDA fabric (Blackwell+)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725150" y="1600200"/>
            <a:ext cx="0" cy="2667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667875" y="1866900"/>
            <a:ext cx="2114550" cy="476250"/>
          </a:xfrm>
          <a:prstGeom prst="roundRect">
            <a:avLst>
              <a:gd name="adj" fmla="val 10000"/>
            </a:avLst>
          </a:prstGeom>
          <a:pattFill prst="wdUpDiag">
            <a:fgClr>
              <a:srgbClr val="1C582E"/>
            </a:fgClr>
            <a:bgClr>
              <a:srgbClr val="124022"/>
            </a:bgClr>
          </a:patt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reduce / copy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67875" y="2400300"/>
            <a:ext cx="21145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building blocks for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fused kernels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67875" y="3105150"/>
            <a:ext cx="2114550" cy="476250"/>
          </a:xfrm>
          <a:prstGeom prst="roundRect">
            <a:avLst>
              <a:gd name="adj" fmla="val 10000"/>
            </a:avLst>
          </a:prstGeom>
          <a:pattFill prst="ltHorz">
            <a:fgClr>
              <a:srgbClr val="484D56"/>
            </a:fgClr>
            <a:bgClr>
              <a:srgbClr val="343840"/>
            </a:bgClr>
          </a:patt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 link of its own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9575" y="4000500"/>
            <a:ext cx="11372850" cy="1047750"/>
          </a:xfrm>
          <a:prstGeom prst="roundRect">
            <a:avLst>
              <a:gd name="adj" fmla="val 6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0075" y="4076700"/>
            <a:ext cx="109918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set up once on the CPU (Host API)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0075" y="4457700"/>
            <a:ext cx="109918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symmetric memory window  →  ncclDevCommCreate(requirements)  →  launch kernel with devComm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Who calls which NCCL API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9575" y="714375"/>
            <a:ext cx="381000" cy="209550"/>
          </a:xfrm>
          <a:prstGeom prst="roundRect">
            <a:avLst>
              <a:gd name="adj" fmla="val 20000"/>
            </a:avLst>
          </a:prstGeom>
          <a:pattFill prst="wdUpDiag">
            <a:fgClr>
              <a:srgbClr val="1C582E"/>
            </a:fgClr>
            <a:bgClr>
              <a:srgbClr val="124022"/>
            </a:bgClr>
          </a:patt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6775" y="685800"/>
            <a:ext cx="24003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libraries that call NCCL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38525" y="714375"/>
            <a:ext cx="381000" cy="209550"/>
          </a:xfrm>
          <a:prstGeom prst="roundRect">
            <a:avLst>
              <a:gd name="adj" fmla="val 2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95725" y="685800"/>
            <a:ext cx="59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NCCL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57725" y="714375"/>
            <a:ext cx="381000" cy="209550"/>
          </a:xfrm>
          <a:prstGeom prst="roundRect">
            <a:avLst>
              <a:gd name="adj" fmla="val 20000"/>
            </a:avLst>
          </a:prstGeom>
          <a:pattFill prst="ltVert">
            <a:fgClr>
              <a:srgbClr val="665514"/>
            </a:fgClr>
            <a:bgClr>
              <a:srgbClr val="50420E"/>
            </a:bgClr>
          </a:pattFill>
          <a:ln w="15875">
            <a:solidFill>
              <a:srgbClr val="FBD3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14925" y="685800"/>
            <a:ext cx="771525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plugin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57900" y="714375"/>
            <a:ext cx="381000" cy="209550"/>
          </a:xfrm>
          <a:prstGeom prst="roundRect">
            <a:avLst>
              <a:gd name="adj" fmla="val 20000"/>
            </a:avLst>
          </a:prstGeom>
          <a:pattFill prst="ltHorz">
            <a:fgClr>
              <a:srgbClr val="484D56"/>
            </a:fgClr>
            <a:bgClr>
              <a:srgbClr val="343840"/>
            </a:bgClr>
          </a:patt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5100" y="685800"/>
            <a:ext cx="95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hardware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575" y="1066800"/>
            <a:ext cx="2667000" cy="685800"/>
          </a:xfrm>
          <a:prstGeom prst="roundRect">
            <a:avLst>
              <a:gd name="adj" fmla="val 10000"/>
            </a:avLst>
          </a:prstGeom>
          <a:pattFill prst="wdUpDiag">
            <a:fgClr>
              <a:srgbClr val="1C582E"/>
            </a:fgClr>
            <a:bgClr>
              <a:srgbClr val="124022"/>
            </a:bgClr>
          </a:patt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PyTorch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ProcessGroupNCCL (C++)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4700" y="1066800"/>
            <a:ext cx="2667000" cy="685800"/>
          </a:xfrm>
          <a:prstGeom prst="roundRect">
            <a:avLst>
              <a:gd name="adj" fmla="val 10000"/>
            </a:avLst>
          </a:prstGeom>
          <a:pattFill prst="wdUpDiag">
            <a:fgClr>
              <a:srgbClr val="1C582E"/>
            </a:fgClr>
            <a:bgClr>
              <a:srgbClr val="124022"/>
            </a:bgClr>
          </a:patt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PyTorch "nccl4py" backend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(experimental)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9825" y="1066800"/>
            <a:ext cx="2667000" cy="685800"/>
          </a:xfrm>
          <a:prstGeom prst="roundRect">
            <a:avLst>
              <a:gd name="adj" fmla="val 10000"/>
            </a:avLst>
          </a:prstGeom>
          <a:pattFill prst="wdUpDiag">
            <a:fgClr>
              <a:srgbClr val="1C582E"/>
            </a:fgClr>
            <a:bgClr>
              <a:srgbClr val="124022"/>
            </a:bgClr>
          </a:patt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vLLM PyNccl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(ctypes)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24950" y="1066800"/>
            <a:ext cx="2667000" cy="685800"/>
          </a:xfrm>
          <a:prstGeom prst="roundRect">
            <a:avLst>
              <a:gd name="adj" fmla="val 10000"/>
            </a:avLst>
          </a:prstGeom>
          <a:pattFill prst="wdUpDiag">
            <a:fgClr>
              <a:srgbClr val="1C582E"/>
            </a:fgClr>
            <a:bgClr>
              <a:srgbClr val="124022"/>
            </a:bgClr>
          </a:patt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PyTorch symm-mem ops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DeepEP · NCCL EP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14700" y="2095500"/>
            <a:ext cx="2667000" cy="476250"/>
          </a:xfrm>
          <a:prstGeom prst="roundRect">
            <a:avLst>
              <a:gd name="adj" fmla="val 10000"/>
            </a:avLst>
          </a:prstGeom>
          <a:pattFill prst="wdUpDiag">
            <a:fgClr>
              <a:srgbClr val="1C582E"/>
            </a:fgClr>
            <a:bgClr>
              <a:srgbClr val="124022"/>
            </a:bgClr>
          </a:patt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nccl4py (Python bindings)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48200" y="1752600"/>
            <a:ext cx="0" cy="3429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09575" y="2952750"/>
            <a:ext cx="11372850" cy="11430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9575" y="3009900"/>
            <a:ext cx="113728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libnccl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5325" y="3352800"/>
            <a:ext cx="6858000" cy="571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Host API: communicator · collectives · send/recv · RMA · window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39075" y="3352800"/>
            <a:ext cx="3657600" cy="571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Device API: called inside your kernel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743075" y="1752600"/>
            <a:ext cx="0" cy="16002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48200" y="2571750"/>
            <a:ext cx="0" cy="7810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553325" y="1752600"/>
            <a:ext cx="0" cy="16002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458450" y="1752600"/>
            <a:ext cx="0" cy="16002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096000" y="4095750"/>
            <a:ext cx="0" cy="3429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09575" y="4438650"/>
            <a:ext cx="11372850" cy="533400"/>
          </a:xfrm>
          <a:prstGeom prst="roundRect">
            <a:avLst>
              <a:gd name="adj" fmla="val 10000"/>
            </a:avLst>
          </a:prstGeom>
          <a:pattFill prst="ltVert">
            <a:fgClr>
              <a:srgbClr val="665514"/>
            </a:fgClr>
            <a:bgClr>
              <a:srgbClr val="50420E"/>
            </a:bgClr>
          </a:pattFill>
          <a:ln w="15875">
            <a:solidFill>
              <a:srgbClr val="FBD3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plugin API: net · RMA · GIN · tuner · profiler   (e.g. aws-ofi-nccl for EFA)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6000" y="4972050"/>
            <a:ext cx="0" cy="3238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09575" y="5295900"/>
            <a:ext cx="11372850" cy="476250"/>
          </a:xfrm>
          <a:prstGeom prst="roundRect">
            <a:avLst>
              <a:gd name="adj" fmla="val 10000"/>
            </a:avLst>
          </a:prstGeom>
          <a:pattFill prst="ltHorz">
            <a:fgClr>
              <a:srgbClr val="484D56"/>
            </a:fgClr>
            <a:bgClr>
              <a:srgbClr val="343840"/>
            </a:bgClr>
          </a:patt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NVLink · InfiniBand · RoCE · EFA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