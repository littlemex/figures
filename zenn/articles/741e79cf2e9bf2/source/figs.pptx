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732" r:id="rId1"/>
  </p:sldMasterIdLst>
  <p:notesMasterIdLst>
    <p:notesMasterId r:id="rId13"/>
  </p:notesMasterIdLst>
  <p:handoutMasterIdLst>
    <p:handoutMasterId r:id="rId14"/>
  </p:handoutMasterIdLst>
  <p:sldIdLst>
    <p:sldId id="256" r:id="rId9"/>
    <p:sldId id="257" r:id="rId10"/>
    <p:sldId id="258" r:id="rId11"/>
    <p:sldId id="259" r:id="rId12"/>
    <p:sldId id="260" r:id="rId8"/>
    <p:sldId id="261" r:id="rId7"/>
    <p:sldId id="262" r:id="rId6"/>
    <p:sldId id="263" r:id="rId5"/>
    <p:sldId id="264" r:id="rId4"/>
    <p:sldId id="265" r:id="rId3"/>
    <p:sldId id="266" r:id="rId2"/>
    <p:sldId id="267" r:id="rId20"/>
    <p:sldId id="268" r:id="rId21"/>
    <p:sldId id="269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296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A15E724-AFC9-A4C0-CAB9-D6EC0C560360}" name="Khan, Kamran" initials="KK" userId="S::kjkhan@amazon.com::8c16a378-efd2-4586-a4a5-f0725abc41b4" providerId="AD"/>
  <p188:author id="{485EC9B9-D043-2072-5CDA-0E18DA86FA5A}" name="Lakhotia, Esha" initials="LE" userId="S::elakhoti@amazon.com::458df9ec-1ecb-4c08-9ab9-581bf4e2578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CE8F4"/>
    <a:srgbClr val="7F1EE7"/>
    <a:srgbClr val="000000"/>
    <a:srgbClr val="1D262F"/>
    <a:srgbClr val="1A0033"/>
    <a:srgbClr val="FFFFFF"/>
    <a:srgbClr val="FCFCFD"/>
    <a:srgbClr val="0000A3"/>
    <a:srgbClr val="B81EE7"/>
    <a:srgbClr val="5400A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12C8C85-51F0-491E-9774-3900AFEF0FD7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277" autoAdjust="0"/>
    <p:restoredTop sz="79852" autoAdjust="0"/>
  </p:normalViewPr>
  <p:slideViewPr>
    <p:cSldViewPr snapToGrid="0">
      <p:cViewPr varScale="1">
        <p:scale>
          <a:sx n="132" d="100"/>
          <a:sy n="132" d="100"/>
        </p:scale>
        <p:origin x="1152" y="176"/>
      </p:cViewPr>
      <p:guideLst>
        <p:guide orient="horz" pos="1296"/>
        <p:guide pos="3840"/>
      </p:guideLst>
    </p:cSldViewPr>
  </p:slideViewPr>
  <p:outlineViewPr>
    <p:cViewPr>
      <p:scale>
        <a:sx n="33" d="100"/>
        <a:sy n="33" d="100"/>
      </p:scale>
      <p:origin x="0" y="-44888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notesViewPr>
    <p:cSldViewPr snapToGrid="0" showGuides="1">
      <p:cViewPr varScale="1">
        <p:scale>
          <a:sx n="109" d="100"/>
          <a:sy n="109" d="100"/>
        </p:scale>
        <p:origin x="4040" y="1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1.xml"/><Relationship Id="rId3" Type="http://schemas.openxmlformats.org/officeDocument/2006/relationships/slide" Target="slides/slide10.xml"/><Relationship Id="rId4" Type="http://schemas.openxmlformats.org/officeDocument/2006/relationships/slide" Target="slides/slide9.xml"/><Relationship Id="rId5" Type="http://schemas.openxmlformats.org/officeDocument/2006/relationships/slide" Target="slides/slide8.xml"/><Relationship Id="rId6" Type="http://schemas.openxmlformats.org/officeDocument/2006/relationships/slide" Target="slides/slide7.xml"/><Relationship Id="rId7" Type="http://schemas.openxmlformats.org/officeDocument/2006/relationships/slide" Target="slides/slide6.xml"/><Relationship Id="rId8" Type="http://schemas.openxmlformats.org/officeDocument/2006/relationships/slide" Target="slides/slide5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4" Type="http://schemas.openxmlformats.org/officeDocument/2006/relationships/handoutMaster" Target="handoutMasters/handout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8/10/relationships/authors" Target="authors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30B3F9-42E9-426B-B3D2-D6012D7491A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19431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algn="ctr"/>
            <a:fld id="{C71F7584-9745-40DA-BD49-9A41A97B2D2E}" type="slidenum">
              <a:rPr lang="en-US" sz="1000" smtClean="0">
                <a:latin typeface="Amazon Ember Display" panose="020F0603020204020204" pitchFamily="34" charset="0"/>
              </a:rPr>
              <a:pPr algn="ctr"/>
              <a:t>‹#›</a:t>
            </a:fld>
            <a:endParaRPr lang="en-US" sz="1000" dirty="0">
              <a:latin typeface="Amazon Ember Display" panose="020F06030202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2530059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38150" y="457200"/>
            <a:ext cx="5981700" cy="3364706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419100" y="4197679"/>
            <a:ext cx="6000750" cy="4328803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19431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1000" b="0" i="0">
                <a:latin typeface="Amazon Ember Display" panose="020F0603020204020204" pitchFamily="34" charset="0"/>
              </a:defRPr>
            </a:lvl1pPr>
          </a:lstStyle>
          <a:p>
            <a:fld id="{A3D89E5F-BEEF-42A1-A57B-E5A736D5119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48719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spcAft>
        <a:spcPts val="300"/>
      </a:spcAft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1pPr>
    <a:lvl2pPr marL="225425" indent="-1063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2pPr>
    <a:lvl3pPr marL="463550" indent="-1190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3pPr>
    <a:lvl4pPr marL="747713" indent="-1190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4pPr>
    <a:lvl5pPr marL="973138" indent="-117475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pos="2160" userDrawn="1">
          <p15:clr>
            <a:srgbClr val="F26B43"/>
          </p15:clr>
        </p15:guide>
        <p15:guide id="2" orient="horz" pos="2880" userDrawn="1">
          <p15:clr>
            <a:srgbClr val="F26B43"/>
          </p15:clr>
        </p15:guide>
        <p15:guide id="3" pos="264" userDrawn="1">
          <p15:clr>
            <a:srgbClr val="F26B43"/>
          </p15:clr>
        </p15:guide>
        <p15:guide id="4" pos="4056" userDrawn="1">
          <p15:clr>
            <a:srgbClr val="F26B43"/>
          </p15:clr>
        </p15:guide>
        <p15:guide id="5" orient="horz" pos="288" userDrawn="1">
          <p15:clr>
            <a:srgbClr val="F26B43"/>
          </p15:clr>
        </p15:guide>
        <p15:guide id="6" orient="horz" pos="2640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ide 1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DF3A4-5795-4C3E-A626-E8705501F60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77246" y="3418321"/>
            <a:ext cx="6460999" cy="923330"/>
          </a:xfrm>
          <a:prstGeom prst="rect">
            <a:avLst/>
          </a:prstGeom>
        </p:spPr>
        <p:txBody>
          <a:bodyPr wrap="square" anchor="t" anchorCtr="0"/>
          <a:lstStyle>
            <a:lvl1pPr algn="l">
              <a:defRPr sz="6000" b="1" i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r>
              <a:rPr lang="en-US" dirty="0"/>
              <a:t>Enter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AD1914-560C-4D5C-AA3F-8A993D908EC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9598" y="4366830"/>
            <a:ext cx="6460998" cy="584775"/>
          </a:xfrm>
          <a:prstGeom prst="rect">
            <a:avLst/>
          </a:prstGeom>
        </p:spPr>
        <p:txBody>
          <a:bodyPr wrap="square"/>
          <a:lstStyle>
            <a:lvl1pPr marL="0" indent="0" algn="l">
              <a:spcAft>
                <a:spcPts val="0"/>
              </a:spcAft>
              <a:buFont typeface="Arial" panose="020B0604020202020204" pitchFamily="34" charset="0"/>
              <a:buNone/>
              <a:defRPr sz="3200" b="1" i="0" cap="none" spc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Enter subtitle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235E33B-41A5-4ACB-9AE6-2F3E7CAA442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09598" y="5261981"/>
            <a:ext cx="3797302" cy="400110"/>
          </a:xfrm>
          <a:prstGeom prst="rect">
            <a:avLst/>
          </a:prstGeom>
        </p:spPr>
        <p:txBody>
          <a:bodyPr wrap="square"/>
          <a:lstStyle>
            <a:lvl1pPr marL="0" indent="0">
              <a:spcAft>
                <a:spcPts val="0"/>
              </a:spcAft>
              <a:buNone/>
              <a:defRPr sz="2000" b="1" i="0" cap="none" spc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name (pronouns)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54CE4ED-4096-479A-AA41-A2286E854BF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9598" y="332014"/>
            <a:ext cx="6477002" cy="230832"/>
          </a:xfrm>
          <a:prstGeom prst="rect">
            <a:avLst/>
          </a:prstGeom>
        </p:spPr>
        <p:txBody>
          <a:bodyPr wrap="square"/>
          <a:lstStyle>
            <a:lvl1pPr marL="0" indent="0">
              <a:spcAft>
                <a:spcPts val="0"/>
              </a:spcAft>
              <a:buNone/>
              <a:defRPr sz="1000" b="0" i="0" cap="all" spc="300" baseline="0">
                <a:solidFill>
                  <a:schemeClr val="tx2"/>
                </a:solidFill>
                <a:latin typeface="Amazon Ember Mono" panose="020B0509020204020204" pitchFamily="49" charset="0"/>
                <a:ea typeface="Amazon Ember Mono" panose="020B0509020204020204" pitchFamily="49" charset="0"/>
                <a:cs typeface="Amazon Ember Mono" panose="020B0509020204020204" pitchFamily="49" charset="0"/>
              </a:defRPr>
            </a:lvl1pPr>
          </a:lstStyle>
          <a:p>
            <a:pPr lvl="0"/>
            <a:r>
              <a:rPr lang="en-US" dirty="0"/>
              <a:t>Enter session ID if required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7D4CE88-F816-4273-A6C0-5D3F9D2E051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9598" y="5674769"/>
            <a:ext cx="3797302" cy="584775"/>
          </a:xfrm>
          <a:prstGeom prst="rect">
            <a:avLst/>
          </a:prstGeom>
        </p:spPr>
        <p:txBody>
          <a:bodyPr wrap="square"/>
          <a:lstStyle>
            <a:lvl1pPr marL="0" indent="0">
              <a:spcAft>
                <a:spcPts val="300"/>
              </a:spcAft>
              <a:buNone/>
              <a:defRPr sz="1600" b="0" i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job title</a:t>
            </a:r>
            <a:br>
              <a:rPr lang="en-US" dirty="0"/>
            </a:br>
            <a:r>
              <a:rPr lang="en-US" dirty="0"/>
              <a:t>Speaker company</a:t>
            </a:r>
          </a:p>
        </p:txBody>
      </p:sp>
    </p:spTree>
    <p:extLst>
      <p:ext uri="{BB962C8B-B14F-4D97-AF65-F5344CB8AC3E}">
        <p14:creationId xmlns:p14="http://schemas.microsoft.com/office/powerpoint/2010/main" val="31164470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2" pos="4464">
          <p15:clr>
            <a:srgbClr val="FBAE40"/>
          </p15:clr>
        </p15:guide>
        <p15:guide id="3" orient="horz" pos="2736">
          <p15:clr>
            <a:srgbClr val="FBAE40"/>
          </p15:clr>
        </p15:guide>
        <p15:guide id="4" orient="horz" pos="1272">
          <p15:clr>
            <a:srgbClr val="FBAE40"/>
          </p15:clr>
        </p15:guide>
        <p15:guide id="5" orient="horz" pos="172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1750401-572B-4B45-BF07-5D528B05F88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1377715"/>
            <a:ext cx="11247438" cy="3549690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  <a:lvl2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2pPr>
            <a:lvl3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3pPr>
            <a:lvl4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4pPr>
            <a:lvl5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5pPr>
          </a:lstStyle>
          <a:p>
            <a:pPr lvl="0"/>
            <a:r>
              <a:rPr lang="en-US" dirty="0"/>
              <a:t>Enter high-level agenda items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タイトル 5">
            <a:extLst>
              <a:ext uri="{FF2B5EF4-FFF2-40B4-BE49-F238E27FC236}">
                <a16:creationId xmlns:a16="http://schemas.microsoft.com/office/drawing/2014/main" id="{64188B27-D1F7-5699-25C7-360C2A3C74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12935836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>
            <a:extLst>
              <a:ext uri="{FF2B5EF4-FFF2-40B4-BE49-F238E27FC236}">
                <a16:creationId xmlns:a16="http://schemas.microsoft.com/office/drawing/2014/main" id="{071E41DC-3AB2-33CA-0E29-26E2B01642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2021467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Gradi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>
            <a:extLst>
              <a:ext uri="{FF2B5EF4-FFF2-40B4-BE49-F238E27FC236}">
                <a16:creationId xmlns:a16="http://schemas.microsoft.com/office/drawing/2014/main" id="{9C0C633D-6533-7A81-CB54-487A1ECE7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5828452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6213DF-CEC6-4F46-9CD4-5ED4A416AF5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07987" y="908050"/>
            <a:ext cx="11449049" cy="36933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0" i="0" cap="none" spc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Enter subtitle</a:t>
            </a:r>
          </a:p>
        </p:txBody>
      </p:sp>
      <p:sp>
        <p:nvSpPr>
          <p:cNvPr id="7" name="タイトル 6">
            <a:extLst>
              <a:ext uri="{FF2B5EF4-FFF2-40B4-BE49-F238E27FC236}">
                <a16:creationId xmlns:a16="http://schemas.microsoft.com/office/drawing/2014/main" id="{ADA10BAA-117E-4979-BFDE-E8E27E25E8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9225091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840">
          <p15:clr>
            <a:srgbClr val="9FCC3B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22984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タイトル 6">
            <a:extLst>
              <a:ext uri="{FF2B5EF4-FFF2-40B4-BE49-F238E27FC236}">
                <a16:creationId xmlns:a16="http://schemas.microsoft.com/office/drawing/2014/main" id="{C31057A0-1AB3-C59E-241E-58D9A94D4D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19982E9C-19F2-6D70-0138-2D7C09EA29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7987" y="1376363"/>
            <a:ext cx="11449049" cy="2062103"/>
          </a:xfrm>
          <a:prstGeom prst="rect">
            <a:avLst/>
          </a:prstGeom>
        </p:spPr>
        <p:txBody>
          <a:bodyPr vert="horz" wrap="square" lIns="0" tIns="45720" rIns="0" bIns="45720" rtlCol="0">
            <a:spAutoFit/>
          </a:bodyPr>
          <a:lstStyle>
            <a:lvl1pPr marL="0" indent="0">
              <a:buNone/>
              <a:defRPr/>
            </a:lvl1pPr>
            <a:lvl2pPr marL="280800" indent="0">
              <a:buNone/>
              <a:defRPr/>
            </a:lvl2pPr>
            <a:lvl3pPr marL="622800" indent="0">
              <a:buNone/>
              <a:defRPr/>
            </a:lvl3pPr>
            <a:lvl4pPr marL="795600" indent="0">
              <a:buNone/>
              <a:defRPr/>
            </a:lvl4pPr>
            <a:lvl5pPr marL="9684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108612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Bullete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686EE66B-2848-D944-6D93-4D6603CDCB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7987" y="1376363"/>
            <a:ext cx="11449049" cy="2062103"/>
          </a:xfrm>
          <a:prstGeom prst="rect">
            <a:avLst/>
          </a:prstGeom>
        </p:spPr>
        <p:txBody>
          <a:bodyPr vert="horz" wrap="square" lIns="0" tIns="45720" rIns="0" bIns="45720" rtlCol="0">
            <a:sp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タイトル 7">
            <a:extLst>
              <a:ext uri="{FF2B5EF4-FFF2-40B4-BE49-F238E27FC236}">
                <a16:creationId xmlns:a16="http://schemas.microsoft.com/office/drawing/2014/main" id="{EC2E6AE7-4E53-3437-B370-670CC07AFE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5788172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Op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915E6F-C631-449B-B22F-53FD20C9E89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2718036"/>
            <a:ext cx="7823200" cy="1421928"/>
          </a:xfrm>
          <a:prstGeom prst="rect">
            <a:avLst/>
          </a:prstGeom>
        </p:spPr>
        <p:txBody>
          <a:bodyPr anchor="ctr" anchorCtr="0"/>
          <a:lstStyle>
            <a:lvl1pPr>
              <a:defRPr sz="4800" b="1" i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r>
              <a:rPr lang="en-US" dirty="0"/>
              <a:t>Section layout: Enter section name here</a:t>
            </a:r>
          </a:p>
        </p:txBody>
      </p:sp>
    </p:spTree>
    <p:extLst>
      <p:ext uri="{BB962C8B-B14F-4D97-AF65-F5344CB8AC3E}">
        <p14:creationId xmlns:p14="http://schemas.microsoft.com/office/powerpoint/2010/main" val="34901273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Op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1FFA190-394C-4586-A84A-BA2A6770300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9125" y="3621643"/>
            <a:ext cx="1994088" cy="369332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20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682D70F-F9C4-4C4C-A916-589EA4438C2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9125" y="3990975"/>
            <a:ext cx="1994088" cy="535531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6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contact info (email or socials)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393A1250-E885-4935-B98D-9C62E4E51F4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714625" y="3621643"/>
            <a:ext cx="1994088" cy="369332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20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DF7E9957-AB07-4CE6-BD9E-3631EF6ED5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714625" y="3990975"/>
            <a:ext cx="1994088" cy="535531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6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contact info (email or socials)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E064B62F-5416-46A2-BBC6-945C362C63D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810125" y="3621643"/>
            <a:ext cx="1994088" cy="369332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20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4BBE44B1-E140-4E35-AF0B-41A3CDA5CA2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810125" y="3990975"/>
            <a:ext cx="1994088" cy="535531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6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contact info (email or socials)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2BEBFA3-8C5E-448A-B03D-8DAAEBB407B0}"/>
              </a:ext>
            </a:extLst>
          </p:cNvPr>
          <p:cNvSpPr txBox="1"/>
          <p:nvPr userDrawn="1"/>
        </p:nvSpPr>
        <p:spPr>
          <a:xfrm>
            <a:off x="609599" y="2461211"/>
            <a:ext cx="6867525" cy="923330"/>
          </a:xfrm>
          <a:prstGeom prst="rect">
            <a:avLst/>
          </a:prstGeom>
          <a:noFill/>
        </p:spPr>
        <p:txBody>
          <a:bodyPr wrap="square" lIns="0" rtlCol="0">
            <a:noAutofit/>
          </a:bodyPr>
          <a:lstStyle/>
          <a:p>
            <a:r>
              <a:rPr lang="en-US" sz="4800" b="0" i="0" dirty="0">
                <a:solidFill>
                  <a:schemeClr val="tx2"/>
                </a:solidFill>
                <a:latin typeface="Amazon Ember Display" panose="020F0603020204020204" pitchFamily="34" charset="0"/>
              </a:rPr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1580401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Relationship Id="rId12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Placeholder 19">
            <a:extLst>
              <a:ext uri="{FF2B5EF4-FFF2-40B4-BE49-F238E27FC236}">
                <a16:creationId xmlns:a16="http://schemas.microsoft.com/office/drawing/2014/main" id="{6BA9B5C3-6371-84F6-B7DD-E715A77476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988" y="301169"/>
            <a:ext cx="11449050" cy="60688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7F0757-0A35-2523-9D3C-4010D62C72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7987" y="1376363"/>
            <a:ext cx="11449049" cy="2062103"/>
          </a:xfrm>
          <a:prstGeom prst="rect">
            <a:avLst/>
          </a:prstGeom>
        </p:spPr>
        <p:txBody>
          <a:bodyPr vert="horz" wrap="square" lIns="0" tIns="45720" rIns="0" bIns="45720" rtlCol="0">
            <a:sp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474855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33" r:id="rId1"/>
    <p:sldLayoutId id="2147483739" r:id="rId2"/>
    <p:sldLayoutId id="2147483742" r:id="rId3"/>
    <p:sldLayoutId id="2147483744" r:id="rId4"/>
    <p:sldLayoutId id="2147483746" r:id="rId5"/>
    <p:sldLayoutId id="2147483747" r:id="rId6"/>
    <p:sldLayoutId id="2147483748" r:id="rId7"/>
    <p:sldLayoutId id="2147483749" r:id="rId8"/>
    <p:sldLayoutId id="2147483772" r:id="rId9"/>
    <p:sldLayoutId id="2147483780" r:id="rId1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1pPr>
    </p:titleStyle>
    <p:bodyStyle>
      <a:lvl1pPr marL="3492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24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1pPr>
      <a:lvl2pPr marL="6300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システムフォント（レギュラー）"/>
        <a:buChar char="-"/>
        <a:defRPr sz="24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2pPr>
      <a:lvl3pPr marL="9720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システムフォント（レギュラー）"/>
        <a:buChar char="&gt;"/>
        <a:defRPr sz="20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3pPr>
      <a:lvl4pPr marL="11448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4pPr>
      <a:lvl5pPr marL="13176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906" userDrawn="1">
          <p15:clr>
            <a:srgbClr val="F26B43"/>
          </p15:clr>
        </p15:guide>
        <p15:guide id="3" pos="257" userDrawn="1">
          <p15:clr>
            <a:srgbClr val="F26B43"/>
          </p15:clr>
        </p15:guide>
        <p15:guide id="4" pos="7469" userDrawn="1">
          <p15:clr>
            <a:srgbClr val="F26B43"/>
          </p15:clr>
        </p15:guide>
        <p15:guide id="5" orient="horz" pos="187" userDrawn="1">
          <p15:clr>
            <a:srgbClr val="F26B43"/>
          </p15:clr>
        </p15:guide>
        <p15:guide id="6" orient="horz" pos="572" userDrawn="1">
          <p15:clr>
            <a:srgbClr val="F26B43"/>
          </p15:clr>
        </p15:guide>
        <p15:guide id="7" orient="horz" pos="867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Who moves the KV cache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Prefill and decode on one node, NIXL with its LIBFABRIC backend, FI_PROVIDER=efa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143000"/>
            <a:ext cx="5276850" cy="1428750"/>
          </a:xfrm>
          <a:prstGeom prst="roundRect">
            <a:avLst>
              <a:gd name="adj" fmla="val 5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2925" y="1200150"/>
            <a:ext cx="285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SGLang prefill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0075" y="1581150"/>
            <a:ext cx="2333625" cy="4191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TP rank 0  (device 0)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62300" y="1581150"/>
            <a:ext cx="2333625" cy="4191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TP rank 1  (device 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0075" y="2076450"/>
            <a:ext cx="489585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one process per rank; device numbers as seen by each process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05575" y="1143000"/>
            <a:ext cx="5276850" cy="1428750"/>
          </a:xfrm>
          <a:prstGeom prst="roundRect">
            <a:avLst>
              <a:gd name="adj" fmla="val 5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38925" y="1200150"/>
            <a:ext cx="285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SGLang decode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96075" y="1581150"/>
            <a:ext cx="2333625" cy="4191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TP rank 0  (device 0)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58300" y="1581150"/>
            <a:ext cx="2333625" cy="4191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TP rank 1  (device 1)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6075" y="2076450"/>
            <a:ext cx="489585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one process per rank; device numbers as seen by each process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9575" y="2857500"/>
            <a:ext cx="11372850" cy="5334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NIXL  (LIBFABRIC backend)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9575" y="3676650"/>
            <a:ext cx="11372850" cy="5334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libfabric  efa provider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9575" y="4629150"/>
            <a:ext cx="5334000" cy="85725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peer on the same node</a:t>
            </a:r>
          </a:p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shm provider (shared memory, CUDA IPC)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48425" y="4629150"/>
            <a:ext cx="5334000" cy="85725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peer on another node</a:t>
            </a:r>
          </a:p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EFA device (RDMA)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076575" y="4210050"/>
            <a:ext cx="0" cy="419100"/>
          </a:xfrm>
          <a:prstGeom prst="line">
            <a:avLst/>
          </a:prstGeom>
          <a:ln w="3175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115425" y="4210050"/>
            <a:ext cx="0" cy="4191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09575" y="5619750"/>
            <a:ext cx="113728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By default, same-node data does not go through the EFA device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Who does what when NIXL writes to a same-node peer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FI_REMOTE_CQ_DATA is a libfabric flag; NIXL sets it, the libfabric providers act on 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123950"/>
            <a:ext cx="11372850" cy="97155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3875" y="1238250"/>
            <a:ext cx="1905000" cy="7429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SGLang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9575" y="2190750"/>
            <a:ext cx="11372850" cy="97155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23875" y="2305050"/>
            <a:ext cx="1905000" cy="7429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NIXL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LIBFABRIC backend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9575" y="3257550"/>
            <a:ext cx="11372850" cy="97155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23875" y="3371850"/>
            <a:ext cx="1905000" cy="74295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libfabric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efa provider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9575" y="4324350"/>
            <a:ext cx="11372850" cy="97155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23875" y="4438650"/>
            <a:ext cx="1905000" cy="74295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libfabric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shm provider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62250" y="1323975"/>
            <a:ext cx="3048000" cy="5715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send the KV cache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62250" y="2390775"/>
            <a:ext cx="3048000" cy="5715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post an RDMA write</a:t>
            </a:r>
          </a:p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1.1.0 fi_writedata / 1.4.0 fi_writemsg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286250" y="1895475"/>
            <a:ext cx="0" cy="4953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286500" y="2505075"/>
            <a:ext cx="2381250" cy="342900"/>
          </a:xfrm>
          <a:prstGeom prst="roundRect">
            <a:avLst>
              <a:gd name="adj" fmla="val 3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+ FI_REMOTE_CQ_DATA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810250" y="2676525"/>
            <a:ext cx="476250" cy="0"/>
          </a:xfrm>
          <a:prstGeom prst="line">
            <a:avLst/>
          </a:prstGeom>
          <a:ln w="2540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286500" y="3457575"/>
            <a:ext cx="2381250" cy="57150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peer on this node?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477125" y="2847975"/>
            <a:ext cx="0" cy="609600"/>
          </a:xfrm>
          <a:prstGeom prst="line">
            <a:avLst/>
          </a:prstGeom>
          <a:ln w="2540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286875" y="3457575"/>
            <a:ext cx="2381250" cy="5715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3BD1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EFA device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RDMA write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667750" y="3743325"/>
            <a:ext cx="619125" cy="0"/>
          </a:xfrm>
          <a:prstGeom prst="line">
            <a:avLst/>
          </a:prstGeom>
          <a:ln w="31750">
            <a:solidFill>
              <a:srgbClr val="3BD16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648700" y="3352800"/>
            <a:ext cx="66675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100" b="0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no, or</a:t>
            </a:r>
          </a:p>
          <a:p>
            <a:pPr algn="ctr">
              <a:lnSpc>
                <a:spcPct val="122000"/>
              </a:lnSpc>
            </a:pPr>
            <a:r>
              <a:rPr sz="1100" b="0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shm off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86500" y="4524375"/>
            <a:ext cx="2381250" cy="57150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flag set: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skip the CMA fast path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477125" y="4029075"/>
            <a:ext cx="0" cy="495300"/>
          </a:xfrm>
          <a:prstGeom prst="line">
            <a:avLst/>
          </a:prstGeom>
          <a:ln w="3175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572375" y="4114800"/>
            <a:ext cx="1524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yes, default (=1)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286875" y="4410075"/>
            <a:ext cx="2381250" cy="3619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GPU memory: CUDA IPC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286875" y="4848225"/>
            <a:ext cx="2381250" cy="361950"/>
          </a:xfrm>
          <a:prstGeom prst="roundRect">
            <a:avLst>
              <a:gd name="adj" fmla="val 10000"/>
            </a:avLst>
          </a:prstGeom>
          <a:solidFill>
            <a:srgbClr val="501816"/>
          </a:solidFill>
          <a:ln w="15875">
            <a:solidFill>
              <a:srgbClr val="E65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IPC setup fails: SAR</a:t>
            </a:r>
          </a:p>
        </p:txBody>
      </p:sp>
      <p:cxnSp>
        <p:nvCxnSpPr>
          <p:cNvPr id="27" name="Connector 26"/>
          <p:cNvCxnSpPr/>
          <p:nvPr/>
        </p:nvCxnSpPr>
        <p:spPr>
          <a:xfrm flipV="1">
            <a:off x="8667750" y="4591050"/>
            <a:ext cx="619125" cy="123825"/>
          </a:xfrm>
          <a:prstGeom prst="line">
            <a:avLst/>
          </a:prstGeom>
          <a:ln w="2540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8667750" y="4905375"/>
            <a:ext cx="619125" cy="123825"/>
          </a:xfrm>
          <a:prstGeom prst="line">
            <a:avLst/>
          </a:prstGeom>
          <a:ln w="2540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409575" y="5524500"/>
            <a:ext cx="247650" cy="190500"/>
          </a:xfrm>
          <a:prstGeom prst="roundRect">
            <a:avLst>
              <a:gd name="adj" fmla="val 2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4375" y="5486400"/>
            <a:ext cx="123825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SGLang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028825" y="5524500"/>
            <a:ext cx="247650" cy="190500"/>
          </a:xfrm>
          <a:prstGeom prst="roundRect">
            <a:avLst>
              <a:gd name="adj" fmla="val 2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333625" y="5486400"/>
            <a:ext cx="123825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NIXL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648075" y="5524500"/>
            <a:ext cx="247650" cy="190500"/>
          </a:xfrm>
          <a:prstGeom prst="roundRect">
            <a:avLst>
              <a:gd name="adj" fmla="val 2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52875" y="5486400"/>
            <a:ext cx="123825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libfabric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shm with GPU memory: CUDA IPC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The sender hands over a handle; the receiver opens it and copies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9575" y="1066800"/>
            <a:ext cx="5334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sender (posting thread)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48425" y="1066800"/>
            <a:ext cx="5334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2896F0"/>
                </a:solidFill>
                <a:latin typeface="Amazon Ember"/>
                <a:ea typeface="メイリオ"/>
                <a:cs typeface="メイリオ"/>
              </a:rPr>
              <a:t>receiver (progress loop)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5825" y="1428750"/>
            <a:ext cx="4381500" cy="6667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find the buffer's base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cuMemGetAddressRange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5825" y="2286000"/>
            <a:ext cx="4381500" cy="6667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export an IPC handle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cudaIpcGetMemHandle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5825" y="3143250"/>
            <a:ext cx="4381500" cy="6667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put the handle in a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command in shared memory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076575" y="2095500"/>
            <a:ext cx="0" cy="1905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076575" y="2952750"/>
            <a:ext cx="0" cy="1905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924675" y="2286000"/>
            <a:ext cx="4381500" cy="6667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open the handle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cudaIpcOpenMemHandle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24675" y="3143250"/>
            <a:ext cx="4381500" cy="6667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copy into its own buffer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cudaMemcpy on its own thread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24675" y="4000500"/>
            <a:ext cx="4381500" cy="6667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mark done after the copy returns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115425" y="2952750"/>
            <a:ext cx="0" cy="1905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115425" y="3810000"/>
            <a:ext cx="0" cy="1905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5267325" y="2619375"/>
            <a:ext cx="1657350" cy="857250"/>
          </a:xfrm>
          <a:prstGeom prst="line">
            <a:avLst/>
          </a:prstGeom>
          <a:ln w="3175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85825" y="4095750"/>
            <a:ext cx="4381500" cy="5715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the sender sees completion only after that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5267325" y="4333875"/>
            <a:ext cx="1657350" cy="47625"/>
          </a:xfrm>
          <a:prstGeom prst="line">
            <a:avLst/>
          </a:prstGeom>
          <a:ln w="25400">
            <a:solidFill>
              <a:srgbClr val="96969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409575" y="5143500"/>
            <a:ext cx="11372850" cy="571500"/>
          </a:xfrm>
          <a:prstGeom prst="roundRect">
            <a:avLst>
              <a:gd name="adj" fmla="val 3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NIXL writes carry FI_REMOTE_CQ_DATA, so shm does not take its sender-side fast path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SAR: segmentation and reassembly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The fallback when preparing CUDA IPC fails: copy through shared host memory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428750"/>
            <a:ext cx="2381250" cy="8572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sender's</a:t>
            </a:r>
          </a:p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GPU buffer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401175" y="1428750"/>
            <a:ext cx="2381250" cy="8572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receiver's</a:t>
            </a:r>
          </a:p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GPU buffer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19500" y="1143000"/>
            <a:ext cx="4953000" cy="1428750"/>
          </a:xfrm>
          <a:prstGeom prst="roundRect">
            <a:avLst>
              <a:gd name="adj" fmla="val 5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714750" y="1200150"/>
            <a:ext cx="476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receiver's shared memory: bounce buffers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10000" y="1638300"/>
            <a:ext cx="666750" cy="47625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32K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91050" y="1638300"/>
            <a:ext cx="666750" cy="47625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32K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72100" y="1638300"/>
            <a:ext cx="666750" cy="47625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32K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53150" y="1638300"/>
            <a:ext cx="666750" cy="47625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32K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34200" y="1638300"/>
            <a:ext cx="666750" cy="47625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32K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15250" y="1638300"/>
            <a:ext cx="666750" cy="47625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32K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14750" y="2171700"/>
            <a:ext cx="476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up to 64 buffers of 32 KiB (also capped per peer), reused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790825" y="1857375"/>
            <a:ext cx="828675" cy="0"/>
          </a:xfrm>
          <a:prstGeom prst="line">
            <a:avLst/>
          </a:prstGeom>
          <a:ln w="3175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572500" y="1857375"/>
            <a:ext cx="828675" cy="0"/>
          </a:xfrm>
          <a:prstGeom prst="line">
            <a:avLst/>
          </a:prstGeom>
          <a:ln w="3175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790825" y="2333625"/>
            <a:ext cx="828675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copy 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2500" y="2333625"/>
            <a:ext cx="828675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copy out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9575" y="3143250"/>
            <a:ext cx="11372850" cy="190500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95325" y="3429000"/>
            <a:ext cx="3238500" cy="76200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sender fills buffers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5325" y="4286250"/>
            <a:ext cx="3238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flag: FULL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933825" y="3810000"/>
            <a:ext cx="381000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4314825" y="3429000"/>
            <a:ext cx="3238500" cy="76200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receiver drains them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14825" y="4286250"/>
            <a:ext cx="3238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flag: EMPTY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553325" y="3810000"/>
            <a:ext cx="381000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934325" y="3429000"/>
            <a:ext cx="3238500" cy="76200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repeat until the whole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message is across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34325" y="4286250"/>
            <a:ext cx="3238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9575" y="5334000"/>
            <a:ext cx="113728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6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Two copies per piece, relayed through shared host memory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The current CUDA device is per thread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SGLang's NIXL transfer threads never select their GPU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143000"/>
            <a:ext cx="11372850" cy="381000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75" y="121920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prefill process, TP rank 1  (its KV cache is on device 1)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0575" y="1714500"/>
            <a:ext cx="3238500" cy="6667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main thread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current device: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0575" y="2857500"/>
            <a:ext cx="3238500" cy="857250"/>
          </a:xfrm>
          <a:prstGeom prst="roundRect">
            <a:avLst>
              <a:gd name="adj" fmla="val 10000"/>
            </a:avLst>
          </a:prstGeom>
          <a:solidFill>
            <a:srgbClr val="501816"/>
          </a:solidFill>
          <a:ln w="15875">
            <a:solidFill>
              <a:srgbClr val="E65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transfer threads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context: device 0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(never set)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53000" y="2857500"/>
            <a:ext cx="2857500" cy="8572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shm: where is this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buffer?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72500" y="2857500"/>
            <a:ext cx="2857500" cy="857250"/>
          </a:xfrm>
          <a:prstGeom prst="roundRect">
            <a:avLst>
              <a:gd name="adj" fmla="val 10000"/>
            </a:avLst>
          </a:prstGeom>
          <a:solidFill>
            <a:srgbClr val="501816"/>
          </a:solidFill>
          <a:ln w="15875">
            <a:solidFill>
              <a:srgbClr val="E65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device 0 context: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address not found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CUDA_ERROR_NOT_FOUND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029075" y="3286125"/>
            <a:ext cx="923925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810500" y="3286125"/>
            <a:ext cx="762000" cy="0"/>
          </a:xfrm>
          <a:prstGeom prst="line">
            <a:avLst/>
          </a:prstGeom>
          <a:ln w="31750">
            <a:solidFill>
              <a:srgbClr val="E6504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953000" y="4000500"/>
            <a:ext cx="6477000" cy="66675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no IPC handle: warn once, fall back to SAR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001250" y="3714750"/>
            <a:ext cx="0" cy="285750"/>
          </a:xfrm>
          <a:prstGeom prst="line">
            <a:avLst/>
          </a:prstGeom>
          <a:ln w="3175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09575" y="5143500"/>
            <a:ext cx="113728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TP rank 0 is unaffected only because its KV cache is on the default device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9575" y="5524500"/>
            <a:ext cx="113728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600" b="0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Tested patch (not upstream): set the device at the start of each transfer thread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NIXL 1.4.0 restores the context before posting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In the measured setup, the SAR fallback warnings disappear without changing SGLang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9575" y="1066800"/>
            <a:ext cx="54483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E65046"/>
                </a:solidFill>
                <a:latin typeface="Amazon Ember"/>
                <a:ea typeface="メイリオ"/>
                <a:cs typeface="メイリオ"/>
              </a:rPr>
              <a:t>NIXL 1.1.0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1075" y="1524000"/>
            <a:ext cx="4305300" cy="6667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transfer thread posts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133725" y="2190750"/>
            <a:ext cx="0" cy="2857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981075" y="2476500"/>
            <a:ext cx="4305300" cy="666750"/>
          </a:xfrm>
          <a:prstGeom prst="roundRect">
            <a:avLst>
              <a:gd name="adj" fmla="val 10000"/>
            </a:avLst>
          </a:prstGeom>
          <a:solidFill>
            <a:srgbClr val="501816"/>
          </a:solidFill>
          <a:ln w="15875">
            <a:solidFill>
              <a:srgbClr val="E65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context: device 0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133725" y="3143250"/>
            <a:ext cx="0" cy="2857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981075" y="3429000"/>
            <a:ext cx="4305300" cy="666750"/>
          </a:xfrm>
          <a:prstGeom prst="roundRect">
            <a:avLst>
              <a:gd name="adj" fmla="val 10000"/>
            </a:avLst>
          </a:prstGeom>
          <a:solidFill>
            <a:srgbClr val="501816"/>
          </a:solidFill>
          <a:ln w="15875">
            <a:solidFill>
              <a:srgbClr val="E65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IPC handle fails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133725" y="4095750"/>
            <a:ext cx="0" cy="2857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81075" y="4381500"/>
            <a:ext cx="4305300" cy="666750"/>
          </a:xfrm>
          <a:prstGeom prst="roundRect">
            <a:avLst>
              <a:gd name="adj" fmla="val 10000"/>
            </a:avLst>
          </a:prstGeom>
          <a:solidFill>
            <a:srgbClr val="501816"/>
          </a:solidFill>
          <a:ln w="15875">
            <a:solidFill>
              <a:srgbClr val="E65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34125" y="1066800"/>
            <a:ext cx="54483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NIXL 1.4.0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05625" y="1524000"/>
            <a:ext cx="4305300" cy="6667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transfer thread posts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058275" y="2190750"/>
            <a:ext cx="0" cy="2857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905625" y="2476500"/>
            <a:ext cx="4305300" cy="6667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3BD1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NIXL sets the registration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context first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058275" y="3143250"/>
            <a:ext cx="0" cy="2857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905625" y="3429000"/>
            <a:ext cx="4305300" cy="6667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3BD1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IPC handle succeeds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058275" y="4095750"/>
            <a:ext cx="0" cy="2857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905625" y="4381500"/>
            <a:ext cx="4305300" cy="6667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3BD1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CUDA IPC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9575" y="5619750"/>
            <a:ext cx="113728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This fixes the sender side only; the receiver side is the next figure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NIXL's progress thread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A background thread that polls completions; in the measured setup the shm receive copy ran in 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143000"/>
            <a:ext cx="11372850" cy="428625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75" y="121920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decode process (one per TP rank)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0575" y="1714500"/>
            <a:ext cx="3143250" cy="6667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scheduler thread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runs the model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0575" y="2857500"/>
            <a:ext cx="3143250" cy="8572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progress thread (when enabled)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loop: progressActiveRails()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62500" y="2857500"/>
            <a:ext cx="3143250" cy="8572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fi_cq_read()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holding ep_mutex_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34425" y="2857500"/>
            <a:ext cx="2762250" cy="85725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shm progress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receive copy (cudaMemcpy)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933825" y="3286125"/>
            <a:ext cx="828675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905750" y="3286125"/>
            <a:ext cx="828675" cy="0"/>
          </a:xfrm>
          <a:prstGeom prst="line">
            <a:avLst/>
          </a:prstGeom>
          <a:ln w="3175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762500" y="4191000"/>
            <a:ext cx="6734175" cy="8572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the same lock guards posting writes;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calls that need it would wait (not measured)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34125" y="3714750"/>
            <a:ext cx="0" cy="476250"/>
          </a:xfrm>
          <a:prstGeom prst="line">
            <a:avLst/>
          </a:prstGeom>
          <a:ln w="25400">
            <a:solidFill>
              <a:srgbClr val="96969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90575" y="4286250"/>
            <a:ext cx="314325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E65046"/>
                </a:solidFill>
                <a:latin typeface="Amazon Ember"/>
                <a:ea typeface="メイリオ"/>
                <a:cs typeface="メイリオ"/>
              </a:rPr>
              <a:t>started by NIXL;</a:t>
            </a:r>
          </a:p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E65046"/>
                </a:solidFill>
                <a:latin typeface="Amazon Ember"/>
                <a:ea typeface="メイリオ"/>
                <a:cs typeface="メイリオ"/>
              </a:rPr>
              <a:t>it sets no CUDA device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Decode TP rank 1: progress thread on the wrong device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Measured on the shm path with NIXL 1.4.0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9575" y="1066800"/>
            <a:ext cx="54483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E65046"/>
                </a:solidFill>
                <a:latin typeface="Amazon Ember"/>
                <a:ea typeface="メイリオ"/>
                <a:cs typeface="メイリオ"/>
              </a:rPr>
              <a:t>as shipped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90575" y="1619250"/>
            <a:ext cx="4686300" cy="762000"/>
          </a:xfrm>
          <a:prstGeom prst="roundRect">
            <a:avLst>
              <a:gd name="adj" fmla="val 10000"/>
            </a:avLst>
          </a:prstGeom>
          <a:solidFill>
            <a:srgbClr val="501816"/>
          </a:solidFill>
          <a:ln w="15875">
            <a:solidFill>
              <a:srgbClr val="E65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progress thread</a:t>
            </a:r>
          </a:p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context: device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0575" y="2762250"/>
            <a:ext cx="4686300" cy="7620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destination: device 1</a:t>
            </a:r>
          </a:p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(decode TP rank 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0575" y="3905250"/>
            <a:ext cx="4686300" cy="762000"/>
          </a:xfrm>
          <a:prstGeom prst="roundRect">
            <a:avLst>
              <a:gd name="adj" fmla="val 10000"/>
            </a:avLst>
          </a:prstGeom>
          <a:solidFill>
            <a:srgbClr val="501816"/>
          </a:solidFill>
          <a:ln w="15875">
            <a:solidFill>
              <a:srgbClr val="E65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host-staged copy</a:t>
            </a:r>
          </a:p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in two steps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133725" y="2381250"/>
            <a:ext cx="0" cy="3810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133725" y="3524250"/>
            <a:ext cx="0" cy="3810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334125" y="1066800"/>
            <a:ext cx="54483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creator's device (test patch)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15125" y="1619250"/>
            <a:ext cx="4686300" cy="7620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3BD1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progress thread</a:t>
            </a:r>
          </a:p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context: device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15125" y="2762250"/>
            <a:ext cx="4686300" cy="7620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destination: device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15125" y="3905250"/>
            <a:ext cx="4686300" cy="7620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3BD1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one direct copy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058275" y="2381250"/>
            <a:ext cx="0" cy="3810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058275" y="3524250"/>
            <a:ext cx="0" cy="3810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09575" y="4953000"/>
            <a:ext cx="113728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decode TP rank 0 is unaffected: its device is the default 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9575" y="5334000"/>
            <a:ext cx="113728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why fixing the thread's device shortens decode steps: not known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Three setups on one node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Where each problem remains, as measured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9575" y="1066800"/>
            <a:ext cx="3619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E65046"/>
                </a:solidFill>
                <a:latin typeface="Amazon Ember"/>
                <a:ea typeface="メイリオ"/>
                <a:cs typeface="メイリオ"/>
              </a:rPr>
              <a:t>NIXL 1.1.0, shm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09575" y="1524000"/>
            <a:ext cx="3619500" cy="762000"/>
          </a:xfrm>
          <a:prstGeom prst="roundRect">
            <a:avLst>
              <a:gd name="adj" fmla="val 10000"/>
            </a:avLst>
          </a:prstGeom>
          <a:solidFill>
            <a:srgbClr val="501816"/>
          </a:solidFill>
          <a:ln w="15875">
            <a:solidFill>
              <a:srgbClr val="E65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sender: SAR on TP rank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9575" y="2476500"/>
            <a:ext cx="3619500" cy="762000"/>
          </a:xfrm>
          <a:prstGeom prst="roundRect">
            <a:avLst>
              <a:gd name="adj" fmla="val 10000"/>
            </a:avLst>
          </a:prstGeom>
          <a:solidFill>
            <a:srgbClr val="501816"/>
          </a:solidFill>
          <a:ln w="15875">
            <a:solidFill>
              <a:srgbClr val="E65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receiver: not measured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9575" y="3429000"/>
            <a:ext cx="3619500" cy="762000"/>
          </a:xfrm>
          <a:prstGeom prst="roundRect">
            <a:avLst>
              <a:gd name="adj" fmla="val 10000"/>
            </a:avLst>
          </a:prstGeom>
          <a:solidFill>
            <a:srgbClr val="501816"/>
          </a:solidFill>
          <a:ln w="15875">
            <a:solidFill>
              <a:srgbClr val="E65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receiving thread: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not measured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86250" y="1066800"/>
            <a:ext cx="3619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NIXL 1.4.0, shm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6250" y="1524000"/>
            <a:ext cx="3619500" cy="76200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sender: CUDA IPC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6250" y="2476500"/>
            <a:ext cx="3619500" cy="76200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receiver: wrong-GPU copy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on decode TP rank 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6250" y="3429000"/>
            <a:ext cx="3619500" cy="76200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receiver copies in the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progress thread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62925" y="1066800"/>
            <a:ext cx="3619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FI_EFA_ENABLE_SHM_TRANSFER=0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62925" y="1524000"/>
            <a:ext cx="3619500" cy="7620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3BD1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no shm path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62925" y="2476500"/>
            <a:ext cx="3619500" cy="7620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3BD1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RDMA write through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the EFA device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62925" y="3429000"/>
            <a:ext cx="3619500" cy="7620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3BD1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no shm receive copy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9575" y="4476750"/>
            <a:ext cx="113728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One transfer alone is slower through the device; under load the KV transfer stage was shorter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Where the bytes 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libfabric with FI_PROVIDER=efa: another node vs the same node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143000"/>
            <a:ext cx="5334000" cy="447675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75" y="1219200"/>
            <a:ext cx="495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peer on another node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5325" y="1666875"/>
            <a:ext cx="2095500" cy="5715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GPU (node A)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62325" y="1666875"/>
            <a:ext cx="2095500" cy="5715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GPU (node B)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5325" y="2762250"/>
            <a:ext cx="2095500" cy="5715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efa provider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62325" y="2762250"/>
            <a:ext cx="2095500" cy="5715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efa provider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5325" y="3857625"/>
            <a:ext cx="2095500" cy="5715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EFA device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62325" y="3857625"/>
            <a:ext cx="2095500" cy="5715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EFA device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743075" y="2238375"/>
            <a:ext cx="0" cy="523875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743075" y="3333750"/>
            <a:ext cx="0" cy="523875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2790825" y="4143375"/>
            <a:ext cx="571500" cy="0"/>
          </a:xfrm>
          <a:prstGeom prst="line">
            <a:avLst/>
          </a:prstGeom>
          <a:ln w="38100">
            <a:solidFill>
              <a:srgbClr val="3BD16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4410075" y="3333750"/>
            <a:ext cx="0" cy="523875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4410075" y="2238375"/>
            <a:ext cx="0" cy="523875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95325" y="4667250"/>
            <a:ext cx="47625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through the network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48425" y="1143000"/>
            <a:ext cx="5334000" cy="447675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38925" y="1219200"/>
            <a:ext cx="495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peer on the same node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34175" y="1666875"/>
            <a:ext cx="2095500" cy="5715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GPU of process 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401175" y="1666875"/>
            <a:ext cx="2095500" cy="5715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GPU of process B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34175" y="2571750"/>
            <a:ext cx="4762500" cy="5143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efa provider: the peer is local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34175" y="3524250"/>
            <a:ext cx="2286000" cy="104775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default (=1)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shm provider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CUDA IPC or SAR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210675" y="3524250"/>
            <a:ext cx="2286000" cy="10477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3BD1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=0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EFA device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(measured: RDMA write)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781925" y="2238375"/>
            <a:ext cx="0" cy="333375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877175" y="3086100"/>
            <a:ext cx="0" cy="438150"/>
          </a:xfrm>
          <a:prstGeom prst="line">
            <a:avLst/>
          </a:prstGeom>
          <a:ln w="3175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0353675" y="3086100"/>
            <a:ext cx="0" cy="438150"/>
          </a:xfrm>
          <a:prstGeom prst="line">
            <a:avLst/>
          </a:prstGeom>
          <a:ln w="31750">
            <a:solidFill>
              <a:srgbClr val="3BD16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734175" y="4714875"/>
            <a:ext cx="47625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FI_EFA_ENABLE_SHM_TRANSFER</a:t>
            </a:r>
          </a:p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decides which one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shm provider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Commands and responses go through regions of host memory; how the data moves depends on the protocol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428750"/>
            <a:ext cx="2857500" cy="10477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process A</a:t>
            </a:r>
          </a:p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(sender)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924925" y="1428750"/>
            <a:ext cx="2857500" cy="10477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process B</a:t>
            </a:r>
          </a:p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(receiver)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38575" y="1143000"/>
            <a:ext cx="4514850" cy="1905000"/>
          </a:xfrm>
          <a:prstGeom prst="roundRect">
            <a:avLst>
              <a:gd name="adj" fmla="val 5000"/>
            </a:avLst>
          </a:prstGeom>
          <a:solidFill>
            <a:srgbClr val="161A1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933825" y="1219200"/>
            <a:ext cx="43243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receiver's region in host memory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24325" y="1571625"/>
            <a:ext cx="3943350" cy="5715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command queue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24325" y="2286000"/>
            <a:ext cx="3943350" cy="5715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SAR bounce buffers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67075" y="1857375"/>
            <a:ext cx="857250" cy="0"/>
          </a:xfrm>
          <a:prstGeom prst="line">
            <a:avLst/>
          </a:prstGeom>
          <a:ln w="3175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067675" y="1857375"/>
            <a:ext cx="857250" cy="0"/>
          </a:xfrm>
          <a:prstGeom prst="line">
            <a:avLst/>
          </a:prstGeom>
          <a:ln w="3175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838575" y="3524250"/>
            <a:ext cx="4514850" cy="1238250"/>
          </a:xfrm>
          <a:prstGeom prst="roundRect">
            <a:avLst>
              <a:gd name="adj" fmla="val 5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33825" y="3600450"/>
            <a:ext cx="43243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sender's region in host memory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24325" y="3952875"/>
            <a:ext cx="3943350" cy="5715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response queue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8067675" y="2476500"/>
            <a:ext cx="1076325" cy="1619250"/>
          </a:xfrm>
          <a:prstGeom prst="line">
            <a:avLst/>
          </a:prstGeom>
          <a:ln w="25400">
            <a:solidFill>
              <a:srgbClr val="96969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 flipV="1">
            <a:off x="3048000" y="2476500"/>
            <a:ext cx="1076325" cy="1619250"/>
          </a:xfrm>
          <a:prstGeom prst="line">
            <a:avLst/>
          </a:prstGeom>
          <a:ln w="25400">
            <a:solidFill>
              <a:srgbClr val="96969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09575" y="2667000"/>
            <a:ext cx="24765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opens the receiver's region</a:t>
            </a:r>
          </a:p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(shm_open + mmap)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9575" y="5143500"/>
            <a:ext cx="113728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Each process creates its own region and maps its peers' regions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CUDA IPC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A send into a GPU buffer: the receiver copies with a handle from the sender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428750"/>
            <a:ext cx="3143250" cy="10477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sender's GPU buffer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39175" y="1428750"/>
            <a:ext cx="3143250" cy="10477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receiver's GPU buffer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05325" y="1047750"/>
            <a:ext cx="3181350" cy="66675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IPC handle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(in a shm command)</a:t>
            </a:r>
          </a:p>
        </p:txBody>
      </p:sp>
      <p:cxnSp>
        <p:nvCxnSpPr>
          <p:cNvPr id="7" name="Connector 6"/>
          <p:cNvCxnSpPr/>
          <p:nvPr/>
        </p:nvCxnSpPr>
        <p:spPr>
          <a:xfrm flipV="1">
            <a:off x="3552825" y="1381125"/>
            <a:ext cx="952500" cy="238125"/>
          </a:xfrm>
          <a:prstGeom prst="line">
            <a:avLst/>
          </a:prstGeom>
          <a:ln w="3175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7686675" y="1381125"/>
            <a:ext cx="952500" cy="238125"/>
          </a:xfrm>
          <a:prstGeom prst="line">
            <a:avLst/>
          </a:prstGeom>
          <a:ln w="3175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552825" y="2238375"/>
            <a:ext cx="5086350" cy="0"/>
          </a:xfrm>
          <a:prstGeom prst="line">
            <a:avLst/>
          </a:prstGeom>
          <a:ln w="44450">
            <a:solidFill>
              <a:srgbClr val="3BD16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05325" y="2333625"/>
            <a:ext cx="31813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1 copy, done by the receiver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9575" y="3238500"/>
            <a:ext cx="11372850" cy="1143000"/>
          </a:xfrm>
          <a:prstGeom prst="roundRect">
            <a:avLst>
              <a:gd name="adj" fmla="val 5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0075" y="3333750"/>
            <a:ext cx="109918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1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precondition on the sender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0075" y="3667125"/>
            <a:ext cx="1099185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cuMemGetAddressRange must find the buffer in the sending thread's</a:t>
            </a:r>
          </a:p>
          <a:p>
            <a:pPr algn="l">
              <a:lnSpc>
                <a:spcPct val="122000"/>
              </a:lnSpc>
            </a:pPr>
            <a:r>
              <a:rPr sz="15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current CUDA context, or no handle can be exported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Segmentation and reassembly through bounce buffers; here, after the IPC handle fails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428750"/>
            <a:ext cx="2571750" cy="10477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sender's GPU buffer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210675" y="1428750"/>
            <a:ext cx="2571750" cy="10477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receiver's GPU buffer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24325" y="1333500"/>
            <a:ext cx="3943350" cy="1238250"/>
          </a:xfrm>
          <a:prstGeom prst="roundRect">
            <a:avLst>
              <a:gd name="adj" fmla="val 5000"/>
            </a:avLst>
          </a:prstGeom>
          <a:solidFill>
            <a:srgbClr val="161A1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19575" y="1390650"/>
            <a:ext cx="37528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receiver's shared memory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0075" y="1762125"/>
            <a:ext cx="723900" cy="5334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32 KiB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86375" y="1762125"/>
            <a:ext cx="723900" cy="5334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32 KiB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62675" y="1762125"/>
            <a:ext cx="723900" cy="5334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32 KiB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38975" y="1762125"/>
            <a:ext cx="723900" cy="5334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32 KiB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981325" y="1952625"/>
            <a:ext cx="1143000" cy="0"/>
          </a:xfrm>
          <a:prstGeom prst="line">
            <a:avLst/>
          </a:prstGeom>
          <a:ln w="3175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067675" y="1952625"/>
            <a:ext cx="1143000" cy="0"/>
          </a:xfrm>
          <a:prstGeom prst="line">
            <a:avLst/>
          </a:prstGeom>
          <a:ln w="3175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2981325" y="2047875"/>
            <a:ext cx="1143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copy 1</a:t>
            </a:r>
          </a:p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(sender)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7675" y="2047875"/>
            <a:ext cx="1143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copy 2</a:t>
            </a:r>
          </a:p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(receiver)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9575" y="3143250"/>
            <a:ext cx="11372850" cy="1238250"/>
          </a:xfrm>
          <a:prstGeom prst="roundRect">
            <a:avLst>
              <a:gd name="adj" fmla="val 5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0075" y="3286125"/>
            <a:ext cx="109918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per piece: sender copies in, receiver copies out, buffer reused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0075" y="3714750"/>
            <a:ext cx="1099185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repeated until the whole message is across</a:t>
            </a:r>
          </a:p>
          <a:p>
            <a:pPr algn="l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(2 copies per piece, versus 1 copy with CUDA IPC)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What was measured, and where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A hardware counter of the EFA device, read through sysfs from a probe Pod on the same node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047750"/>
            <a:ext cx="7810500" cy="4476750"/>
          </a:xfrm>
          <a:prstGeom prst="roundRect">
            <a:avLst>
              <a:gd name="adj" fmla="val 3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52450" y="1104900"/>
            <a:ext cx="38100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one node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0075" y="1428750"/>
            <a:ext cx="3619500" cy="1714500"/>
          </a:xfrm>
          <a:prstGeom prst="roundRect">
            <a:avLst>
              <a:gd name="adj" fmla="val 6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5325" y="1485900"/>
            <a:ext cx="34290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engine Pod (no hostNetwork)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0575" y="1828800"/>
            <a:ext cx="1524000" cy="6096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prefill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TP0  TP1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05075" y="1828800"/>
            <a:ext cx="1524000" cy="6096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decode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TP0  TP1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5325" y="2590800"/>
            <a:ext cx="342900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E65046"/>
                </a:solidFill>
                <a:latin typeface="Amazon Ember"/>
                <a:ea typeface="メイリオ"/>
                <a:cs typeface="メイリオ"/>
              </a:rPr>
              <a:t>hw_counters</a:t>
            </a:r>
          </a:p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E65046"/>
                </a:solidFill>
                <a:latin typeface="Amazon Ember"/>
                <a:ea typeface="メイリオ"/>
                <a:cs typeface="メイリオ"/>
              </a:rPr>
              <a:t>not visible here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0075" y="4286250"/>
            <a:ext cx="3619500" cy="1047750"/>
          </a:xfrm>
          <a:prstGeom prst="roundRect">
            <a:avLst>
              <a:gd name="adj" fmla="val 6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5325" y="4343400"/>
            <a:ext cx="34290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EFA device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5825" y="4705350"/>
            <a:ext cx="3048000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counter rdma_write_bytes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552575" y="2438400"/>
            <a:ext cx="0" cy="1847850"/>
          </a:xfrm>
          <a:prstGeom prst="line">
            <a:avLst/>
          </a:prstGeom>
          <a:ln w="38100">
            <a:solidFill>
              <a:srgbClr val="2896F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3267075" y="2438400"/>
            <a:ext cx="0" cy="1847850"/>
          </a:xfrm>
          <a:prstGeom prst="line">
            <a:avLst/>
          </a:prstGeom>
          <a:ln w="38100">
            <a:solidFill>
              <a:srgbClr val="2896F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600200" y="3238500"/>
            <a:ext cx="16192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2896F0"/>
                </a:solidFill>
                <a:latin typeface="Amazon Ember"/>
                <a:ea typeface="メイリオ"/>
                <a:cs typeface="メイリオ"/>
              </a:rPr>
              <a:t>KV as RDMA</a:t>
            </a:r>
          </a:p>
          <a:p>
            <a:pPr algn="l">
              <a:lnSpc>
                <a:spcPct val="122000"/>
              </a:lnSpc>
            </a:pPr>
            <a:r>
              <a:rPr sz="1300" b="0">
                <a:solidFill>
                  <a:srgbClr val="2896F0"/>
                </a:solidFill>
                <a:latin typeface="Amazon Ember"/>
                <a:ea typeface="メイリオ"/>
                <a:cs typeface="メイリオ"/>
              </a:rPr>
              <a:t>writes (shm off)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00575" y="4476750"/>
            <a:ext cx="3429000" cy="8572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kernel: efa driver registers hw_stats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RDMA core exposes hw_counters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219575" y="4905375"/>
            <a:ext cx="381000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4600575" y="3238500"/>
            <a:ext cx="3429000" cy="85725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sysfs file</a:t>
            </a:r>
          </a:p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.../ports/1/hw_counters/rdma_write_bytes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6315075" y="4095750"/>
            <a:ext cx="0" cy="3810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600575" y="1428750"/>
            <a:ext cx="3429000" cy="1428750"/>
          </a:xfrm>
          <a:prstGeom prst="roundRect">
            <a:avLst>
              <a:gd name="adj" fmla="val 6000"/>
            </a:avLst>
          </a:prstGeom>
          <a:solidFill>
            <a:srgbClr val="161A1E"/>
          </a:solidFill>
          <a:ln w="15875">
            <a:solidFill>
              <a:srgbClr val="F5F5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95825" y="1504950"/>
            <a:ext cx="32385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probe Pod (hostNetwork)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95825" y="1828800"/>
            <a:ext cx="3238500" cy="876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same node</a:t>
            </a:r>
          </a:p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reads every counter</a:t>
            </a:r>
          </a:p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before and after the run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6315075" y="2857500"/>
            <a:ext cx="0" cy="3810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8505825" y="1047750"/>
            <a:ext cx="3276600" cy="4476750"/>
          </a:xfrm>
          <a:prstGeom prst="roundRect">
            <a:avLst>
              <a:gd name="adj" fmla="val 3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01075" y="1123950"/>
            <a:ext cx="30861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rdma_write_bytes, 17 requests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96325" y="1524000"/>
            <a:ext cx="2895600" cy="857250"/>
          </a:xfrm>
          <a:prstGeom prst="roundRect">
            <a:avLst>
              <a:gd name="adj" fmla="val 6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91575" y="1581150"/>
            <a:ext cx="27051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shm on (default)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91575" y="1866900"/>
            <a:ext cx="27051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measured: 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96325" y="2571750"/>
            <a:ext cx="2895600" cy="2095500"/>
          </a:xfrm>
          <a:prstGeom prst="roundRect">
            <a:avLst>
              <a:gd name="adj" fmla="val 6000"/>
            </a:avLst>
          </a:prstGeom>
          <a:solidFill>
            <a:srgbClr val="343840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91575" y="2628900"/>
            <a:ext cx="27051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shm off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91575" y="2914650"/>
            <a:ext cx="27051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measured</a:t>
            </a:r>
          </a:p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8,663,389,312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91575" y="3486150"/>
            <a:ext cx="27051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computed KV volume</a:t>
            </a:r>
          </a:p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8,663,334,912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91575" y="4095750"/>
            <a:ext cx="27051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ratio 1.0000063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01075" y="4762500"/>
            <a:ext cx="30861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computed: 31,104 B/token</a:t>
            </a:r>
          </a:p>
          <a:p>
            <a:pPr algn="ctr">
              <a:lnSpc>
                <a:spcPct val="122000"/>
              </a:lnSpc>
            </a:pPr>
            <a:r>
              <a:rPr sz="13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x 8,192 tokens x 2 ranks x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WS Confidential Dark">
  <a:themeElements>
    <a:clrScheme name="AWS 2024">
      <a:dk1>
        <a:srgbClr val="000000"/>
      </a:dk1>
      <a:lt1>
        <a:srgbClr val="FFFFFF"/>
      </a:lt1>
      <a:dk2>
        <a:srgbClr val="161D26"/>
      </a:dk2>
      <a:lt2>
        <a:srgbClr val="F3F3F7"/>
      </a:lt2>
      <a:accent1>
        <a:srgbClr val="41B3FF"/>
      </a:accent1>
      <a:accent2>
        <a:srgbClr val="AD5CFF"/>
      </a:accent2>
      <a:accent3>
        <a:srgbClr val="00E500"/>
      </a:accent3>
      <a:accent4>
        <a:srgbClr val="FF5C85"/>
      </a:accent4>
      <a:accent5>
        <a:srgbClr val="FF693C"/>
      </a:accent5>
      <a:accent6>
        <a:srgbClr val="FBD332"/>
      </a:accent6>
      <a:hlink>
        <a:srgbClr val="41B1E8"/>
      </a:hlink>
      <a:folHlink>
        <a:srgbClr val="41B1E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>
            <a:lumMod val="75000"/>
          </a:schemeClr>
        </a:solidFill>
        <a:ln>
          <a:noFill/>
        </a:ln>
      </a:spPr>
      <a:bodyPr rtlCol="0" anchor="ctr"/>
      <a:lstStyle>
        <a:defPPr algn="ctr">
          <a:defRPr kumimoji="1" smtClean="0">
            <a:latin typeface="Amazon Ember Display" panose="020F0603020204020204" pitchFamily="34" charset="0"/>
            <a:ea typeface="メイリオ" panose="020B0604030504040204" pitchFamily="34" charset="-128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 algn="l">
          <a:defRPr kumimoji="1" smtClean="0">
            <a:latin typeface="Amazon Ember Display" panose="020F0603020204020204" pitchFamily="34" charset="0"/>
            <a:ea typeface="メイリオ" panose="020B0604030504040204" pitchFamily="34" charset="-128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ne Brand 2022 Dark">
      <a:dk1>
        <a:srgbClr val="000000"/>
      </a:dk1>
      <a:lt1>
        <a:sysClr val="window" lastClr="FFFFFF"/>
      </a:lt1>
      <a:dk2>
        <a:srgbClr val="232F3E"/>
      </a:dk2>
      <a:lt2>
        <a:srgbClr val="F1F3F3"/>
      </a:lt2>
      <a:accent1>
        <a:srgbClr val="FF8500"/>
      </a:accent1>
      <a:accent2>
        <a:srgbClr val="7C59ED"/>
      </a:accent2>
      <a:accent3>
        <a:srgbClr val="38EF7D"/>
      </a:accent3>
      <a:accent4>
        <a:srgbClr val="F46DBA"/>
      </a:accent4>
      <a:accent5>
        <a:srgbClr val="9FFCEA"/>
      </a:accent5>
      <a:accent6>
        <a:srgbClr val="FBD8BF"/>
      </a:accent6>
      <a:hlink>
        <a:srgbClr val="41B1E8"/>
      </a:hlink>
      <a:folHlink>
        <a:srgbClr val="41B1E8"/>
      </a:folHlink>
    </a:clrScheme>
    <a:fontScheme name="Ember Heavy and Normal">
      <a:majorFont>
        <a:latin typeface="Amazon Ember Heavy"/>
        <a:ea typeface=""/>
        <a:cs typeface=""/>
      </a:majorFont>
      <a:minorFont>
        <a:latin typeface="Amazon Emb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ne Brand 2022 Dark">
      <a:dk1>
        <a:srgbClr val="000000"/>
      </a:dk1>
      <a:lt1>
        <a:sysClr val="window" lastClr="FFFFFF"/>
      </a:lt1>
      <a:dk2>
        <a:srgbClr val="232F3E"/>
      </a:dk2>
      <a:lt2>
        <a:srgbClr val="F1F3F3"/>
      </a:lt2>
      <a:accent1>
        <a:srgbClr val="FF8500"/>
      </a:accent1>
      <a:accent2>
        <a:srgbClr val="7C59ED"/>
      </a:accent2>
      <a:accent3>
        <a:srgbClr val="38EF7D"/>
      </a:accent3>
      <a:accent4>
        <a:srgbClr val="F46DBA"/>
      </a:accent4>
      <a:accent5>
        <a:srgbClr val="9FFCEA"/>
      </a:accent5>
      <a:accent6>
        <a:srgbClr val="FBD8BF"/>
      </a:accent6>
      <a:hlink>
        <a:srgbClr val="41B1E8"/>
      </a:hlink>
      <a:folHlink>
        <a:srgbClr val="41B1E8"/>
      </a:folHlink>
    </a:clrScheme>
    <a:fontScheme name="Ember Heavy and Normal">
      <a:majorFont>
        <a:latin typeface="Amazon Ember Heavy"/>
        <a:ea typeface=""/>
        <a:cs typeface=""/>
      </a:majorFont>
      <a:minorFont>
        <a:latin typeface="Amazon Emb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31027CB-BA99-4849-AD2B-D501A617C772}">
  <we:reference id="wa200001625" version="1.0.0.8" store="en-US" storeType="OMEX"/>
  <we:alternateReferences>
    <we:reference id="wa200001625" version="1.0.0.8" store="wa200001625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103425</TotalTime>
  <Words>1507</Words>
  <Application>Microsoft Macintosh PowerPoint</Application>
  <PresentationFormat>Widescreen</PresentationFormat>
  <Paragraphs>93</Paragraphs>
  <Slides>11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Meiryo</vt:lpstr>
      <vt:lpstr>システムフォント（レギュラー）</vt:lpstr>
      <vt:lpstr>Amazon Ember</vt:lpstr>
      <vt:lpstr>Amazon Ember Display</vt:lpstr>
      <vt:lpstr>Amazon Ember Mono</vt:lpstr>
      <vt:lpstr>Arial</vt:lpstr>
      <vt:lpstr>AWS Confidential Dark</vt:lpstr>
      <vt:lpstr>PFN 様向けの取り組み状況</vt:lpstr>
      <vt:lpstr>PowerPoint Presentation</vt:lpstr>
      <vt:lpstr>PowerPoint Presentation</vt:lpstr>
      <vt:lpstr>PLaMo3 on Trainium</vt:lpstr>
      <vt:lpstr>PowerPoint Presentation</vt:lpstr>
      <vt:lpstr>PowerPoint Presentation</vt:lpstr>
      <vt:lpstr>Native PyTorch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This template includes</dc:title>
  <dc:creator>Microsoft Office User</dc:creator>
  <cp:lastModifiedBy>Akazawa, Toshinobu</cp:lastModifiedBy>
  <cp:revision>1088</cp:revision>
  <cp:lastPrinted>2026-06-30T17:34:27Z</cp:lastPrinted>
  <dcterms:created xsi:type="dcterms:W3CDTF">2022-07-18T16:28:56Z</dcterms:created>
  <dcterms:modified xsi:type="dcterms:W3CDTF">2026-06-30T17:42:46Z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e68092-05df-4271-8e3e-b2a4c82ba797_Enabled">
    <vt:lpwstr>true</vt:lpwstr>
  </property>
  <property fmtid="{D5CDD505-2E9C-101B-9397-08002B2CF9AE}" pid="3" name="MSIP_Label_19e68092-05df-4271-8e3e-b2a4c82ba797_SetDate">
    <vt:lpwstr>2025-07-23T09:55:06Z</vt:lpwstr>
  </property>
  <property fmtid="{D5CDD505-2E9C-101B-9397-08002B2CF9AE}" pid="4" name="MSIP_Label_19e68092-05df-4271-8e3e-b2a4c82ba797_Method">
    <vt:lpwstr>Standard</vt:lpwstr>
  </property>
  <property fmtid="{D5CDD505-2E9C-101B-9397-08002B2CF9AE}" pid="5" name="MSIP_Label_19e68092-05df-4271-8e3e-b2a4c82ba797_Name">
    <vt:lpwstr>Amazon Confidential</vt:lpwstr>
  </property>
  <property fmtid="{D5CDD505-2E9C-101B-9397-08002B2CF9AE}" pid="6" name="MSIP_Label_19e68092-05df-4271-8e3e-b2a4c82ba797_SiteId">
    <vt:lpwstr>5280104a-472d-4538-9ccf-1e1d0efe8b1b</vt:lpwstr>
  </property>
  <property fmtid="{D5CDD505-2E9C-101B-9397-08002B2CF9AE}" pid="7" name="MSIP_Label_19e68092-05df-4271-8e3e-b2a4c82ba797_ActionId">
    <vt:lpwstr>72dc440f-c268-47a9-b913-f18389bbf79d</vt:lpwstr>
  </property>
  <property fmtid="{D5CDD505-2E9C-101B-9397-08002B2CF9AE}" pid="8" name="MSIP_Label_19e68092-05df-4271-8e3e-b2a4c82ba797_ContentBits">
    <vt:lpwstr>0</vt:lpwstr>
  </property>
  <property fmtid="{D5CDD505-2E9C-101B-9397-08002B2CF9AE}" pid="9" name="MSIP_Label_19e68092-05df-4271-8e3e-b2a4c82ba797_Tag">
    <vt:lpwstr>50, 3, 0, 1</vt:lpwstr>
  </property>
</Properties>
</file>