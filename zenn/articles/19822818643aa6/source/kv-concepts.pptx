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32" r:id="rId1"/>
  </p:sldMasterIdLst>
  <p:notesMasterIdLst>
    <p:notesMasterId r:id="rId13"/>
  </p:notesMasterIdLst>
  <p:handoutMasterIdLst>
    <p:handoutMasterId r:id="rId14"/>
  </p:handoutMasterIdLst>
  <p:sldIdLst>
    <p:sldId id="256" r:id="rId9"/>
    <p:sldId id="257" r:id="rId10"/>
    <p:sldId id="258" r:id="rId11"/>
    <p:sldId id="259" r:id="rId12"/>
    <p:sldId id="260" r:id="rId8"/>
    <p:sldId id="261" r:id="rId7"/>
    <p:sldId id="262" r:id="rId6"/>
    <p:sldId id="263" r:id="rId5"/>
    <p:sldId id="264" r:id="rId4"/>
    <p:sldId id="265" r:id="rId3"/>
    <p:sldId id="266" r:id="rId2"/>
    <p:sldId id="267" r:id="rId20"/>
    <p:sldId id="26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15E724-AFC9-A4C0-CAB9-D6EC0C560360}" name="Khan, Kamran" initials="KK" userId="S::kjkhan@amazon.com::8c16a378-efd2-4586-a4a5-f0725abc41b4" providerId="AD"/>
  <p188:author id="{485EC9B9-D043-2072-5CDA-0E18DA86FA5A}" name="Lakhotia, Esha" initials="LE" userId="S::elakhoti@amazon.com::458df9ec-1ecb-4c08-9ab9-581bf4e2578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E8F4"/>
    <a:srgbClr val="7F1EE7"/>
    <a:srgbClr val="000000"/>
    <a:srgbClr val="1D262F"/>
    <a:srgbClr val="1A0033"/>
    <a:srgbClr val="FFFFFF"/>
    <a:srgbClr val="FCFCFD"/>
    <a:srgbClr val="0000A3"/>
    <a:srgbClr val="B81EE7"/>
    <a:srgbClr val="540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77" autoAdjust="0"/>
    <p:restoredTop sz="79852" autoAdjust="0"/>
  </p:normalViewPr>
  <p:slideViewPr>
    <p:cSldViewPr snapToGrid="0">
      <p:cViewPr varScale="1">
        <p:scale>
          <a:sx n="132" d="100"/>
          <a:sy n="132" d="100"/>
        </p:scale>
        <p:origin x="1152" y="176"/>
      </p:cViewPr>
      <p:guideLst>
        <p:guide orient="horz" pos="1296"/>
        <p:guide pos="3840"/>
      </p:guideLst>
    </p:cSldViewPr>
  </p:slideViewPr>
  <p:outlineViewPr>
    <p:cViewPr>
      <p:scale>
        <a:sx n="33" d="100"/>
        <a:sy n="33" d="100"/>
      </p:scale>
      <p:origin x="0" y="-4488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09" d="100"/>
          <a:sy n="109" d="100"/>
        </p:scale>
        <p:origin x="4040" y="1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8/10/relationships/authors" Target="authors.xml"/><Relationship Id="rId20" Type="http://schemas.openxmlformats.org/officeDocument/2006/relationships/slide" Target="slides/slide12.xml"/><Relationship Id="rId21"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latin typeface="Amazon Ember Display" panose="020F0603020204020204" pitchFamily="34" charset="0"/>
              </a:rPr>
              <a:pPr algn="ctr"/>
              <a:t>‹#›</a:t>
            </a:fld>
            <a:endParaRPr lang="en-US" sz="1000" dirty="0">
              <a:latin typeface="Amazon Ember Display" panose="020F0603020204020204" pitchFamily="34" charset="0"/>
            </a:endParaRPr>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b="0" i="0">
                <a:latin typeface="Amazon Ember Display" panose="020F0603020204020204" pitchFamily="34" charset="0"/>
              </a:defRPr>
            </a:lvl1pPr>
          </a:lstStyle>
          <a:p>
            <a:fld id="{A3D89E5F-BEEF-42A1-A57B-E5A736D51194}" type="slidenum">
              <a:rPr lang="en-US" smtClean="0"/>
              <a:pPr/>
              <a:t>‹#›</a:t>
            </a:fld>
            <a:endParaRPr lang="en-US" dirty="0"/>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b="0" i="0" kern="1200">
        <a:solidFill>
          <a:schemeClr val="tx1"/>
        </a:solidFill>
        <a:latin typeface="Amazon Ember Display" panose="020F0603020204020204" pitchFamily="34" charset="0"/>
        <a:ea typeface="+mn-ea"/>
        <a:cs typeface="+mn-cs"/>
      </a:defRPr>
    </a:lvl1pPr>
    <a:lvl2pPr marL="225425" indent="-1063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2pPr>
    <a:lvl3pPr marL="463550"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3pPr>
    <a:lvl4pPr marL="747713"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4pPr>
    <a:lvl5pPr marL="973138" indent="-117475"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a:prstGeom prst="rect">
            <a:avLst/>
          </a:prstGeo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Tree>
    <p:extLst>
      <p:ext uri="{BB962C8B-B14F-4D97-AF65-F5344CB8AC3E}">
        <p14:creationId xmlns:p14="http://schemas.microsoft.com/office/powerpoint/2010/main" val="311644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377715"/>
            <a:ext cx="11247438" cy="3549690"/>
          </a:xfrm>
          <a:prstGeom prst="rect">
            <a:avLst/>
          </a:prstGeom>
        </p:spPr>
        <p:txBody>
          <a:bodyPr/>
          <a:lstStyle>
            <a:lvl1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vl2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2pPr>
            <a:lvl3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3pPr>
            <a:lvl4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4pPr>
            <a:lvl5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タイトル 5">
            <a:extLst>
              <a:ext uri="{FF2B5EF4-FFF2-40B4-BE49-F238E27FC236}">
                <a16:creationId xmlns:a16="http://schemas.microsoft.com/office/drawing/2014/main" id="{64188B27-D1F7-5699-25C7-360C2A3C7433}"/>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29358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71E41DC-3AB2-33CA-0E29-26E2B01642FD}"/>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02146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Gradient 2">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9C0C633D-6533-7A81-CB54-487A1ECE781B}"/>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58284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407987" y="908050"/>
            <a:ext cx="11449049" cy="369332"/>
          </a:xfrm>
          <a:prstGeom prst="rect">
            <a:avLst/>
          </a:prstGeom>
        </p:spPr>
        <p:txBody>
          <a:bodyPr/>
          <a:lstStyle>
            <a:lvl1pPr marL="0" indent="0">
              <a:buNone/>
              <a:defRPr sz="1800" b="0" i="0" cap="none" spc="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Enter subtitle</a:t>
            </a:r>
          </a:p>
        </p:txBody>
      </p:sp>
      <p:sp>
        <p:nvSpPr>
          <p:cNvPr id="7" name="タイトル 6">
            <a:extLst>
              <a:ext uri="{FF2B5EF4-FFF2-40B4-BE49-F238E27FC236}">
                <a16:creationId xmlns:a16="http://schemas.microsoft.com/office/drawing/2014/main" id="{ADA10BAA-117E-4979-BFDE-E8E27E25E879}"/>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92250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298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C31057A0-1AB3-C59E-241E-58D9A94D4DFF}"/>
              </a:ext>
            </a:extLst>
          </p:cNvPr>
          <p:cNvSpPr>
            <a:spLocks noGrp="1"/>
          </p:cNvSpPr>
          <p:nvPr>
            <p:ph type="title"/>
          </p:nvPr>
        </p:nvSpPr>
        <p:spPr/>
        <p:txBody>
          <a:bodyPr/>
          <a:lstStyle/>
          <a:p>
            <a:r>
              <a:rPr kumimoji="1" lang="ja-JP" altLang="en-US"/>
              <a:t>マスター タイトルの書式設定</a:t>
            </a:r>
          </a:p>
        </p:txBody>
      </p:sp>
      <p:sp>
        <p:nvSpPr>
          <p:cNvPr id="12" name="Text Placeholder 2">
            <a:extLst>
              <a:ext uri="{FF2B5EF4-FFF2-40B4-BE49-F238E27FC236}">
                <a16:creationId xmlns:a16="http://schemas.microsoft.com/office/drawing/2014/main" id="{19982E9C-19F2-6D70-0138-2D7C09EA29A5}"/>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0861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Bullete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86EE66B-2848-D944-6D93-4D6603CDCBE1}"/>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タイトル 7">
            <a:extLst>
              <a:ext uri="{FF2B5EF4-FFF2-40B4-BE49-F238E27FC236}">
                <a16:creationId xmlns:a16="http://schemas.microsoft.com/office/drawing/2014/main" id="{EC2E6AE7-4E53-3437-B370-670CC07AFEA1}"/>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57881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Tree>
    <p:extLst>
      <p:ext uri="{BB962C8B-B14F-4D97-AF65-F5344CB8AC3E}">
        <p14:creationId xmlns:p14="http://schemas.microsoft.com/office/powerpoint/2010/main" val="349012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spTree>
    <p:extLst>
      <p:ext uri="{BB962C8B-B14F-4D97-AF65-F5344CB8AC3E}">
        <p14:creationId xmlns:p14="http://schemas.microsoft.com/office/powerpoint/2010/main" val="15804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Title Placeholder 19">
            <a:extLst>
              <a:ext uri="{FF2B5EF4-FFF2-40B4-BE49-F238E27FC236}">
                <a16:creationId xmlns:a16="http://schemas.microsoft.com/office/drawing/2014/main" id="{6BA9B5C3-6371-84F6-B7DD-E715A774767A}"/>
              </a:ext>
            </a:extLst>
          </p:cNvPr>
          <p:cNvSpPr>
            <a:spLocks noGrp="1"/>
          </p:cNvSpPr>
          <p:nvPr>
            <p:ph type="title"/>
          </p:nvPr>
        </p:nvSpPr>
        <p:spPr>
          <a:xfrm>
            <a:off x="407988" y="301169"/>
            <a:ext cx="11449050" cy="60688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87F0757-0A35-2523-9D3C-4010D62C72C6}"/>
              </a:ext>
            </a:extLst>
          </p:cNvPr>
          <p:cNvSpPr>
            <a:spLocks noGrp="1"/>
          </p:cNvSpPr>
          <p:nvPr>
            <p:ph type="body" idx="1"/>
          </p:nvPr>
        </p:nvSpPr>
        <p:spPr>
          <a:xfrm>
            <a:off x="407987" y="1376363"/>
            <a:ext cx="11449049"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748558"/>
      </p:ext>
    </p:extLst>
  </p:cSld>
  <p:clrMap bg1="dk1" tx1="lt1" bg2="dk2" tx2="lt2" accent1="accent1" accent2="accent2" accent3="accent3" accent4="accent4" accent5="accent5" accent6="accent6" hlink="hlink" folHlink="folHlink"/>
  <p:sldLayoutIdLst>
    <p:sldLayoutId id="2147483733" r:id="rId1"/>
    <p:sldLayoutId id="2147483739" r:id="rId2"/>
    <p:sldLayoutId id="2147483742" r:id="rId3"/>
    <p:sldLayoutId id="2147483744" r:id="rId4"/>
    <p:sldLayoutId id="2147483746" r:id="rId5"/>
    <p:sldLayoutId id="2147483747" r:id="rId6"/>
    <p:sldLayoutId id="2147483748" r:id="rId7"/>
    <p:sldLayoutId id="2147483749" r:id="rId8"/>
    <p:sldLayoutId id="2147483772" r:id="rId9"/>
    <p:sldLayoutId id="2147483780" r:id="rId10"/>
  </p:sldLayoutIdLst>
  <p:hf hdr="0" ftr="0" dt="0"/>
  <p:txStyles>
    <p:titleStyle>
      <a:lvl1pPr algn="l" defTabSz="914400" rtl="0" eaLnBrk="1" latinLnBrk="0" hangingPunct="1">
        <a:lnSpc>
          <a:spcPct val="90000"/>
        </a:lnSpc>
        <a:spcBef>
          <a:spcPct val="0"/>
        </a:spcBef>
        <a:buNone/>
        <a:defRPr sz="4000" b="1"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p:titleStyle>
    <p:bodyStyle>
      <a:lvl1pPr marL="349200" indent="-349200" algn="l" defTabSz="914400" rtl="0" eaLnBrk="1" latinLnBrk="0" hangingPunct="1">
        <a:lnSpc>
          <a:spcPct val="100000"/>
        </a:lnSpc>
        <a:spcBef>
          <a:spcPts val="0"/>
        </a:spcBef>
        <a:spcAft>
          <a:spcPts val="600"/>
        </a:spcAft>
        <a:buFont typeface="Arial" panose="020B0604020202020204" pitchFamily="34" charset="0"/>
        <a:buChar char="•"/>
        <a:defRPr sz="24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630000" indent="-349200" algn="l" defTabSz="914400" rtl="0" eaLnBrk="1" latinLnBrk="0" hangingPunct="1">
        <a:lnSpc>
          <a:spcPct val="100000"/>
        </a:lnSpc>
        <a:spcBef>
          <a:spcPts val="0"/>
        </a:spcBef>
        <a:spcAft>
          <a:spcPts val="600"/>
        </a:spcAft>
        <a:buFont typeface="システムフォント（レギュラー）"/>
        <a:buChar char="-"/>
        <a:defRPr sz="24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2pPr>
      <a:lvl3pPr marL="972000" indent="-349200" algn="l" defTabSz="914400" rtl="0" eaLnBrk="1" latinLnBrk="0" hangingPunct="1">
        <a:lnSpc>
          <a:spcPct val="100000"/>
        </a:lnSpc>
        <a:spcBef>
          <a:spcPts val="0"/>
        </a:spcBef>
        <a:spcAft>
          <a:spcPts val="600"/>
        </a:spcAft>
        <a:buFont typeface="システムフォント（レギュラー）"/>
        <a:buChar char="&gt;"/>
        <a:defRPr sz="20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3pPr>
      <a:lvl4pPr marL="1144800" indent="-349200" algn="l" defTabSz="914400" rtl="0" eaLnBrk="1" latinLnBrk="0" hangingPunct="1">
        <a:lnSpc>
          <a:spcPct val="100000"/>
        </a:lnSpc>
        <a:spcBef>
          <a:spcPts val="0"/>
        </a:spcBef>
        <a:spcAft>
          <a:spcPts val="600"/>
        </a:spcAft>
        <a:buFont typeface="Arial" panose="020B0604020202020204" pitchFamily="34" charset="0"/>
        <a:buChar char="•"/>
        <a:defRPr sz="18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4pPr>
      <a:lvl5pPr marL="1317600" indent="-349200" algn="l" defTabSz="914400" rtl="0" eaLnBrk="1" latinLnBrk="0" hangingPunct="1">
        <a:lnSpc>
          <a:spcPct val="100000"/>
        </a:lnSpc>
        <a:spcBef>
          <a:spcPts val="0"/>
        </a:spcBef>
        <a:spcAft>
          <a:spcPts val="600"/>
        </a:spcAft>
        <a:buFont typeface="Arial" panose="020B0604020202020204" pitchFamily="34" charset="0"/>
        <a:buChar char="•"/>
        <a:defRPr sz="18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userDrawn="1">
          <p15:clr>
            <a:srgbClr val="F26B43"/>
          </p15:clr>
        </p15:guide>
        <p15:guide id="3" pos="257" userDrawn="1">
          <p15:clr>
            <a:srgbClr val="F26B43"/>
          </p15:clr>
        </p15:guide>
        <p15:guide id="4" pos="7469" userDrawn="1">
          <p15:clr>
            <a:srgbClr val="F26B43"/>
          </p15:clr>
        </p15:guide>
        <p15:guide id="5" orient="horz" pos="187" userDrawn="1">
          <p15:clr>
            <a:srgbClr val="F26B43"/>
          </p15:clr>
        </p15:guide>
        <p15:guide id="6" orient="horz" pos="572" userDrawn="1">
          <p15:clr>
            <a:srgbClr val="F26B43"/>
          </p15:clr>
        </p15:guide>
        <p15:guide id="7" orient="horz" pos="8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What the KV cache is</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Prefill builds it once from the prompt; decode reads it and appends one token at a time</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428750"/>
            <a:ext cx="2857500" cy="66675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Prompt tokens</a:t>
            </a:r>
          </a:p>
        </p:txBody>
      </p:sp>
      <p:cxnSp>
        <p:nvCxnSpPr>
          <p:cNvPr id="11" name="Connector 10"/>
          <p:cNvCxnSpPr/>
          <p:nvPr/>
        </p:nvCxnSpPr>
        <p:spPr>
          <a:xfrm>
            <a:off x="3267075" y="1762125"/>
            <a:ext cx="733425" cy="0"/>
          </a:xfrm>
          <a:prstGeom prst="line">
            <a:avLst/>
          </a:prstGeom>
          <a:ln w="25400">
            <a:solidFill>
              <a:srgbClr val="96969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00500" y="1428750"/>
            <a:ext cx="3619500" cy="66675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Prefill: attention over</a:t>
            </a:r>
          </a:p>
          <a:p>
            <a:pPr algn="ctr">
              <a:lnSpc>
                <a:spcPct val="122000"/>
              </a:lnSpc>
            </a:pPr>
            <a:r>
              <a:rPr sz="1400" b="1">
                <a:solidFill>
                  <a:srgbClr val="F5F5F8"/>
                </a:solidFill>
                <a:latin typeface="Amazon Ember"/>
                <a:ea typeface="メイリオ"/>
                <a:cs typeface="メイリオ"/>
              </a:rPr>
              <a:t>the whole prompt, once</a:t>
            </a:r>
          </a:p>
        </p:txBody>
      </p:sp>
      <p:cxnSp>
        <p:nvCxnSpPr>
          <p:cNvPr id="13" name="Connector 12"/>
          <p:cNvCxnSpPr/>
          <p:nvPr/>
        </p:nvCxnSpPr>
        <p:spPr>
          <a:xfrm>
            <a:off x="7620000" y="1762125"/>
            <a:ext cx="733425" cy="0"/>
          </a:xfrm>
          <a:prstGeom prst="line">
            <a:avLst/>
          </a:prstGeom>
          <a:ln w="25400">
            <a:solidFill>
              <a:srgbClr val="96969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53425" y="1428750"/>
            <a:ext cx="3429000" cy="66675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KV cache</a:t>
            </a:r>
          </a:p>
          <a:p>
            <a:pPr algn="ctr">
              <a:lnSpc>
                <a:spcPct val="122000"/>
              </a:lnSpc>
            </a:pPr>
            <a:r>
              <a:rPr sz="1400" b="1">
                <a:solidFill>
                  <a:srgbClr val="F5F5F8"/>
                </a:solidFill>
                <a:latin typeface="Amazon Ember"/>
                <a:ea typeface="メイリオ"/>
                <a:cs typeface="メイリオ"/>
              </a:rPr>
              <a:t>(one slot per layer, per token)</a:t>
            </a:r>
          </a:p>
        </p:txBody>
      </p:sp>
      <p:cxnSp>
        <p:nvCxnSpPr>
          <p:cNvPr id="15" name="Connector 14"/>
          <p:cNvCxnSpPr/>
          <p:nvPr/>
        </p:nvCxnSpPr>
        <p:spPr>
          <a:xfrm>
            <a:off x="10067925" y="2095500"/>
            <a:ext cx="0" cy="571500"/>
          </a:xfrm>
          <a:prstGeom prst="line">
            <a:avLst/>
          </a:prstGeom>
          <a:ln w="31750">
            <a:solidFill>
              <a:srgbClr val="3BD16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353425" y="2667000"/>
            <a:ext cx="3429000" cy="85725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Decode: read the whole KV cache</a:t>
            </a:r>
          </a:p>
          <a:p>
            <a:pPr algn="ctr">
              <a:lnSpc>
                <a:spcPct val="122000"/>
              </a:lnSpc>
            </a:pPr>
            <a:r>
              <a:rPr sz="1300" b="1">
                <a:solidFill>
                  <a:srgbClr val="F5F5F8"/>
                </a:solidFill>
                <a:latin typeface="Amazon Ember"/>
                <a:ea typeface="メイリオ"/>
                <a:cs typeface="メイリオ"/>
              </a:rPr>
              <a:t>+ 1 new token -&gt; next token,</a:t>
            </a:r>
          </a:p>
          <a:p>
            <a:pPr algn="ctr">
              <a:lnSpc>
                <a:spcPct val="122000"/>
              </a:lnSpc>
            </a:pPr>
            <a:r>
              <a:rPr sz="1300" b="1">
                <a:solidFill>
                  <a:srgbClr val="F5F5F8"/>
                </a:solidFill>
                <a:latin typeface="Amazon Ember"/>
                <a:ea typeface="メイリオ"/>
                <a:cs typeface="メイリオ"/>
              </a:rPr>
              <a:t>then append it to the cache</a:t>
            </a:r>
          </a:p>
        </p:txBody>
      </p:sp>
      <p:cxnSp>
        <p:nvCxnSpPr>
          <p:cNvPr id="17" name="Connector 16"/>
          <p:cNvCxnSpPr/>
          <p:nvPr/>
        </p:nvCxnSpPr>
        <p:spPr>
          <a:xfrm flipV="1">
            <a:off x="8353425" y="2190750"/>
            <a:ext cx="2409825" cy="1143000"/>
          </a:xfrm>
          <a:prstGeom prst="line">
            <a:avLst/>
          </a:prstGeom>
          <a:ln w="25400">
            <a:solidFill>
              <a:srgbClr val="3BD16F"/>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81500" y="3190875"/>
            <a:ext cx="3810000" cy="19050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appended token loops back, once per output token</a:t>
            </a:r>
          </a:p>
        </p:txBody>
      </p:sp>
      <p:sp>
        <p:nvSpPr>
          <p:cNvPr id="19" name="Rounded Rectangle 18"/>
          <p:cNvSpPr/>
          <p:nvPr/>
        </p:nvSpPr>
        <p:spPr>
          <a:xfrm>
            <a:off x="409575" y="4191000"/>
            <a:ext cx="11372850" cy="6667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If prefill and decode are two separate processes, the KV cache has to leave prefill's GPU memory and arrive in decode's -- that handover is what the rest of this article follows.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Two processes, two separate GPU memory spaces</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A pointer that is valid in process A means nothing when read in process B</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428750"/>
            <a:ext cx="5143500" cy="1428750"/>
          </a:xfrm>
          <a:prstGeom prst="roundRect">
            <a:avLst>
              <a:gd name="adj" fmla="val 4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0075" y="1524000"/>
            <a:ext cx="4762500" cy="22860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Process A</a:t>
            </a:r>
          </a:p>
        </p:txBody>
      </p:sp>
      <p:sp>
        <p:nvSpPr>
          <p:cNvPr id="12" name="Rounded Rectangle 11"/>
          <p:cNvSpPr/>
          <p:nvPr/>
        </p:nvSpPr>
        <p:spPr>
          <a:xfrm>
            <a:off x="790575" y="1905000"/>
            <a:ext cx="4381500" cy="666750"/>
          </a:xfrm>
          <a:prstGeom prst="roundRect">
            <a:avLst>
              <a:gd name="adj" fmla="val 10000"/>
            </a:avLst>
          </a:prstGeom>
          <a:solidFill>
            <a:srgbClr val="161A1E"/>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GPU buffer at address 0x7f2a...</a:t>
            </a:r>
          </a:p>
          <a:p>
            <a:pPr algn="ctr">
              <a:lnSpc>
                <a:spcPct val="122000"/>
              </a:lnSpc>
            </a:pPr>
            <a:r>
              <a:rPr sz="1300" b="1">
                <a:solidFill>
                  <a:srgbClr val="F5F5F8"/>
                </a:solidFill>
                <a:latin typeface="Amazon Ember"/>
                <a:ea typeface="メイリオ"/>
                <a:cs typeface="メイリオ"/>
              </a:rPr>
              <a:t>(valid only inside A's own CUDA context)</a:t>
            </a:r>
          </a:p>
        </p:txBody>
      </p:sp>
      <p:sp>
        <p:nvSpPr>
          <p:cNvPr id="13" name="Rounded Rectangle 12"/>
          <p:cNvSpPr/>
          <p:nvPr/>
        </p:nvSpPr>
        <p:spPr>
          <a:xfrm>
            <a:off x="6638925" y="1428750"/>
            <a:ext cx="5143500" cy="1428750"/>
          </a:xfrm>
          <a:prstGeom prst="roundRect">
            <a:avLst>
              <a:gd name="adj" fmla="val 4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29425" y="1524000"/>
            <a:ext cx="4762500" cy="22860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Process B</a:t>
            </a:r>
          </a:p>
        </p:txBody>
      </p:sp>
      <p:sp>
        <p:nvSpPr>
          <p:cNvPr id="15" name="Rounded Rectangle 14"/>
          <p:cNvSpPr/>
          <p:nvPr/>
        </p:nvSpPr>
        <p:spPr>
          <a:xfrm>
            <a:off x="7019925" y="1905000"/>
            <a:ext cx="4381500" cy="66675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Its own, unrelated address space</a:t>
            </a:r>
          </a:p>
          <a:p>
            <a:pPr algn="ctr">
              <a:lnSpc>
                <a:spcPct val="122000"/>
              </a:lnSpc>
            </a:pPr>
            <a:r>
              <a:rPr sz="1300" b="1">
                <a:solidFill>
                  <a:srgbClr val="F5F5F8"/>
                </a:solidFill>
                <a:latin typeface="Amazon Ember"/>
                <a:ea typeface="メイリオ"/>
                <a:cs typeface="メイリオ"/>
              </a:rPr>
              <a:t>(0x7f2a... resolves to something else, or nothing)</a:t>
            </a:r>
          </a:p>
        </p:txBody>
      </p:sp>
      <p:cxnSp>
        <p:nvCxnSpPr>
          <p:cNvPr id="16" name="Connector 15"/>
          <p:cNvCxnSpPr/>
          <p:nvPr/>
        </p:nvCxnSpPr>
        <p:spPr>
          <a:xfrm>
            <a:off x="5553075" y="2238375"/>
            <a:ext cx="1085850" cy="0"/>
          </a:xfrm>
          <a:prstGeom prst="line">
            <a:avLst/>
          </a:prstGeom>
          <a:ln w="25400">
            <a:solidFill>
              <a:srgbClr val="96969E"/>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553075" y="3238500"/>
            <a:ext cx="6191250" cy="381000"/>
          </a:xfrm>
          <a:prstGeom prst="rect">
            <a:avLst/>
          </a:prstGeom>
          <a:noFill/>
        </p:spPr>
        <p:txBody>
          <a:bodyPr wrap="square" lIns="0" rIns="0" tIns="0" bIns="0" anchor="ctr">
            <a:spAutoFit/>
          </a:bodyPr>
          <a:lstStyle/>
          <a:p>
            <a:pPr algn="l">
              <a:lnSpc>
                <a:spcPct val="122000"/>
              </a:lnSpc>
            </a:pPr>
            <a:r>
              <a:rPr sz="1400" b="0">
                <a:solidFill>
                  <a:srgbClr val="96969E"/>
                </a:solidFill>
                <a:latin typeface="Amazon Ember"/>
                <a:ea typeface="メイリオ"/>
                <a:cs typeface="メイリオ"/>
              </a:rPr>
              <a:t>handing B the raw address 0x7f2a... gives it no way to reach A's memory</a:t>
            </a:r>
          </a:p>
        </p:txBody>
      </p:sp>
      <p:sp>
        <p:nvSpPr>
          <p:cNvPr id="18" name="Rounded Rectangle 17"/>
          <p:cNvSpPr/>
          <p:nvPr/>
        </p:nvSpPr>
        <p:spPr>
          <a:xfrm>
            <a:off x="409575" y="4000500"/>
            <a:ext cx="11372850" cy="8572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Each process owns its own CUDA context and its own virtual-to-physical mapping, even on the same physical GPU. This is the same isolation ordinary CPU processes have for host memory, just extended to GPU memory -- it is why handing over a KV cache needs an explicit mechanism, not a bare pointer.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CUDA IPC: hand over a handle, not the data</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Only the receiving process can turn the handle into a pointer it can use</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428750"/>
            <a:ext cx="4762500" cy="57150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F5F5F8"/>
                </a:solidFill>
                <a:latin typeface="Amazon Ember"/>
                <a:ea typeface="メイリオ"/>
                <a:cs typeface="メイリオ"/>
              </a:rPr>
              <a:t>Process A: GPU buffer</a:t>
            </a:r>
          </a:p>
        </p:txBody>
      </p:sp>
      <p:cxnSp>
        <p:nvCxnSpPr>
          <p:cNvPr id="11" name="Connector 10"/>
          <p:cNvCxnSpPr/>
          <p:nvPr/>
        </p:nvCxnSpPr>
        <p:spPr>
          <a:xfrm>
            <a:off x="2790825" y="2000250"/>
            <a:ext cx="0" cy="381000"/>
          </a:xfrm>
          <a:prstGeom prst="line">
            <a:avLst/>
          </a:prstGeom>
          <a:ln w="31750">
            <a:solidFill>
              <a:srgbClr val="2896F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9575" y="2381250"/>
            <a:ext cx="4762500" cy="57150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cuIpcGetMemHandle()</a:t>
            </a:r>
          </a:p>
          <a:p>
            <a:pPr algn="ctr">
              <a:lnSpc>
                <a:spcPct val="122000"/>
              </a:lnSpc>
            </a:pPr>
            <a:r>
              <a:rPr sz="1400" b="1">
                <a:solidFill>
                  <a:srgbClr val="F5F5F8"/>
                </a:solidFill>
                <a:latin typeface="Amazon Ember"/>
                <a:ea typeface="メイリオ"/>
                <a:cs typeface="メイリオ"/>
              </a:rPr>
              <a:t>-&gt; opaque handle (bytes)</a:t>
            </a:r>
          </a:p>
        </p:txBody>
      </p:sp>
      <p:cxnSp>
        <p:nvCxnSpPr>
          <p:cNvPr id="13" name="Connector 12"/>
          <p:cNvCxnSpPr/>
          <p:nvPr/>
        </p:nvCxnSpPr>
        <p:spPr>
          <a:xfrm>
            <a:off x="5172075" y="2667000"/>
            <a:ext cx="1847850" cy="0"/>
          </a:xfrm>
          <a:prstGeom prst="line">
            <a:avLst/>
          </a:prstGeom>
          <a:ln w="31750">
            <a:solidFill>
              <a:srgbClr val="96969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286375" y="2457450"/>
            <a:ext cx="2095500" cy="171450"/>
          </a:xfrm>
          <a:prstGeom prst="rect">
            <a:avLst/>
          </a:prstGeom>
          <a:noFill/>
        </p:spPr>
        <p:txBody>
          <a:bodyPr wrap="square" lIns="0" rIns="0" tIns="0" bIns="0" anchor="ctr">
            <a:spAutoFit/>
          </a:bodyPr>
          <a:lstStyle/>
          <a:p>
            <a:pPr algn="l">
              <a:lnSpc>
                <a:spcPct val="122000"/>
              </a:lnSpc>
            </a:pPr>
            <a:r>
              <a:rPr sz="1200" b="0">
                <a:solidFill>
                  <a:srgbClr val="96969E"/>
                </a:solidFill>
                <a:latin typeface="Amazon Ember"/>
                <a:ea typeface="メイリオ"/>
                <a:cs typeface="メイリオ"/>
              </a:rPr>
              <a:t>sent over any channel</a:t>
            </a:r>
          </a:p>
        </p:txBody>
      </p:sp>
      <p:sp>
        <p:nvSpPr>
          <p:cNvPr id="15" name="Rounded Rectangle 14"/>
          <p:cNvSpPr/>
          <p:nvPr/>
        </p:nvSpPr>
        <p:spPr>
          <a:xfrm>
            <a:off x="7019925" y="2381250"/>
            <a:ext cx="4762500" cy="57150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cuIpcOpenMemHandle()</a:t>
            </a:r>
          </a:p>
          <a:p>
            <a:pPr algn="ctr">
              <a:lnSpc>
                <a:spcPct val="122000"/>
              </a:lnSpc>
            </a:pPr>
            <a:r>
              <a:rPr sz="1400" b="1">
                <a:solidFill>
                  <a:srgbClr val="F5F5F8"/>
                </a:solidFill>
                <a:latin typeface="Amazon Ember"/>
                <a:ea typeface="メイリオ"/>
                <a:cs typeface="メイリオ"/>
              </a:rPr>
              <a:t>-&gt; usable pointer in B's context</a:t>
            </a:r>
          </a:p>
        </p:txBody>
      </p:sp>
      <p:cxnSp>
        <p:nvCxnSpPr>
          <p:cNvPr id="16" name="Connector 15"/>
          <p:cNvCxnSpPr/>
          <p:nvPr/>
        </p:nvCxnSpPr>
        <p:spPr>
          <a:xfrm>
            <a:off x="9401175" y="2952750"/>
            <a:ext cx="0" cy="381000"/>
          </a:xfrm>
          <a:prstGeom prst="line">
            <a:avLst/>
          </a:prstGeom>
          <a:ln w="3175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019925" y="3333750"/>
            <a:ext cx="4762500" cy="57150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whoever holds the open pointer:</a:t>
            </a:r>
          </a:p>
          <a:p>
            <a:pPr algn="ctr">
              <a:lnSpc>
                <a:spcPct val="122000"/>
              </a:lnSpc>
            </a:pPr>
            <a:r>
              <a:rPr sz="1300" b="1">
                <a:solidFill>
                  <a:srgbClr val="F5F5F8"/>
                </a:solidFill>
                <a:latin typeface="Amazon Ember"/>
                <a:ea typeface="メイリオ"/>
                <a:cs typeface="メイリオ"/>
              </a:rPr>
              <a:t>GPU-to-GPU memcpy, a protocol's choice</a:t>
            </a:r>
          </a:p>
        </p:txBody>
      </p:sp>
      <p:sp>
        <p:nvSpPr>
          <p:cNvPr id="18" name="Rounded Rectangle 17"/>
          <p:cNvSpPr/>
          <p:nvPr/>
        </p:nvSpPr>
        <p:spPr>
          <a:xfrm>
            <a:off x="409575" y="3333750"/>
            <a:ext cx="4762500" cy="57150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96969E"/>
                </a:solidFill>
                <a:latin typeface="Amazon Ember"/>
                <a:ea typeface="メイリオ"/>
                <a:cs typeface="メイリオ"/>
              </a:rPr>
              <a:t>A still has not copied</a:t>
            </a:r>
          </a:p>
          <a:p>
            <a:pPr algn="ctr">
              <a:lnSpc>
                <a:spcPct val="122000"/>
              </a:lnSpc>
            </a:pPr>
            <a:r>
              <a:rPr sz="1400" b="1">
                <a:solidFill>
                  <a:srgbClr val="96969E"/>
                </a:solidFill>
                <a:latin typeface="Amazon Ember"/>
                <a:ea typeface="メイリオ"/>
                <a:cs typeface="メイリオ"/>
              </a:rPr>
              <a:t>anything at this point</a:t>
            </a:r>
          </a:p>
        </p:txBody>
      </p:sp>
      <p:sp>
        <p:nvSpPr>
          <p:cNvPr id="19" name="Rounded Rectangle 18"/>
          <p:cNvSpPr/>
          <p:nvPr/>
        </p:nvSpPr>
        <p:spPr>
          <a:xfrm>
            <a:off x="409575" y="4381500"/>
            <a:ext cx="11372850" cy="6667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CUDA IPC itself only answers "how does B get a usable pointer" -- who actually calls memcpy with it is a protocol decision made by whatever is built on top. The investigation later in this article shows which side NIXL's own transport makes do that copy.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A thread must pick a GPU before it can touch it</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cudaSetDevice() tells CUDA which GPU a thread's calls should resolve against</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428750"/>
            <a:ext cx="11372850" cy="66675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F5F5F8"/>
                </a:solidFill>
                <a:latin typeface="Amazon Ember"/>
                <a:ea typeface="メイリオ"/>
                <a:cs typeface="メイリオ"/>
              </a:rPr>
              <a:t>One process, two GPUs (device 0 and device 1)</a:t>
            </a:r>
          </a:p>
        </p:txBody>
      </p:sp>
      <p:sp>
        <p:nvSpPr>
          <p:cNvPr id="11" name="Rounded Rectangle 10"/>
          <p:cNvSpPr/>
          <p:nvPr/>
        </p:nvSpPr>
        <p:spPr>
          <a:xfrm>
            <a:off x="409575" y="2476500"/>
            <a:ext cx="5524500" cy="1619250"/>
          </a:xfrm>
          <a:prstGeom prst="roundRect">
            <a:avLst>
              <a:gd name="adj" fmla="val 4000"/>
            </a:avLst>
          </a:prstGeom>
          <a:solidFill>
            <a:srgbClr val="161A1E"/>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0075" y="2590800"/>
            <a:ext cx="5143500" cy="209550"/>
          </a:xfrm>
          <a:prstGeom prst="rect">
            <a:avLst/>
          </a:prstGeom>
          <a:noFill/>
        </p:spPr>
        <p:txBody>
          <a:bodyPr wrap="square" lIns="0" rIns="0" tIns="0" bIns="0" anchor="ctr">
            <a:spAutoFit/>
          </a:bodyPr>
          <a:lstStyle/>
          <a:p>
            <a:pPr algn="l">
              <a:lnSpc>
                <a:spcPct val="122000"/>
              </a:lnSpc>
            </a:pPr>
            <a:r>
              <a:rPr sz="1400" b="1">
                <a:solidFill>
                  <a:srgbClr val="F5F5F8"/>
                </a:solidFill>
                <a:latin typeface="Amazon Ember"/>
                <a:ea typeface="メイリオ"/>
                <a:cs typeface="メイリオ"/>
              </a:rPr>
              <a:t>Thread 1: calls cudaSetDevice(1)</a:t>
            </a:r>
          </a:p>
        </p:txBody>
      </p:sp>
      <p:sp>
        <p:nvSpPr>
          <p:cNvPr id="13" name="Rounded Rectangle 12"/>
          <p:cNvSpPr/>
          <p:nvPr/>
        </p:nvSpPr>
        <p:spPr>
          <a:xfrm>
            <a:off x="600075" y="2952750"/>
            <a:ext cx="5143500" cy="47625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current device = 1</a:t>
            </a:r>
          </a:p>
        </p:txBody>
      </p:sp>
      <p:sp>
        <p:nvSpPr>
          <p:cNvPr id="14" name="Rounded Rectangle 13"/>
          <p:cNvSpPr/>
          <p:nvPr/>
        </p:nvSpPr>
        <p:spPr>
          <a:xfrm>
            <a:off x="600075" y="3524250"/>
            <a:ext cx="5143500" cy="47625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buffer lookup on device 1: succeeds</a:t>
            </a:r>
          </a:p>
        </p:txBody>
      </p:sp>
      <p:sp>
        <p:nvSpPr>
          <p:cNvPr id="15" name="Rounded Rectangle 14"/>
          <p:cNvSpPr/>
          <p:nvPr/>
        </p:nvSpPr>
        <p:spPr>
          <a:xfrm>
            <a:off x="6257925" y="2476500"/>
            <a:ext cx="5524500" cy="1619250"/>
          </a:xfrm>
          <a:prstGeom prst="roundRect">
            <a:avLst>
              <a:gd name="adj" fmla="val 4000"/>
            </a:avLst>
          </a:prstGeom>
          <a:solidFill>
            <a:srgbClr val="161A1E"/>
          </a:solidFill>
          <a:ln w="15875">
            <a:solidFill>
              <a:srgbClr val="DC2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8425" y="2590800"/>
            <a:ext cx="5143500" cy="209550"/>
          </a:xfrm>
          <a:prstGeom prst="rect">
            <a:avLst/>
          </a:prstGeom>
          <a:noFill/>
        </p:spPr>
        <p:txBody>
          <a:bodyPr wrap="square" lIns="0" rIns="0" tIns="0" bIns="0" anchor="ctr">
            <a:spAutoFit/>
          </a:bodyPr>
          <a:lstStyle/>
          <a:p>
            <a:pPr algn="l">
              <a:lnSpc>
                <a:spcPct val="122000"/>
              </a:lnSpc>
            </a:pPr>
            <a:r>
              <a:rPr sz="1400" b="1">
                <a:solidFill>
                  <a:srgbClr val="F5F5F8"/>
                </a:solidFill>
                <a:latin typeface="Amazon Ember"/>
                <a:ea typeface="メイリオ"/>
                <a:cs typeface="メイリオ"/>
              </a:rPr>
              <a:t>Thread 2: never calls cudaSetDevice()</a:t>
            </a:r>
          </a:p>
        </p:txBody>
      </p:sp>
      <p:sp>
        <p:nvSpPr>
          <p:cNvPr id="17" name="Rounded Rectangle 16"/>
          <p:cNvSpPr/>
          <p:nvPr/>
        </p:nvSpPr>
        <p:spPr>
          <a:xfrm>
            <a:off x="6448425" y="2952750"/>
            <a:ext cx="5143500" cy="47625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current device = 0 (the default)</a:t>
            </a:r>
          </a:p>
        </p:txBody>
      </p:sp>
      <p:sp>
        <p:nvSpPr>
          <p:cNvPr id="18" name="Rounded Rectangle 17"/>
          <p:cNvSpPr/>
          <p:nvPr/>
        </p:nvSpPr>
        <p:spPr>
          <a:xfrm>
            <a:off x="6448425" y="3524250"/>
            <a:ext cx="5143500" cy="476250"/>
          </a:xfrm>
          <a:prstGeom prst="roundRect">
            <a:avLst>
              <a:gd name="adj" fmla="val 10000"/>
            </a:avLst>
          </a:prstGeom>
          <a:solidFill>
            <a:srgbClr val="501818"/>
          </a:solidFill>
          <a:ln w="15875">
            <a:solidFill>
              <a:srgbClr val="DC2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buffer actually lives on device 1: lookup fails</a:t>
            </a:r>
          </a:p>
        </p:txBody>
      </p:sp>
      <p:sp>
        <p:nvSpPr>
          <p:cNvPr id="19" name="Rounded Rectangle 18"/>
          <p:cNvSpPr/>
          <p:nvPr/>
        </p:nvSpPr>
        <p:spPr>
          <a:xfrm>
            <a:off x="409575" y="4381500"/>
            <a:ext cx="11372850" cy="76200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This is a general CUDA rule, not specific to any one library: an API call that resolves a buffer only looks at the calling thread's current device. The real transfer thread that hits exactly this failure appears later in this article.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libfabric: one API, several providers underneath</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FI_PROVIDER picks which network transport implements the same fi_* calls</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428750"/>
            <a:ext cx="4762500" cy="57150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Application (NIXL)</a:t>
            </a:r>
          </a:p>
        </p:txBody>
      </p:sp>
      <p:cxnSp>
        <p:nvCxnSpPr>
          <p:cNvPr id="11" name="Connector 10"/>
          <p:cNvCxnSpPr/>
          <p:nvPr/>
        </p:nvCxnSpPr>
        <p:spPr>
          <a:xfrm>
            <a:off x="2790825" y="2000250"/>
            <a:ext cx="0" cy="381000"/>
          </a:xfrm>
          <a:prstGeom prst="line">
            <a:avLst/>
          </a:prstGeom>
          <a:ln w="31750">
            <a:solidFill>
              <a:srgbClr val="2896F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9575" y="2381250"/>
            <a:ext cx="4762500" cy="57150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libfabric API (fi_av_insert, fi_writedata, fi_cq_read, ...)</a:t>
            </a:r>
          </a:p>
        </p:txBody>
      </p:sp>
      <p:cxnSp>
        <p:nvCxnSpPr>
          <p:cNvPr id="13" name="Connector 12"/>
          <p:cNvCxnSpPr/>
          <p:nvPr/>
        </p:nvCxnSpPr>
        <p:spPr>
          <a:xfrm flipH="1">
            <a:off x="2124075" y="2952750"/>
            <a:ext cx="666750" cy="476250"/>
          </a:xfrm>
          <a:prstGeom prst="line">
            <a:avLst/>
          </a:prstGeom>
          <a:ln w="2540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09575" y="3429000"/>
            <a:ext cx="3429000" cy="857250"/>
          </a:xfrm>
          <a:prstGeom prst="roundRect">
            <a:avLst>
              <a:gd name="adj" fmla="val 10000"/>
            </a:avLst>
          </a:prstGeom>
          <a:solidFill>
            <a:srgbClr val="161A1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2000" b="1">
                <a:solidFill>
                  <a:srgbClr val="FBD332"/>
                </a:solidFill>
                <a:latin typeface="Amazon Ember"/>
                <a:ea typeface="メイリオ"/>
                <a:cs typeface="メイリオ"/>
              </a:rPr>
              <a:t>efa</a:t>
            </a:r>
          </a:p>
        </p:txBody>
      </p:sp>
      <p:sp>
        <p:nvSpPr>
          <p:cNvPr id="15" name="TextBox 14"/>
          <p:cNvSpPr txBox="1"/>
          <p:nvPr/>
        </p:nvSpPr>
        <p:spPr>
          <a:xfrm>
            <a:off x="409575" y="4343400"/>
            <a:ext cx="3429000" cy="381000"/>
          </a:xfrm>
          <a:prstGeom prst="rect">
            <a:avLst/>
          </a:prstGeom>
          <a:noFill/>
        </p:spPr>
        <p:txBody>
          <a:bodyPr wrap="square" lIns="0" rIns="0" tIns="0" bIns="0" anchor="ctr">
            <a:spAutoFit/>
          </a:bodyPr>
          <a:lstStyle/>
          <a:p>
            <a:pPr algn="ctr">
              <a:lnSpc>
                <a:spcPct val="122000"/>
              </a:lnSpc>
            </a:pPr>
            <a:r>
              <a:rPr sz="1300" b="0">
                <a:solidFill>
                  <a:srgbClr val="96969E"/>
                </a:solidFill>
                <a:latin typeface="Amazon Ember"/>
                <a:ea typeface="メイリオ"/>
                <a:cs typeface="メイリオ"/>
              </a:rPr>
              <a:t>talks to the EFA NIC hardware</a:t>
            </a:r>
          </a:p>
        </p:txBody>
      </p:sp>
      <p:cxnSp>
        <p:nvCxnSpPr>
          <p:cNvPr id="16" name="Connector 15"/>
          <p:cNvCxnSpPr/>
          <p:nvPr/>
        </p:nvCxnSpPr>
        <p:spPr>
          <a:xfrm>
            <a:off x="2790825" y="2952750"/>
            <a:ext cx="3105150" cy="476250"/>
          </a:xfrm>
          <a:prstGeom prst="line">
            <a:avLst/>
          </a:prstGeom>
          <a:ln w="25400">
            <a:solidFill>
              <a:srgbClr val="2896F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181475" y="3429000"/>
            <a:ext cx="3429000" cy="857250"/>
          </a:xfrm>
          <a:prstGeom prst="roundRect">
            <a:avLst>
              <a:gd name="adj" fmla="val 10000"/>
            </a:avLst>
          </a:prstGeom>
          <a:solidFill>
            <a:srgbClr val="161A1E"/>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2000" b="1">
                <a:solidFill>
                  <a:srgbClr val="2896F0"/>
                </a:solidFill>
                <a:latin typeface="Amazon Ember"/>
                <a:ea typeface="メイリオ"/>
                <a:cs typeface="メイリオ"/>
              </a:rPr>
              <a:t>shm</a:t>
            </a:r>
          </a:p>
        </p:txBody>
      </p:sp>
      <p:sp>
        <p:nvSpPr>
          <p:cNvPr id="18" name="TextBox 17"/>
          <p:cNvSpPr txBox="1"/>
          <p:nvPr/>
        </p:nvSpPr>
        <p:spPr>
          <a:xfrm>
            <a:off x="4181475" y="4343400"/>
            <a:ext cx="3429000" cy="381000"/>
          </a:xfrm>
          <a:prstGeom prst="rect">
            <a:avLst/>
          </a:prstGeom>
          <a:noFill/>
        </p:spPr>
        <p:txBody>
          <a:bodyPr wrap="square" lIns="0" rIns="0" tIns="0" bIns="0" anchor="ctr">
            <a:spAutoFit/>
          </a:bodyPr>
          <a:lstStyle/>
          <a:p>
            <a:pPr algn="ctr">
              <a:lnSpc>
                <a:spcPct val="122000"/>
              </a:lnSpc>
            </a:pPr>
            <a:r>
              <a:rPr sz="1300" b="0">
                <a:solidFill>
                  <a:srgbClr val="96969E"/>
                </a:solidFill>
                <a:latin typeface="Amazon Ember"/>
                <a:ea typeface="メイリオ"/>
                <a:cs typeface="メイリオ"/>
              </a:rPr>
              <a:t>same-node shortcut, no NIC</a:t>
            </a:r>
          </a:p>
        </p:txBody>
      </p:sp>
      <p:cxnSp>
        <p:nvCxnSpPr>
          <p:cNvPr id="19" name="Connector 18"/>
          <p:cNvCxnSpPr/>
          <p:nvPr/>
        </p:nvCxnSpPr>
        <p:spPr>
          <a:xfrm>
            <a:off x="2790825" y="2952750"/>
            <a:ext cx="6877050" cy="476250"/>
          </a:xfrm>
          <a:prstGeom prst="line">
            <a:avLst/>
          </a:prstGeom>
          <a:ln w="25400">
            <a:solidFill>
              <a:srgbClr val="96969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953375" y="3429000"/>
            <a:ext cx="3429000" cy="857250"/>
          </a:xfrm>
          <a:prstGeom prst="roundRect">
            <a:avLst>
              <a:gd name="adj" fmla="val 10000"/>
            </a:avLst>
          </a:prstGeom>
          <a:solidFill>
            <a:srgbClr val="161A1E"/>
          </a:solidFill>
          <a:ln w="15875">
            <a:solidFill>
              <a:srgbClr val="96969E"/>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2000" b="1">
                <a:solidFill>
                  <a:srgbClr val="96969E"/>
                </a:solidFill>
                <a:latin typeface="Amazon Ember"/>
                <a:ea typeface="メイリオ"/>
                <a:cs typeface="メイリオ"/>
              </a:rPr>
              <a:t>tcp</a:t>
            </a:r>
          </a:p>
        </p:txBody>
      </p:sp>
      <p:sp>
        <p:nvSpPr>
          <p:cNvPr id="21" name="TextBox 20"/>
          <p:cNvSpPr txBox="1"/>
          <p:nvPr/>
        </p:nvSpPr>
        <p:spPr>
          <a:xfrm>
            <a:off x="7953375" y="4343400"/>
            <a:ext cx="3429000" cy="381000"/>
          </a:xfrm>
          <a:prstGeom prst="rect">
            <a:avLst/>
          </a:prstGeom>
          <a:noFill/>
        </p:spPr>
        <p:txBody>
          <a:bodyPr wrap="square" lIns="0" rIns="0" tIns="0" bIns="0" anchor="ctr">
            <a:spAutoFit/>
          </a:bodyPr>
          <a:lstStyle/>
          <a:p>
            <a:pPr algn="ctr">
              <a:lnSpc>
                <a:spcPct val="122000"/>
              </a:lnSpc>
            </a:pPr>
            <a:r>
              <a:rPr sz="1300" b="0">
                <a:solidFill>
                  <a:srgbClr val="96969E"/>
                </a:solidFill>
                <a:latin typeface="Amazon Ember"/>
                <a:ea typeface="メイリオ"/>
                <a:cs typeface="メイリオ"/>
              </a:rPr>
              <a:t>generic fallback</a:t>
            </a:r>
          </a:p>
        </p:txBody>
      </p:sp>
      <p:sp>
        <p:nvSpPr>
          <p:cNvPr id="22" name="Rounded Rectangle 21"/>
          <p:cNvSpPr/>
          <p:nvPr/>
        </p:nvSpPr>
        <p:spPr>
          <a:xfrm>
            <a:off x="409575" y="5048250"/>
            <a:ext cx="11372850" cy="76200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FI_PROVIDER=efa only picks the efa provider's code path. Whether a given write ends up going through the NIC or gets redirected to the shm provider is a decision the efa provider itself makes when it learns about a peer -- the next section in this article follows that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What the shm provider does with GPU memory</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A same-node shortcut: skip the NIC, move the data through CUDA IPC instead</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428750"/>
            <a:ext cx="4762500" cy="57150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Sender process</a:t>
            </a:r>
          </a:p>
        </p:txBody>
      </p:sp>
      <p:sp>
        <p:nvSpPr>
          <p:cNvPr id="11" name="Rounded Rectangle 10"/>
          <p:cNvSpPr/>
          <p:nvPr/>
        </p:nvSpPr>
        <p:spPr>
          <a:xfrm>
            <a:off x="7019925" y="1428750"/>
            <a:ext cx="4762500" cy="57150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Receiver process</a:t>
            </a:r>
          </a:p>
        </p:txBody>
      </p:sp>
      <p:cxnSp>
        <p:nvCxnSpPr>
          <p:cNvPr id="12" name="Connector 11"/>
          <p:cNvCxnSpPr/>
          <p:nvPr/>
        </p:nvCxnSpPr>
        <p:spPr>
          <a:xfrm>
            <a:off x="5172075" y="1714500"/>
            <a:ext cx="1847850" cy="0"/>
          </a:xfrm>
          <a:prstGeom prst="line">
            <a:avLst/>
          </a:prstGeom>
          <a:ln w="31750">
            <a:solidFill>
              <a:srgbClr val="2896F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286375" y="1219200"/>
            <a:ext cx="2857500" cy="171450"/>
          </a:xfrm>
          <a:prstGeom prst="rect">
            <a:avLst/>
          </a:prstGeom>
          <a:noFill/>
        </p:spPr>
        <p:txBody>
          <a:bodyPr wrap="square" lIns="0" rIns="0" tIns="0" bIns="0" anchor="ctr">
            <a:spAutoFit/>
          </a:bodyPr>
          <a:lstStyle/>
          <a:p>
            <a:pPr algn="l">
              <a:lnSpc>
                <a:spcPct val="122000"/>
              </a:lnSpc>
            </a:pPr>
            <a:r>
              <a:rPr sz="1200" b="0">
                <a:solidFill>
                  <a:srgbClr val="96969E"/>
                </a:solidFill>
                <a:latin typeface="Amazon Ember"/>
                <a:ea typeface="メイリオ"/>
                <a:cs typeface="メイリオ"/>
              </a:rPr>
              <a:t>1. export a handle for this write</a:t>
            </a:r>
          </a:p>
        </p:txBody>
      </p:sp>
      <p:sp>
        <p:nvSpPr>
          <p:cNvPr id="14" name="Rounded Rectangle 13"/>
          <p:cNvSpPr/>
          <p:nvPr/>
        </p:nvSpPr>
        <p:spPr>
          <a:xfrm>
            <a:off x="3209925" y="2381250"/>
            <a:ext cx="5772150" cy="66675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shm provider: hands the handle to the</a:t>
            </a:r>
          </a:p>
          <a:p>
            <a:pPr algn="ctr">
              <a:lnSpc>
                <a:spcPct val="122000"/>
              </a:lnSpc>
            </a:pPr>
            <a:r>
              <a:rPr sz="1400" b="1">
                <a:solidFill>
                  <a:srgbClr val="F5F5F8"/>
                </a:solidFill>
                <a:latin typeface="Amazon Ember"/>
                <a:ea typeface="メイリオ"/>
                <a:cs typeface="メイリオ"/>
              </a:rPr>
              <a:t>receiver as a small command, not the data</a:t>
            </a:r>
          </a:p>
        </p:txBody>
      </p:sp>
      <p:cxnSp>
        <p:nvCxnSpPr>
          <p:cNvPr id="15" name="Connector 14"/>
          <p:cNvCxnSpPr/>
          <p:nvPr/>
        </p:nvCxnSpPr>
        <p:spPr>
          <a:xfrm>
            <a:off x="6096000" y="3048000"/>
            <a:ext cx="0" cy="381000"/>
          </a:xfrm>
          <a:prstGeom prst="line">
            <a:avLst/>
          </a:prstGeom>
          <a:ln w="3175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209925" y="3429000"/>
            <a:ext cx="5772150" cy="66675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receiver opens the handle and</a:t>
            </a:r>
          </a:p>
          <a:p>
            <a:pPr algn="ctr">
              <a:lnSpc>
                <a:spcPct val="122000"/>
              </a:lnSpc>
            </a:pPr>
            <a:r>
              <a:rPr sz="1400" b="1">
                <a:solidFill>
                  <a:srgbClr val="F5F5F8"/>
                </a:solidFill>
                <a:latin typeface="Amazon Ember"/>
                <a:ea typeface="メイリオ"/>
                <a:cs typeface="メイリオ"/>
              </a:rPr>
              <a:t>copies GPU-to-GPU itself</a:t>
            </a:r>
          </a:p>
        </p:txBody>
      </p:sp>
      <p:cxnSp>
        <p:nvCxnSpPr>
          <p:cNvPr id="17" name="Connector 16"/>
          <p:cNvCxnSpPr/>
          <p:nvPr/>
        </p:nvCxnSpPr>
        <p:spPr>
          <a:xfrm>
            <a:off x="6096000" y="4095750"/>
            <a:ext cx="0" cy="381000"/>
          </a:xfrm>
          <a:prstGeom prst="line">
            <a:avLst/>
          </a:prstGeom>
          <a:ln w="31750">
            <a:solidFill>
              <a:srgbClr val="3BD16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209925" y="4476750"/>
            <a:ext cx="5772150" cy="57150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a flag is set so the sender</a:t>
            </a:r>
          </a:p>
          <a:p>
            <a:pPr algn="ctr">
              <a:lnSpc>
                <a:spcPct val="122000"/>
              </a:lnSpc>
            </a:pPr>
            <a:r>
              <a:rPr sz="1400" b="1">
                <a:solidFill>
                  <a:srgbClr val="F5F5F8"/>
                </a:solidFill>
                <a:latin typeface="Amazon Ember"/>
                <a:ea typeface="メイリオ"/>
                <a:cs typeface="メイリオ"/>
              </a:rPr>
              <a:t>can tell the write is done</a:t>
            </a:r>
          </a:p>
        </p:txBody>
      </p:sp>
      <p:sp>
        <p:nvSpPr>
          <p:cNvPr id="19" name="Rounded Rectangle 18"/>
          <p:cNvSpPr/>
          <p:nvPr/>
        </p:nvSpPr>
        <p:spPr>
          <a:xfrm>
            <a:off x="409575" y="5429250"/>
            <a:ext cx="11372850" cy="6667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This is the general shape of a shm-style IPC transfer: the sender only exports a handle, and the receiver is the one that actually moves the bytes. The exact function names and the real timing of this handoff, as NIXL and libfabric implement it, are covered later in this article.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When the shortcut fails: SAR, a bounce through host memory</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One of several shm protocols; this is the one used when the direct GPU-to-GPU setup fails</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428750"/>
            <a:ext cx="4762500" cy="57150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Sender GPU buffer</a:t>
            </a:r>
          </a:p>
        </p:txBody>
      </p:sp>
      <p:cxnSp>
        <p:nvCxnSpPr>
          <p:cNvPr id="11" name="Connector 10"/>
          <p:cNvCxnSpPr/>
          <p:nvPr/>
        </p:nvCxnSpPr>
        <p:spPr>
          <a:xfrm>
            <a:off x="2790825" y="2000250"/>
            <a:ext cx="0" cy="476250"/>
          </a:xfrm>
          <a:prstGeom prst="line">
            <a:avLst/>
          </a:prstGeom>
          <a:ln w="31750">
            <a:solidFill>
              <a:srgbClr val="3BD16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9575" y="2476500"/>
            <a:ext cx="4762500" cy="57150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direct GPU-to-GPU copy (preferred)</a:t>
            </a:r>
          </a:p>
        </p:txBody>
      </p:sp>
      <p:sp>
        <p:nvSpPr>
          <p:cNvPr id="13" name="Rounded Rectangle 12"/>
          <p:cNvSpPr/>
          <p:nvPr/>
        </p:nvSpPr>
        <p:spPr>
          <a:xfrm>
            <a:off x="7019925" y="1428750"/>
            <a:ext cx="4762500" cy="57150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Receiver GPU buffer</a:t>
            </a:r>
          </a:p>
        </p:txBody>
      </p:sp>
      <p:cxnSp>
        <p:nvCxnSpPr>
          <p:cNvPr id="14" name="Connector 13"/>
          <p:cNvCxnSpPr/>
          <p:nvPr/>
        </p:nvCxnSpPr>
        <p:spPr>
          <a:xfrm>
            <a:off x="2790825" y="3048000"/>
            <a:ext cx="0" cy="381000"/>
          </a:xfrm>
          <a:prstGeom prst="line">
            <a:avLst/>
          </a:prstGeom>
          <a:ln w="19050">
            <a:solidFill>
              <a:srgbClr val="96969E"/>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952750" y="3105150"/>
            <a:ext cx="3810000" cy="22860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setup fails here, e.g. a handle export error</a:t>
            </a:r>
          </a:p>
        </p:txBody>
      </p:sp>
      <p:sp>
        <p:nvSpPr>
          <p:cNvPr id="16" name="Rounded Rectangle 15"/>
          <p:cNvSpPr/>
          <p:nvPr/>
        </p:nvSpPr>
        <p:spPr>
          <a:xfrm>
            <a:off x="409575" y="3429000"/>
            <a:ext cx="4762500" cy="57150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SAR instead: copy GPU -&gt; host buffer</a:t>
            </a:r>
          </a:p>
        </p:txBody>
      </p:sp>
      <p:cxnSp>
        <p:nvCxnSpPr>
          <p:cNvPr id="17" name="Connector 16"/>
          <p:cNvCxnSpPr/>
          <p:nvPr/>
        </p:nvCxnSpPr>
        <p:spPr>
          <a:xfrm>
            <a:off x="5172075" y="3714750"/>
            <a:ext cx="1847850" cy="0"/>
          </a:xfrm>
          <a:prstGeom prst="line">
            <a:avLst/>
          </a:prstGeom>
          <a:ln w="3175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19925" y="3429000"/>
            <a:ext cx="4762500" cy="57150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then host buffer -&gt; GPU on the other side</a:t>
            </a:r>
          </a:p>
        </p:txBody>
      </p:sp>
      <p:sp>
        <p:nvSpPr>
          <p:cNvPr id="19" name="Rounded Rectangle 18"/>
          <p:cNvSpPr/>
          <p:nvPr/>
        </p:nvSpPr>
        <p:spPr>
          <a:xfrm>
            <a:off x="409575" y="4476750"/>
            <a:ext cx="11372850" cy="6667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This is how libfabric's shm provider behaves in general when the direct path cannot be set up -- it quietly uses a slower, CPU-mediated path instead of failing outright. Which real transfer thread takes this path, and why, is covered later in this article.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Nothing moves until something calls the progress function</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fi_cq_read() both drives queued work forward and reports what finished</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524000"/>
            <a:ext cx="3810000" cy="57150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F5F5F8"/>
                </a:solidFill>
                <a:latin typeface="Amazon Ember"/>
                <a:ea typeface="メイリオ"/>
                <a:cs typeface="メイリオ"/>
              </a:rPr>
              <a:t>post a write (queue it)</a:t>
            </a:r>
          </a:p>
        </p:txBody>
      </p:sp>
      <p:cxnSp>
        <p:nvCxnSpPr>
          <p:cNvPr id="11" name="Connector 10"/>
          <p:cNvCxnSpPr/>
          <p:nvPr/>
        </p:nvCxnSpPr>
        <p:spPr>
          <a:xfrm>
            <a:off x="4219575" y="1809750"/>
            <a:ext cx="542925" cy="0"/>
          </a:xfrm>
          <a:prstGeom prst="line">
            <a:avLst/>
          </a:prstGeom>
          <a:ln w="25400">
            <a:solidFill>
              <a:srgbClr val="96969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62500" y="1524000"/>
            <a:ext cx="2857500" cy="57150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work queue</a:t>
            </a:r>
          </a:p>
        </p:txBody>
      </p:sp>
      <p:cxnSp>
        <p:nvCxnSpPr>
          <p:cNvPr id="13" name="Connector 12"/>
          <p:cNvCxnSpPr/>
          <p:nvPr/>
        </p:nvCxnSpPr>
        <p:spPr>
          <a:xfrm>
            <a:off x="7620000" y="1809750"/>
            <a:ext cx="542925" cy="0"/>
          </a:xfrm>
          <a:prstGeom prst="line">
            <a:avLst/>
          </a:prstGeom>
          <a:ln w="31750">
            <a:solidFill>
              <a:srgbClr val="2896F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62925" y="1524000"/>
            <a:ext cx="3619500" cy="57150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F5F5F8"/>
                </a:solidFill>
                <a:latin typeface="Amazon Ember"/>
                <a:ea typeface="メイリオ"/>
                <a:cs typeface="メイリオ"/>
              </a:rPr>
              <a:t>fi_cq_read(), called repeatedly</a:t>
            </a:r>
          </a:p>
        </p:txBody>
      </p:sp>
      <p:cxnSp>
        <p:nvCxnSpPr>
          <p:cNvPr id="15" name="Connector 14"/>
          <p:cNvCxnSpPr/>
          <p:nvPr/>
        </p:nvCxnSpPr>
        <p:spPr>
          <a:xfrm flipH="1">
            <a:off x="8286750" y="2095500"/>
            <a:ext cx="1019175" cy="571500"/>
          </a:xfrm>
          <a:prstGeom prst="line">
            <a:avLst/>
          </a:prstGeom>
          <a:ln w="3175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667500" y="2667000"/>
            <a:ext cx="3810000" cy="57150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F5F5F8"/>
                </a:solidFill>
                <a:latin typeface="Amazon Ember"/>
                <a:ea typeface="メイリオ"/>
                <a:cs typeface="メイリオ"/>
              </a:rPr>
              <a:t>(a) executes queued work</a:t>
            </a:r>
          </a:p>
        </p:txBody>
      </p:sp>
      <p:cxnSp>
        <p:nvCxnSpPr>
          <p:cNvPr id="17" name="Connector 16"/>
          <p:cNvCxnSpPr/>
          <p:nvPr/>
        </p:nvCxnSpPr>
        <p:spPr>
          <a:xfrm>
            <a:off x="10163175" y="2095500"/>
            <a:ext cx="0" cy="1333500"/>
          </a:xfrm>
          <a:prstGeom prst="line">
            <a:avLst/>
          </a:prstGeom>
          <a:ln w="3175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67500" y="3429000"/>
            <a:ext cx="3810000" cy="57150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F5F5F8"/>
                </a:solidFill>
                <a:latin typeface="Amazon Ember"/>
                <a:ea typeface="メイリオ"/>
                <a:cs typeface="メイリオ"/>
              </a:rPr>
              <a:t>(b) reports finished work</a:t>
            </a:r>
          </a:p>
        </p:txBody>
      </p:sp>
      <p:sp>
        <p:nvSpPr>
          <p:cNvPr id="19" name="Rounded Rectangle 18"/>
          <p:cNvSpPr/>
          <p:nvPr/>
        </p:nvSpPr>
        <p:spPr>
          <a:xfrm>
            <a:off x="409575" y="4381500"/>
            <a:ext cx="11372850" cy="8572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libfabric itself has no dedicated background thread -- whichever thread calls fi_cq_read() is the one that both makes progress on queued work and finds out what has completed. If nothing calls it, nothing happens, no matter how long the data has been ready.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One lock, two jobs: reading completions and posting new work</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A thread posting a new transfer can block behind another thread's progress call</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762500" y="2476500"/>
            <a:ext cx="1847850" cy="1047750"/>
          </a:xfrm>
          <a:prstGeom prst="roundRect">
            <a:avLst>
              <a:gd name="adj" fmla="val 10000"/>
            </a:avLst>
          </a:prstGeom>
          <a:solidFill>
            <a:srgbClr val="501818"/>
          </a:solidFill>
          <a:ln w="15875">
            <a:solidFill>
              <a:srgbClr val="DC2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800" b="1">
                <a:solidFill>
                  <a:srgbClr val="F5F5F8"/>
                </a:solidFill>
                <a:latin typeface="Amazon Ember"/>
                <a:ea typeface="メイリオ"/>
                <a:cs typeface="メイリオ"/>
              </a:rPr>
              <a:t>shared lock</a:t>
            </a:r>
          </a:p>
        </p:txBody>
      </p:sp>
      <p:sp>
        <p:nvSpPr>
          <p:cNvPr id="11" name="Rounded Rectangle 10"/>
          <p:cNvSpPr/>
          <p:nvPr/>
        </p:nvSpPr>
        <p:spPr>
          <a:xfrm>
            <a:off x="409575" y="1428750"/>
            <a:ext cx="3810000" cy="66675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Thread 1: fi_cq_read()</a:t>
            </a:r>
          </a:p>
          <a:p>
            <a:pPr algn="ctr">
              <a:lnSpc>
                <a:spcPct val="122000"/>
              </a:lnSpc>
            </a:pPr>
            <a:r>
              <a:rPr sz="1400" b="1">
                <a:solidFill>
                  <a:srgbClr val="F5F5F8"/>
                </a:solidFill>
                <a:latin typeface="Amazon Ember"/>
                <a:ea typeface="メイリオ"/>
                <a:cs typeface="メイリオ"/>
              </a:rPr>
              <a:t>(progress loop)</a:t>
            </a:r>
          </a:p>
        </p:txBody>
      </p:sp>
      <p:cxnSp>
        <p:nvCxnSpPr>
          <p:cNvPr id="12" name="Connector 11"/>
          <p:cNvCxnSpPr/>
          <p:nvPr/>
        </p:nvCxnSpPr>
        <p:spPr>
          <a:xfrm>
            <a:off x="2314575" y="2095500"/>
            <a:ext cx="2447925" cy="666750"/>
          </a:xfrm>
          <a:prstGeom prst="line">
            <a:avLst/>
          </a:prstGeom>
          <a:ln w="31750">
            <a:solidFill>
              <a:srgbClr val="2896F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28750" y="2190750"/>
            <a:ext cx="2857500" cy="171450"/>
          </a:xfrm>
          <a:prstGeom prst="rect">
            <a:avLst/>
          </a:prstGeom>
          <a:noFill/>
        </p:spPr>
        <p:txBody>
          <a:bodyPr wrap="square" lIns="0" rIns="0" tIns="0" bIns="0" anchor="ctr">
            <a:spAutoFit/>
          </a:bodyPr>
          <a:lstStyle/>
          <a:p>
            <a:pPr algn="l">
              <a:lnSpc>
                <a:spcPct val="122000"/>
              </a:lnSpc>
            </a:pPr>
            <a:r>
              <a:rPr sz="1200" b="0">
                <a:solidFill>
                  <a:srgbClr val="96969E"/>
                </a:solidFill>
                <a:latin typeface="Amazon Ember"/>
                <a:ea typeface="メイリオ"/>
                <a:cs typeface="メイリオ"/>
              </a:rPr>
              <a:t>holds the lock while progressing</a:t>
            </a:r>
          </a:p>
        </p:txBody>
      </p:sp>
      <p:sp>
        <p:nvSpPr>
          <p:cNvPr id="14" name="Rounded Rectangle 13"/>
          <p:cNvSpPr/>
          <p:nvPr/>
        </p:nvSpPr>
        <p:spPr>
          <a:xfrm>
            <a:off x="8029575" y="4286250"/>
            <a:ext cx="3752850" cy="66675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F5F5F8"/>
                </a:solidFill>
                <a:latin typeface="Amazon Ember"/>
                <a:ea typeface="メイリオ"/>
                <a:cs typeface="メイリオ"/>
              </a:rPr>
              <a:t>Thread 2: postWrite()</a:t>
            </a:r>
          </a:p>
          <a:p>
            <a:pPr algn="ctr">
              <a:lnSpc>
                <a:spcPct val="122000"/>
              </a:lnSpc>
            </a:pPr>
            <a:r>
              <a:rPr sz="1400" b="1">
                <a:solidFill>
                  <a:srgbClr val="F5F5F8"/>
                </a:solidFill>
                <a:latin typeface="Amazon Ember"/>
                <a:ea typeface="メイリオ"/>
                <a:cs typeface="メイリオ"/>
              </a:rPr>
              <a:t>(new transfer)</a:t>
            </a:r>
          </a:p>
        </p:txBody>
      </p:sp>
      <p:cxnSp>
        <p:nvCxnSpPr>
          <p:cNvPr id="15" name="Connector 14"/>
          <p:cNvCxnSpPr/>
          <p:nvPr/>
        </p:nvCxnSpPr>
        <p:spPr>
          <a:xfrm flipH="1" flipV="1">
            <a:off x="6610350" y="3333750"/>
            <a:ext cx="1419225" cy="1238250"/>
          </a:xfrm>
          <a:prstGeom prst="line">
            <a:avLst/>
          </a:prstGeom>
          <a:ln w="31750">
            <a:solidFill>
              <a:srgbClr val="FBD332"/>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29575" y="3905250"/>
            <a:ext cx="3752850" cy="171450"/>
          </a:xfrm>
          <a:prstGeom prst="rect">
            <a:avLst/>
          </a:prstGeom>
          <a:noFill/>
        </p:spPr>
        <p:txBody>
          <a:bodyPr wrap="square" lIns="0" rIns="0" tIns="0" bIns="0" anchor="ctr">
            <a:spAutoFit/>
          </a:bodyPr>
          <a:lstStyle/>
          <a:p>
            <a:pPr algn="l">
              <a:lnSpc>
                <a:spcPct val="122000"/>
              </a:lnSpc>
            </a:pPr>
            <a:r>
              <a:rPr sz="1200" b="0">
                <a:solidFill>
                  <a:srgbClr val="FBD332"/>
                </a:solidFill>
                <a:latin typeface="Amazon Ember"/>
                <a:ea typeface="メイリオ"/>
                <a:cs typeface="メイリオ"/>
              </a:rPr>
              <a:t>waits for the same lock</a:t>
            </a:r>
          </a:p>
        </p:txBody>
      </p:sp>
      <p:sp>
        <p:nvSpPr>
          <p:cNvPr id="17" name="Rounded Rectangle 16"/>
          <p:cNvSpPr/>
          <p:nvPr/>
        </p:nvSpPr>
        <p:spPr>
          <a:xfrm>
            <a:off x="409575" y="5334000"/>
            <a:ext cx="11372850" cy="8572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This is a common pattern when a single-threaded-style API is wrapped for multi-threaded use: one lock protects both "make progress" and "queue new work". Whether this actually shows up as a real delay, and how large, is a question for measurement -- taken up later in this article.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RDMA WRITE: the NIC writes into remote memory directly</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No CPU copy on either side; completion is a hardware event</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619250"/>
            <a:ext cx="3333750" cy="66675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Sender GPU buffer</a:t>
            </a:r>
          </a:p>
        </p:txBody>
      </p:sp>
      <p:cxnSp>
        <p:nvCxnSpPr>
          <p:cNvPr id="11" name="Connector 10"/>
          <p:cNvCxnSpPr/>
          <p:nvPr/>
        </p:nvCxnSpPr>
        <p:spPr>
          <a:xfrm>
            <a:off x="3743325" y="1952625"/>
            <a:ext cx="638175" cy="0"/>
          </a:xfrm>
          <a:prstGeom prst="line">
            <a:avLst/>
          </a:prstGeom>
          <a:ln w="3175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81500" y="1619250"/>
            <a:ext cx="2667000" cy="66675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Sender's NIC</a:t>
            </a:r>
          </a:p>
        </p:txBody>
      </p:sp>
      <p:cxnSp>
        <p:nvCxnSpPr>
          <p:cNvPr id="13" name="Connector 12"/>
          <p:cNvCxnSpPr/>
          <p:nvPr/>
        </p:nvCxnSpPr>
        <p:spPr>
          <a:xfrm>
            <a:off x="7048500" y="1857375"/>
            <a:ext cx="1495425" cy="0"/>
          </a:xfrm>
          <a:prstGeom prst="line">
            <a:avLst/>
          </a:prstGeom>
          <a:ln w="38100">
            <a:solidFill>
              <a:srgbClr val="FBD332"/>
            </a:solidFill>
            <a:tailEnd type="triangle" w="med" len="med"/>
            <a:head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048500" y="2143125"/>
            <a:ext cx="1495425" cy="0"/>
          </a:xfrm>
          <a:prstGeom prst="line">
            <a:avLst/>
          </a:prstGeom>
          <a:ln w="19050">
            <a:solidFill>
              <a:srgbClr val="96969E"/>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8500" y="1428750"/>
            <a:ext cx="2857500" cy="190500"/>
          </a:xfrm>
          <a:prstGeom prst="rect">
            <a:avLst/>
          </a:prstGeom>
          <a:noFill/>
        </p:spPr>
        <p:txBody>
          <a:bodyPr wrap="square" lIns="0" rIns="0" tIns="0" bIns="0" anchor="ctr">
            <a:spAutoFit/>
          </a:bodyPr>
          <a:lstStyle/>
          <a:p>
            <a:pPr algn="ctr">
              <a:lnSpc>
                <a:spcPct val="122000"/>
              </a:lnSpc>
            </a:pPr>
            <a:r>
              <a:rPr sz="1300" b="0">
                <a:solidFill>
                  <a:srgbClr val="FBD332"/>
                </a:solidFill>
                <a:latin typeface="Amazon Ember"/>
                <a:ea typeface="メイリオ"/>
                <a:cs typeface="メイリオ"/>
              </a:rPr>
              <a:t>RDMA WRITE over the wire</a:t>
            </a:r>
          </a:p>
        </p:txBody>
      </p:sp>
      <p:sp>
        <p:nvSpPr>
          <p:cNvPr id="16" name="Rounded Rectangle 15"/>
          <p:cNvSpPr/>
          <p:nvPr/>
        </p:nvSpPr>
        <p:spPr>
          <a:xfrm>
            <a:off x="8543925" y="1619250"/>
            <a:ext cx="2667000" cy="666750"/>
          </a:xfrm>
          <a:prstGeom prst="roundRect">
            <a:avLst>
              <a:gd name="adj" fmla="val 10000"/>
            </a:avLst>
          </a:prstGeom>
          <a:solidFill>
            <a:srgbClr val="50420E"/>
          </a:solidFill>
          <a:ln w="15875">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600" b="1">
                <a:solidFill>
                  <a:srgbClr val="F5F5F8"/>
                </a:solidFill>
                <a:latin typeface="Amazon Ember"/>
                <a:ea typeface="メイリオ"/>
                <a:cs typeface="メイリオ"/>
              </a:rPr>
              <a:t>Receiver's NIC</a:t>
            </a:r>
          </a:p>
        </p:txBody>
      </p:sp>
      <p:cxnSp>
        <p:nvCxnSpPr>
          <p:cNvPr id="17" name="Connector 16"/>
          <p:cNvCxnSpPr/>
          <p:nvPr/>
        </p:nvCxnSpPr>
        <p:spPr>
          <a:xfrm>
            <a:off x="9877425" y="2286000"/>
            <a:ext cx="0" cy="571500"/>
          </a:xfrm>
          <a:prstGeom prst="line">
            <a:avLst/>
          </a:prstGeom>
          <a:ln w="31750">
            <a:solidFill>
              <a:srgbClr val="FBD3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877175" y="2857500"/>
            <a:ext cx="4000500" cy="666750"/>
          </a:xfrm>
          <a:prstGeom prst="roundRect">
            <a:avLst>
              <a:gd name="adj" fmla="val 10000"/>
            </a:avLst>
          </a:prstGeom>
          <a:solidFill>
            <a:srgbClr val="124022"/>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F5F5F8"/>
                </a:solidFill>
                <a:latin typeface="Amazon Ember"/>
                <a:ea typeface="メイリオ"/>
                <a:cs typeface="メイリオ"/>
              </a:rPr>
              <a:t>Receiver GPU buffer</a:t>
            </a:r>
          </a:p>
          <a:p>
            <a:pPr algn="ctr">
              <a:lnSpc>
                <a:spcPct val="122000"/>
              </a:lnSpc>
            </a:pPr>
            <a:r>
              <a:rPr sz="1500" b="1">
                <a:solidFill>
                  <a:srgbClr val="F5F5F8"/>
                </a:solidFill>
                <a:latin typeface="Amazon Ember"/>
                <a:ea typeface="メイリオ"/>
                <a:cs typeface="メイリオ"/>
              </a:rPr>
              <a:t>(written to directly)</a:t>
            </a:r>
          </a:p>
        </p:txBody>
      </p:sp>
      <p:sp>
        <p:nvSpPr>
          <p:cNvPr id="19" name="Rounded Rectangle 18"/>
          <p:cNvSpPr/>
          <p:nvPr/>
        </p:nvSpPr>
        <p:spPr>
          <a:xfrm>
            <a:off x="409575" y="3905250"/>
            <a:ext cx="11372850" cy="8572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"Loopback" means both ends of this hardware path happen to be the same physical NIC, talking to itself over the wire because sender and receiver are on the same node. The completion the sender sees is a real hardware event in its own completion queue, not a software signal.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KV page size and the prefix cache</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The cache can only reuse a page if every token inside it matches</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TextBox 9"/>
          <p:cNvSpPr txBox="1"/>
          <p:nvPr/>
        </p:nvSpPr>
        <p:spPr>
          <a:xfrm>
            <a:off x="409575" y="1428750"/>
            <a:ext cx="5334000" cy="22860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page size 1: each token is its own page</a:t>
            </a:r>
          </a:p>
        </p:txBody>
      </p:sp>
      <p:sp>
        <p:nvSpPr>
          <p:cNvPr id="11" name="Rounded Rectangle 10"/>
          <p:cNvSpPr/>
          <p:nvPr/>
        </p:nvSpPr>
        <p:spPr>
          <a:xfrm>
            <a:off x="409575" y="1809750"/>
            <a:ext cx="571500" cy="57150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3BD16F"/>
                </a:solidFill>
                <a:latin typeface="Amazon Ember"/>
                <a:ea typeface="メイリオ"/>
                <a:cs typeface="メイリオ"/>
              </a:rPr>
              <a:t>1</a:t>
            </a:r>
          </a:p>
        </p:txBody>
      </p:sp>
      <p:sp>
        <p:nvSpPr>
          <p:cNvPr id="12" name="Rounded Rectangle 11"/>
          <p:cNvSpPr/>
          <p:nvPr/>
        </p:nvSpPr>
        <p:spPr>
          <a:xfrm>
            <a:off x="1038225" y="1809750"/>
            <a:ext cx="571500" cy="57150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3BD16F"/>
                </a:solidFill>
                <a:latin typeface="Amazon Ember"/>
                <a:ea typeface="メイリオ"/>
                <a:cs typeface="メイリオ"/>
              </a:rPr>
              <a:t>2</a:t>
            </a:r>
          </a:p>
        </p:txBody>
      </p:sp>
      <p:sp>
        <p:nvSpPr>
          <p:cNvPr id="13" name="Rounded Rectangle 12"/>
          <p:cNvSpPr/>
          <p:nvPr/>
        </p:nvSpPr>
        <p:spPr>
          <a:xfrm>
            <a:off x="1666875" y="1809750"/>
            <a:ext cx="571500" cy="57150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3BD16F"/>
                </a:solidFill>
                <a:latin typeface="Amazon Ember"/>
                <a:ea typeface="メイリオ"/>
                <a:cs typeface="メイリオ"/>
              </a:rPr>
              <a:t>3</a:t>
            </a:r>
          </a:p>
        </p:txBody>
      </p:sp>
      <p:sp>
        <p:nvSpPr>
          <p:cNvPr id="14" name="Rounded Rectangle 13"/>
          <p:cNvSpPr/>
          <p:nvPr/>
        </p:nvSpPr>
        <p:spPr>
          <a:xfrm>
            <a:off x="2295525" y="1809750"/>
            <a:ext cx="571500" cy="57150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3BD16F"/>
                </a:solidFill>
                <a:latin typeface="Amazon Ember"/>
                <a:ea typeface="メイリオ"/>
                <a:cs typeface="メイリオ"/>
              </a:rPr>
              <a:t>4</a:t>
            </a:r>
          </a:p>
        </p:txBody>
      </p:sp>
      <p:sp>
        <p:nvSpPr>
          <p:cNvPr id="15" name="Rounded Rectangle 14"/>
          <p:cNvSpPr/>
          <p:nvPr/>
        </p:nvSpPr>
        <p:spPr>
          <a:xfrm>
            <a:off x="2924175" y="1809750"/>
            <a:ext cx="571500" cy="57150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96969E"/>
                </a:solidFill>
                <a:latin typeface="Amazon Ember"/>
                <a:ea typeface="メイリオ"/>
                <a:cs typeface="メイリオ"/>
              </a:rPr>
              <a:t>5</a:t>
            </a:r>
          </a:p>
        </p:txBody>
      </p:sp>
      <p:sp>
        <p:nvSpPr>
          <p:cNvPr id="16" name="Rounded Rectangle 15"/>
          <p:cNvSpPr/>
          <p:nvPr/>
        </p:nvSpPr>
        <p:spPr>
          <a:xfrm>
            <a:off x="3552825" y="1809750"/>
            <a:ext cx="571500" cy="57150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96969E"/>
                </a:solidFill>
                <a:latin typeface="Amazon Ember"/>
                <a:ea typeface="メイリオ"/>
                <a:cs typeface="メイリオ"/>
              </a:rPr>
              <a:t>6</a:t>
            </a:r>
          </a:p>
        </p:txBody>
      </p:sp>
      <p:sp>
        <p:nvSpPr>
          <p:cNvPr id="17" name="Rounded Rectangle 16"/>
          <p:cNvSpPr/>
          <p:nvPr/>
        </p:nvSpPr>
        <p:spPr>
          <a:xfrm>
            <a:off x="4181475" y="1809750"/>
            <a:ext cx="571500" cy="57150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96969E"/>
                </a:solidFill>
                <a:latin typeface="Amazon Ember"/>
                <a:ea typeface="メイリオ"/>
                <a:cs typeface="メイリオ"/>
              </a:rPr>
              <a:t>7</a:t>
            </a:r>
          </a:p>
        </p:txBody>
      </p:sp>
      <p:sp>
        <p:nvSpPr>
          <p:cNvPr id="18" name="Rounded Rectangle 17"/>
          <p:cNvSpPr/>
          <p:nvPr/>
        </p:nvSpPr>
        <p:spPr>
          <a:xfrm>
            <a:off x="4810125" y="1809750"/>
            <a:ext cx="571500" cy="57150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96969E"/>
                </a:solidFill>
                <a:latin typeface="Amazon Ember"/>
                <a:ea typeface="メイリオ"/>
                <a:cs typeface="メイリオ"/>
              </a:rPr>
              <a:t>8</a:t>
            </a:r>
          </a:p>
        </p:txBody>
      </p:sp>
      <p:sp>
        <p:nvSpPr>
          <p:cNvPr id="19" name="TextBox 18"/>
          <p:cNvSpPr txBox="1"/>
          <p:nvPr/>
        </p:nvSpPr>
        <p:spPr>
          <a:xfrm>
            <a:off x="409575" y="2457450"/>
            <a:ext cx="5334000" cy="228600"/>
          </a:xfrm>
          <a:prstGeom prst="rect">
            <a:avLst/>
          </a:prstGeom>
          <a:noFill/>
        </p:spPr>
        <p:txBody>
          <a:bodyPr wrap="square" lIns="0" rIns="0" tIns="0" bIns="0" anchor="ctr">
            <a:spAutoFit/>
          </a:bodyPr>
          <a:lstStyle/>
          <a:p>
            <a:pPr algn="l">
              <a:lnSpc>
                <a:spcPct val="122000"/>
              </a:lnSpc>
            </a:pPr>
            <a:r>
              <a:rPr sz="1400" b="0">
                <a:solidFill>
                  <a:srgbClr val="3BD16F"/>
                </a:solidFill>
                <a:latin typeface="Amazon Ember"/>
                <a:ea typeface="メイリオ"/>
                <a:cs typeface="メイリオ"/>
              </a:rPr>
              <a:t>4 shared tokens -&gt; 4 pages register as cached</a:t>
            </a:r>
          </a:p>
        </p:txBody>
      </p:sp>
      <p:sp>
        <p:nvSpPr>
          <p:cNvPr id="20" name="TextBox 19"/>
          <p:cNvSpPr txBox="1"/>
          <p:nvPr/>
        </p:nvSpPr>
        <p:spPr>
          <a:xfrm>
            <a:off x="6257925" y="1428750"/>
            <a:ext cx="5524500" cy="22860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page size 64: 64 tokens share one page</a:t>
            </a:r>
          </a:p>
        </p:txBody>
      </p:sp>
      <p:sp>
        <p:nvSpPr>
          <p:cNvPr id="21" name="Rounded Rectangle 20"/>
          <p:cNvSpPr/>
          <p:nvPr/>
        </p:nvSpPr>
        <p:spPr>
          <a:xfrm>
            <a:off x="6257925" y="1809750"/>
            <a:ext cx="5524500" cy="571500"/>
          </a:xfrm>
          <a:prstGeom prst="roundRect">
            <a:avLst>
              <a:gd name="adj" fmla="val 10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96969E"/>
                </a:solidFill>
                <a:latin typeface="Amazon Ember"/>
                <a:ea typeface="メイリオ"/>
                <a:cs typeface="メイリオ"/>
              </a:rPr>
              <a:t>tokens 1-64 (only 4 of them match the other request)</a:t>
            </a:r>
          </a:p>
        </p:txBody>
      </p:sp>
      <p:sp>
        <p:nvSpPr>
          <p:cNvPr id="22" name="TextBox 21"/>
          <p:cNvSpPr txBox="1"/>
          <p:nvPr/>
        </p:nvSpPr>
        <p:spPr>
          <a:xfrm>
            <a:off x="6257925" y="2457450"/>
            <a:ext cx="5524500" cy="228600"/>
          </a:xfrm>
          <a:prstGeom prst="rect">
            <a:avLst/>
          </a:prstGeom>
          <a:noFill/>
        </p:spPr>
        <p:txBody>
          <a:bodyPr wrap="square" lIns="0" rIns="0" tIns="0" bIns="0" anchor="ctr">
            <a:spAutoFit/>
          </a:bodyPr>
          <a:lstStyle/>
          <a:p>
            <a:pPr algn="l">
              <a:lnSpc>
                <a:spcPct val="122000"/>
              </a:lnSpc>
            </a:pPr>
            <a:r>
              <a:rPr sz="1400" b="0">
                <a:solidFill>
                  <a:srgbClr val="FBD332"/>
                </a:solidFill>
                <a:latin typeface="Amazon Ember"/>
                <a:ea typeface="メイリオ"/>
                <a:cs typeface="メイリオ"/>
              </a:rPr>
              <a:t>not a full match -&gt; 0 pages register as cached</a:t>
            </a:r>
          </a:p>
        </p:txBody>
      </p:sp>
      <p:sp>
        <p:nvSpPr>
          <p:cNvPr id="23" name="Rounded Rectangle 22"/>
          <p:cNvSpPr/>
          <p:nvPr/>
        </p:nvSpPr>
        <p:spPr>
          <a:xfrm>
            <a:off x="409575" y="3238500"/>
            <a:ext cx="11372850" cy="8572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The same short, accidental token overlap can register as "a few tokens cached" at page size 1, but structurally cannot register as cached at all at page size 64, because no single page is fully matched. Whether that difference, by itself, changes anything downstream is covered later in this article.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NIXL 1.4.0: restores the context captured at registration</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Not a per-descriptor device pick -- a session-level cuCtxSetCurrent() on whichever thread calls in</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524000"/>
            <a:ext cx="5334000" cy="1428750"/>
          </a:xfrm>
          <a:prstGeom prst="roundRect">
            <a:avLst>
              <a:gd name="adj" fmla="val 4000"/>
            </a:avLst>
          </a:prstGeom>
          <a:solidFill>
            <a:srgbClr val="161A1E"/>
          </a:solid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0075" y="1638300"/>
            <a:ext cx="4762500" cy="20955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NIXL 1.1.0</a:t>
            </a:r>
          </a:p>
        </p:txBody>
      </p:sp>
      <p:sp>
        <p:nvSpPr>
          <p:cNvPr id="12" name="Rounded Rectangle 11"/>
          <p:cNvSpPr/>
          <p:nvPr/>
        </p:nvSpPr>
        <p:spPr>
          <a:xfrm>
            <a:off x="600075" y="1962150"/>
            <a:ext cx="4953000" cy="476250"/>
          </a:xfrm>
          <a:prstGeom prst="roundRect">
            <a:avLst>
              <a:gd name="adj" fmla="val 10000"/>
            </a:avLst>
          </a:prstGeom>
          <a:solidFill>
            <a:srgbClr val="102C48"/>
          </a:solidFill>
          <a:ln w="15875">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postXferDescriptors(): relies on the</a:t>
            </a:r>
          </a:p>
          <a:p>
            <a:pPr algn="ctr">
              <a:lnSpc>
                <a:spcPct val="122000"/>
              </a:lnSpc>
            </a:pPr>
            <a:r>
              <a:rPr sz="1300" b="1">
                <a:solidFill>
                  <a:srgbClr val="F5F5F8"/>
                </a:solidFill>
                <a:latin typeface="Amazon Ember"/>
                <a:ea typeface="メイリオ"/>
                <a:cs typeface="メイリオ"/>
              </a:rPr>
              <a:t>caller's own current device</a:t>
            </a:r>
          </a:p>
        </p:txBody>
      </p:sp>
      <p:sp>
        <p:nvSpPr>
          <p:cNvPr id="13" name="Rounded Rectangle 12"/>
          <p:cNvSpPr/>
          <p:nvPr/>
        </p:nvSpPr>
        <p:spPr>
          <a:xfrm>
            <a:off x="600075" y="2495550"/>
            <a:ext cx="4953000" cy="381000"/>
          </a:xfrm>
          <a:prstGeom prst="roundRect">
            <a:avLst>
              <a:gd name="adj" fmla="val 10000"/>
            </a:avLst>
          </a:prstGeom>
          <a:solidFill>
            <a:srgbClr val="501818"/>
          </a:solidFill>
          <a:ln w="15875">
            <a:solidFill>
              <a:srgbClr val="DC2658"/>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wrong device -&gt; handle export can fail</a:t>
            </a:r>
          </a:p>
        </p:txBody>
      </p:sp>
      <p:sp>
        <p:nvSpPr>
          <p:cNvPr id="14" name="Rounded Rectangle 13"/>
          <p:cNvSpPr/>
          <p:nvPr/>
        </p:nvSpPr>
        <p:spPr>
          <a:xfrm>
            <a:off x="6257925" y="1524000"/>
            <a:ext cx="5524500" cy="1428750"/>
          </a:xfrm>
          <a:prstGeom prst="roundRect">
            <a:avLst>
              <a:gd name="adj" fmla="val 4000"/>
            </a:avLst>
          </a:prstGeom>
          <a:solidFill>
            <a:srgbClr val="161A1E"/>
          </a:solidFill>
          <a:ln w="15875">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8425" y="1638300"/>
            <a:ext cx="4953000" cy="20955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NIXL 1.4.0 (default: use_cuda_addr_wa=true)</a:t>
            </a:r>
          </a:p>
        </p:txBody>
      </p:sp>
      <p:sp>
        <p:nvSpPr>
          <p:cNvPr id="16" name="Rounded Rectangle 15"/>
          <p:cNvSpPr/>
          <p:nvPr/>
        </p:nvSpPr>
        <p:spPr>
          <a:xfrm>
            <a:off x="6448425" y="1962150"/>
            <a:ext cx="5143500" cy="47625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postXferDescriptors(): restores the context</a:t>
            </a:r>
          </a:p>
          <a:p>
            <a:pPr algn="ctr">
              <a:lnSpc>
                <a:spcPct val="122000"/>
              </a:lnSpc>
            </a:pPr>
            <a:r>
              <a:rPr sz="1300" b="1">
                <a:solidFill>
                  <a:srgbClr val="F5F5F8"/>
                </a:solidFill>
                <a:latin typeface="Amazon Ember"/>
                <a:ea typeface="メイリオ"/>
                <a:cs typeface="メイリオ"/>
              </a:rPr>
              <a:t>saved at registerMem() time, on the caller</a:t>
            </a:r>
          </a:p>
        </p:txBody>
      </p:sp>
      <p:sp>
        <p:nvSpPr>
          <p:cNvPr id="17" name="Rounded Rectangle 16"/>
          <p:cNvSpPr/>
          <p:nvPr/>
        </p:nvSpPr>
        <p:spPr>
          <a:xfrm>
            <a:off x="6448425" y="2495550"/>
            <a:ext cx="5143500" cy="381000"/>
          </a:xfrm>
          <a:prstGeom prst="roundRect">
            <a:avLst>
              <a:gd name="adj" fmla="val 10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300" b="1">
                <a:solidFill>
                  <a:srgbClr val="F5F5F8"/>
                </a:solidFill>
                <a:latin typeface="Amazon Ember"/>
                <a:ea typeface="メイリオ"/>
                <a:cs typeface="メイリオ"/>
              </a:rPr>
              <a:t>handle export succeeds regardless of caller</a:t>
            </a:r>
          </a:p>
        </p:txBody>
      </p:sp>
      <p:sp>
        <p:nvSpPr>
          <p:cNvPr id="18" name="TextBox 17"/>
          <p:cNvSpPr txBox="1"/>
          <p:nvPr/>
        </p:nvSpPr>
        <p:spPr>
          <a:xfrm>
            <a:off x="409575" y="3238500"/>
            <a:ext cx="11372850" cy="22860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Source: cudaSetCtx() libfabric_backend.cpp#L284, called at #L1220 (PR #1581, commit c0a1102, merged 2026-06-26)</a:t>
            </a:r>
          </a:p>
        </p:txBody>
      </p:sp>
      <p:sp>
        <p:nvSpPr>
          <p:cNvPr id="19" name="Rounded Rectangle 18"/>
          <p:cNvSpPr/>
          <p:nvPr/>
        </p:nvSpPr>
        <p:spPr>
          <a:xfrm>
            <a:off x="409575" y="3810000"/>
            <a:ext cx="11372850" cy="8572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400" b="1">
                <a:solidFill>
                  <a:srgbClr val="96969E"/>
                </a:solidFill>
                <a:latin typeface="Amazon Ember"/>
                <a:ea typeface="メイリオ"/>
                <a:cs typeface="メイリオ"/>
              </a:rPr>
              <a:t>A second, per-descriptor cudaSetDevice() path exists at the same call site (#L1226 lambda, cudaSetDevice at #L1230), but returns early and never runs while use_cuda_addr_wa stays true (the default; no config in this investigation sets NIXL_DISABLE_CUDA_ADDR_WA). The session-level restore above is the one that actually runs.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28600"/>
            <a:ext cx="11372850" cy="400050"/>
          </a:xfrm>
          <a:prstGeom prst="rect">
            <a:avLst/>
          </a:prstGeom>
          <a:noFill/>
        </p:spPr>
        <p:txBody>
          <a:bodyPr wrap="square" lIns="0" rIns="0" tIns="0" bIns="0" anchor="ctr">
            <a:spAutoFit/>
          </a:bodyPr>
          <a:lstStyle/>
          <a:p>
            <a:pPr algn="l">
              <a:lnSpc>
                <a:spcPct val="122000"/>
              </a:lnSpc>
            </a:pPr>
            <a:r>
              <a:rPr sz="2800" b="1">
                <a:solidFill>
                  <a:srgbClr val="F5F5F8"/>
                </a:solidFill>
                <a:latin typeface="Amazon Ember"/>
                <a:ea typeface="メイリオ"/>
                <a:cs typeface="メイリオ"/>
              </a:rPr>
              <a:t>The context-restore fix removes the fallback across a full sweep</a:t>
            </a:r>
          </a:p>
        </p:txBody>
      </p:sp>
      <p:sp>
        <p:nvSpPr>
          <p:cNvPr id="3" name="TextBox 2"/>
          <p:cNvSpPr txBox="1"/>
          <p:nvPr/>
        </p:nvSpPr>
        <p:spPr>
          <a:xfrm>
            <a:off x="409575" y="628650"/>
            <a:ext cx="11372850" cy="228600"/>
          </a:xfrm>
          <a:prstGeom prst="rect">
            <a:avLst/>
          </a:prstGeom>
          <a:noFill/>
        </p:spPr>
        <p:txBody>
          <a:bodyPr wrap="square" lIns="0" rIns="0" tIns="0" bIns="0" anchor="ctr">
            <a:spAutoFit/>
          </a:bodyPr>
          <a:lstStyle/>
          <a:p>
            <a:pPr algn="l">
              <a:lnSpc>
                <a:spcPct val="122000"/>
              </a:lnSpc>
            </a:pPr>
            <a:r>
              <a:rPr sz="1500" b="0">
                <a:solidFill>
                  <a:srgbClr val="96969E"/>
                </a:solidFill>
                <a:latin typeface="Amazon Ember"/>
                <a:ea typeface="メイリオ"/>
                <a:cs typeface="メイリオ"/>
              </a:rPr>
              <a:t>3 seeds x 5 arrival rates, 0.25-4 req/s, SGLang left unpatched</a:t>
            </a:r>
          </a:p>
        </p:txBody>
      </p:sp>
      <p:sp>
        <p:nvSpPr>
          <p:cNvPr id="4" name="Rounded Rectangle 3"/>
          <p:cNvSpPr/>
          <p:nvPr/>
        </p:nvSpPr>
        <p:spPr>
          <a:xfrm>
            <a:off x="409575" y="914400"/>
            <a:ext cx="152400" cy="152400"/>
          </a:xfrm>
          <a:prstGeom prst="roundRect">
            <a:avLst>
              <a:gd name="adj" fmla="val 30000"/>
            </a:avLst>
          </a:prstGeom>
          <a:solidFill>
            <a:srgbClr val="24A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9125"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Software (app layer)</a:t>
            </a:r>
          </a:p>
        </p:txBody>
      </p:sp>
      <p:sp>
        <p:nvSpPr>
          <p:cNvPr id="6" name="Rounded Rectangle 5"/>
          <p:cNvSpPr/>
          <p:nvPr/>
        </p:nvSpPr>
        <p:spPr>
          <a:xfrm>
            <a:off x="3178886" y="914400"/>
            <a:ext cx="152400" cy="152400"/>
          </a:xfrm>
          <a:prstGeom prst="roundRect">
            <a:avLst>
              <a:gd name="adj" fmla="val 30000"/>
            </a:avLst>
          </a:prstGeom>
          <a:solidFill>
            <a:srgbClr val="289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8436"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Library / middleware</a:t>
            </a:r>
          </a:p>
        </p:txBody>
      </p:sp>
      <p:sp>
        <p:nvSpPr>
          <p:cNvPr id="8" name="Rounded Rectangle 7"/>
          <p:cNvSpPr/>
          <p:nvPr/>
        </p:nvSpPr>
        <p:spPr>
          <a:xfrm>
            <a:off x="5948197" y="914400"/>
            <a:ext cx="152400" cy="152400"/>
          </a:xfrm>
          <a:prstGeom prst="roundRect">
            <a:avLst>
              <a:gd name="adj" fmla="val 30000"/>
            </a:avLst>
          </a:prstGeom>
          <a:solidFill>
            <a:srgbClr val="FBD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57747" y="885825"/>
            <a:ext cx="2190750" cy="209550"/>
          </a:xfrm>
          <a:prstGeom prst="rect">
            <a:avLst/>
          </a:prstGeom>
          <a:noFill/>
        </p:spPr>
        <p:txBody>
          <a:bodyPr wrap="square" lIns="0" rIns="0" tIns="0" bIns="0" anchor="ctr">
            <a:spAutoFit/>
          </a:bodyPr>
          <a:lstStyle/>
          <a:p>
            <a:pPr algn="l">
              <a:lnSpc>
                <a:spcPct val="122000"/>
              </a:lnSpc>
            </a:pPr>
            <a:r>
              <a:rPr sz="1300" b="0">
                <a:solidFill>
                  <a:srgbClr val="96969E"/>
                </a:solidFill>
                <a:latin typeface="Amazon Ember"/>
                <a:ea typeface="メイリオ"/>
                <a:cs typeface="メイリオ"/>
              </a:rPr>
              <a:t>Hardware / caveat</a:t>
            </a:r>
          </a:p>
        </p:txBody>
      </p:sp>
      <p:sp>
        <p:nvSpPr>
          <p:cNvPr id="10" name="Rounded Rectangle 9"/>
          <p:cNvSpPr/>
          <p:nvPr/>
        </p:nvSpPr>
        <p:spPr>
          <a:xfrm>
            <a:off x="409575" y="1524000"/>
            <a:ext cx="5334000" cy="1428750"/>
          </a:xfrm>
          <a:prstGeom prst="roundRect">
            <a:avLst>
              <a:gd name="adj" fmla="val 4000"/>
            </a:avLst>
          </a:prstGeom>
          <a:solidFill>
            <a:srgbClr val="501818"/>
          </a:solidFill>
          <a:ln w="15875">
            <a:solidFill>
              <a:srgbClr val="DC2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0075" y="1638300"/>
            <a:ext cx="4762500" cy="20955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NIXL 1.1.0 baseline</a:t>
            </a:r>
          </a:p>
        </p:txBody>
      </p:sp>
      <p:sp>
        <p:nvSpPr>
          <p:cNvPr id="12" name="TextBox 11"/>
          <p:cNvSpPr txBox="1"/>
          <p:nvPr/>
        </p:nvSpPr>
        <p:spPr>
          <a:xfrm>
            <a:off x="600075" y="2190750"/>
            <a:ext cx="4762500" cy="571500"/>
          </a:xfrm>
          <a:prstGeom prst="rect">
            <a:avLst/>
          </a:prstGeom>
          <a:noFill/>
        </p:spPr>
        <p:txBody>
          <a:bodyPr wrap="square" lIns="0" rIns="0" tIns="0" bIns="0" anchor="ctr">
            <a:spAutoFit/>
          </a:bodyPr>
          <a:lstStyle/>
          <a:p>
            <a:pPr algn="l">
              <a:lnSpc>
                <a:spcPct val="122000"/>
              </a:lnSpc>
            </a:pPr>
            <a:r>
              <a:rPr sz="4400" b="1">
                <a:solidFill>
                  <a:srgbClr val="F5F5F8"/>
                </a:solidFill>
                <a:latin typeface="Amazon Ember"/>
                <a:ea typeface="メイリオ"/>
                <a:cs typeface="メイリオ"/>
              </a:rPr>
              <a:t>20,361</a:t>
            </a:r>
          </a:p>
        </p:txBody>
      </p:sp>
      <p:sp>
        <p:nvSpPr>
          <p:cNvPr id="13" name="TextBox 12"/>
          <p:cNvSpPr txBox="1"/>
          <p:nvPr/>
        </p:nvSpPr>
        <p:spPr>
          <a:xfrm>
            <a:off x="600075" y="2762250"/>
            <a:ext cx="4762500" cy="190500"/>
          </a:xfrm>
          <a:prstGeom prst="rect">
            <a:avLst/>
          </a:prstGeom>
          <a:noFill/>
        </p:spPr>
        <p:txBody>
          <a:bodyPr wrap="square" lIns="0" rIns="0" tIns="0" bIns="0" anchor="ctr">
            <a:spAutoFit/>
          </a:bodyPr>
          <a:lstStyle/>
          <a:p>
            <a:pPr algn="l">
              <a:lnSpc>
                <a:spcPct val="122000"/>
              </a:lnSpc>
            </a:pPr>
            <a:r>
              <a:rPr sz="1400" b="0">
                <a:solidFill>
                  <a:srgbClr val="96969E"/>
                </a:solidFill>
                <a:latin typeface="Amazon Ember"/>
                <a:ea typeface="メイリオ"/>
                <a:cs typeface="メイリオ"/>
              </a:rPr>
              <a:t>handle-export failures logged</a:t>
            </a:r>
          </a:p>
        </p:txBody>
      </p:sp>
      <p:sp>
        <p:nvSpPr>
          <p:cNvPr id="14" name="Rounded Rectangle 13"/>
          <p:cNvSpPr/>
          <p:nvPr/>
        </p:nvSpPr>
        <p:spPr>
          <a:xfrm>
            <a:off x="6257925" y="1524000"/>
            <a:ext cx="5524500" cy="1428750"/>
          </a:xfrm>
          <a:prstGeom prst="roundRect">
            <a:avLst>
              <a:gd name="adj" fmla="val 4000"/>
            </a:avLst>
          </a:prstGeom>
          <a:solidFill>
            <a:srgbClr val="124022"/>
          </a:solidFill>
          <a:ln w="15875">
            <a:solidFill>
              <a:srgbClr val="3BD1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8425" y="1638300"/>
            <a:ext cx="4953000" cy="20955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NIXL 1.4.0, same sweep</a:t>
            </a:r>
          </a:p>
        </p:txBody>
      </p:sp>
      <p:sp>
        <p:nvSpPr>
          <p:cNvPr id="16" name="TextBox 15"/>
          <p:cNvSpPr txBox="1"/>
          <p:nvPr/>
        </p:nvSpPr>
        <p:spPr>
          <a:xfrm>
            <a:off x="6448425" y="2190750"/>
            <a:ext cx="4953000" cy="571500"/>
          </a:xfrm>
          <a:prstGeom prst="rect">
            <a:avLst/>
          </a:prstGeom>
          <a:noFill/>
        </p:spPr>
        <p:txBody>
          <a:bodyPr wrap="square" lIns="0" rIns="0" tIns="0" bIns="0" anchor="ctr">
            <a:spAutoFit/>
          </a:bodyPr>
          <a:lstStyle/>
          <a:p>
            <a:pPr algn="l">
              <a:lnSpc>
                <a:spcPct val="122000"/>
              </a:lnSpc>
            </a:pPr>
            <a:r>
              <a:rPr sz="4400" b="1">
                <a:solidFill>
                  <a:srgbClr val="3BD16F"/>
                </a:solidFill>
                <a:latin typeface="Amazon Ember"/>
                <a:ea typeface="メイリオ"/>
                <a:cs typeface="メイリオ"/>
              </a:rPr>
              <a:t>0</a:t>
            </a:r>
          </a:p>
        </p:txBody>
      </p:sp>
      <p:sp>
        <p:nvSpPr>
          <p:cNvPr id="17" name="TextBox 16"/>
          <p:cNvSpPr txBox="1"/>
          <p:nvPr/>
        </p:nvSpPr>
        <p:spPr>
          <a:xfrm>
            <a:off x="6448425" y="2762250"/>
            <a:ext cx="4953000" cy="190500"/>
          </a:xfrm>
          <a:prstGeom prst="rect">
            <a:avLst/>
          </a:prstGeom>
          <a:noFill/>
        </p:spPr>
        <p:txBody>
          <a:bodyPr wrap="square" lIns="0" rIns="0" tIns="0" bIns="0" anchor="ctr">
            <a:spAutoFit/>
          </a:bodyPr>
          <a:lstStyle/>
          <a:p>
            <a:pPr algn="l">
              <a:lnSpc>
                <a:spcPct val="122000"/>
              </a:lnSpc>
            </a:pPr>
            <a:r>
              <a:rPr sz="1400" b="0">
                <a:solidFill>
                  <a:srgbClr val="96969E"/>
                </a:solidFill>
                <a:latin typeface="Amazon Ember"/>
                <a:ea typeface="メイリオ"/>
                <a:cs typeface="メイリオ"/>
              </a:rPr>
              <a:t>handle-export failures logged</a:t>
            </a:r>
          </a:p>
        </p:txBody>
      </p:sp>
      <p:sp>
        <p:nvSpPr>
          <p:cNvPr id="18" name="TextBox 17"/>
          <p:cNvSpPr txBox="1"/>
          <p:nvPr/>
        </p:nvSpPr>
        <p:spPr>
          <a:xfrm>
            <a:off x="409575" y="3238500"/>
            <a:ext cx="11372850" cy="228600"/>
          </a:xfrm>
          <a:prstGeom prst="rect">
            <a:avLst/>
          </a:prstGeom>
          <a:noFill/>
        </p:spPr>
        <p:txBody>
          <a:bodyPr wrap="square" lIns="0" rIns="0" tIns="0" bIns="0" anchor="ctr">
            <a:spAutoFit/>
          </a:bodyPr>
          <a:lstStyle/>
          <a:p>
            <a:pPr algn="l">
              <a:lnSpc>
                <a:spcPct val="122000"/>
              </a:lnSpc>
            </a:pPr>
            <a:r>
              <a:rPr sz="1600" b="1">
                <a:solidFill>
                  <a:srgbClr val="F5F5F8"/>
                </a:solidFill>
                <a:latin typeface="Amazon Ember"/>
                <a:ea typeface="メイリオ"/>
                <a:cs typeface="メイリオ"/>
              </a:rPr>
              <a:t>TTFT at 2 req/s, 3 seeds pooled, p50/p99</a:t>
            </a:r>
          </a:p>
        </p:txBody>
      </p:sp>
      <p:sp>
        <p:nvSpPr>
          <p:cNvPr id="19" name="TextBox 18"/>
          <p:cNvSpPr txBox="1"/>
          <p:nvPr/>
        </p:nvSpPr>
        <p:spPr>
          <a:xfrm>
            <a:off x="409575" y="3619500"/>
            <a:ext cx="3810000" cy="476250"/>
          </a:xfrm>
          <a:prstGeom prst="rect">
            <a:avLst/>
          </a:prstGeom>
          <a:noFill/>
        </p:spPr>
        <p:txBody>
          <a:bodyPr wrap="square" lIns="0" rIns="0" tIns="0" bIns="0" anchor="ctr">
            <a:spAutoFit/>
          </a:bodyPr>
          <a:lstStyle/>
          <a:p>
            <a:pPr algn="l">
              <a:lnSpc>
                <a:spcPct val="122000"/>
              </a:lnSpc>
            </a:pPr>
            <a:r>
              <a:rPr sz="1400" b="0">
                <a:solidFill>
                  <a:srgbClr val="F5F5F8"/>
                </a:solidFill>
                <a:latin typeface="Amazon Ember"/>
                <a:ea typeface="メイリオ"/>
                <a:cs typeface="メイリオ"/>
              </a:rPr>
              <a:t>NIXL 1.1.0 + SGLang 1-line patch</a:t>
            </a:r>
          </a:p>
        </p:txBody>
      </p:sp>
      <p:sp>
        <p:nvSpPr>
          <p:cNvPr id="20" name="TextBox 19"/>
          <p:cNvSpPr txBox="1"/>
          <p:nvPr/>
        </p:nvSpPr>
        <p:spPr>
          <a:xfrm>
            <a:off x="4381500" y="3619500"/>
            <a:ext cx="3619500" cy="476250"/>
          </a:xfrm>
          <a:prstGeom prst="rect">
            <a:avLst/>
          </a:prstGeom>
          <a:noFill/>
        </p:spPr>
        <p:txBody>
          <a:bodyPr wrap="square" lIns="0" rIns="0" tIns="0" bIns="0" anchor="ctr">
            <a:spAutoFit/>
          </a:bodyPr>
          <a:lstStyle/>
          <a:p>
            <a:pPr algn="l">
              <a:lnSpc>
                <a:spcPct val="122000"/>
              </a:lnSpc>
            </a:pPr>
            <a:r>
              <a:rPr sz="1500" b="1">
                <a:solidFill>
                  <a:srgbClr val="3BD16F"/>
                </a:solidFill>
                <a:latin typeface="Amazon Ember"/>
                <a:ea typeface="メイリオ"/>
                <a:cs typeface="メイリオ"/>
              </a:rPr>
              <a:t>p50 8,143 ms</a:t>
            </a:r>
          </a:p>
        </p:txBody>
      </p:sp>
      <p:sp>
        <p:nvSpPr>
          <p:cNvPr id="21" name="TextBox 20"/>
          <p:cNvSpPr txBox="1"/>
          <p:nvPr/>
        </p:nvSpPr>
        <p:spPr>
          <a:xfrm>
            <a:off x="7810500" y="3619500"/>
            <a:ext cx="3619500" cy="476250"/>
          </a:xfrm>
          <a:prstGeom prst="rect">
            <a:avLst/>
          </a:prstGeom>
          <a:noFill/>
        </p:spPr>
        <p:txBody>
          <a:bodyPr wrap="square" lIns="0" rIns="0" tIns="0" bIns="0" anchor="ctr">
            <a:spAutoFit/>
          </a:bodyPr>
          <a:lstStyle/>
          <a:p>
            <a:pPr algn="l">
              <a:lnSpc>
                <a:spcPct val="122000"/>
              </a:lnSpc>
            </a:pPr>
            <a:r>
              <a:rPr sz="1500" b="1">
                <a:solidFill>
                  <a:srgbClr val="3BD16F"/>
                </a:solidFill>
                <a:latin typeface="Amazon Ember"/>
                <a:ea typeface="メイリオ"/>
                <a:cs typeface="メイリオ"/>
              </a:rPr>
              <a:t>p99 19,582 ms</a:t>
            </a:r>
          </a:p>
        </p:txBody>
      </p:sp>
      <p:sp>
        <p:nvSpPr>
          <p:cNvPr id="22" name="TextBox 21"/>
          <p:cNvSpPr txBox="1"/>
          <p:nvPr/>
        </p:nvSpPr>
        <p:spPr>
          <a:xfrm>
            <a:off x="409575" y="4191000"/>
            <a:ext cx="3810000" cy="476250"/>
          </a:xfrm>
          <a:prstGeom prst="rect">
            <a:avLst/>
          </a:prstGeom>
          <a:noFill/>
        </p:spPr>
        <p:txBody>
          <a:bodyPr wrap="square" lIns="0" rIns="0" tIns="0" bIns="0" anchor="ctr">
            <a:spAutoFit/>
          </a:bodyPr>
          <a:lstStyle/>
          <a:p>
            <a:pPr algn="l">
              <a:lnSpc>
                <a:spcPct val="122000"/>
              </a:lnSpc>
            </a:pPr>
            <a:r>
              <a:rPr sz="1400" b="0">
                <a:solidFill>
                  <a:srgbClr val="F5F5F8"/>
                </a:solidFill>
                <a:latin typeface="Amazon Ember"/>
                <a:ea typeface="メイリオ"/>
                <a:cs typeface="メイリオ"/>
              </a:rPr>
              <a:t>NIXL 1.4.0 alone, SGLang unpatched</a:t>
            </a:r>
          </a:p>
        </p:txBody>
      </p:sp>
      <p:sp>
        <p:nvSpPr>
          <p:cNvPr id="23" name="TextBox 22"/>
          <p:cNvSpPr txBox="1"/>
          <p:nvPr/>
        </p:nvSpPr>
        <p:spPr>
          <a:xfrm>
            <a:off x="4381500" y="4191000"/>
            <a:ext cx="3619500" cy="476250"/>
          </a:xfrm>
          <a:prstGeom prst="rect">
            <a:avLst/>
          </a:prstGeom>
          <a:noFill/>
        </p:spPr>
        <p:txBody>
          <a:bodyPr wrap="square" lIns="0" rIns="0" tIns="0" bIns="0" anchor="ctr">
            <a:spAutoFit/>
          </a:bodyPr>
          <a:lstStyle/>
          <a:p>
            <a:pPr algn="l">
              <a:lnSpc>
                <a:spcPct val="122000"/>
              </a:lnSpc>
            </a:pPr>
            <a:r>
              <a:rPr sz="1500" b="1">
                <a:solidFill>
                  <a:srgbClr val="2896F0"/>
                </a:solidFill>
                <a:latin typeface="Amazon Ember"/>
                <a:ea typeface="メイリオ"/>
                <a:cs typeface="メイリオ"/>
              </a:rPr>
              <a:t>p50 8,050 ms</a:t>
            </a:r>
          </a:p>
        </p:txBody>
      </p:sp>
      <p:sp>
        <p:nvSpPr>
          <p:cNvPr id="24" name="TextBox 23"/>
          <p:cNvSpPr txBox="1"/>
          <p:nvPr/>
        </p:nvSpPr>
        <p:spPr>
          <a:xfrm>
            <a:off x="7810500" y="4191000"/>
            <a:ext cx="3619500" cy="476250"/>
          </a:xfrm>
          <a:prstGeom prst="rect">
            <a:avLst/>
          </a:prstGeom>
          <a:noFill/>
        </p:spPr>
        <p:txBody>
          <a:bodyPr wrap="square" lIns="0" rIns="0" tIns="0" bIns="0" anchor="ctr">
            <a:spAutoFit/>
          </a:bodyPr>
          <a:lstStyle/>
          <a:p>
            <a:pPr algn="l">
              <a:lnSpc>
                <a:spcPct val="122000"/>
              </a:lnSpc>
            </a:pPr>
            <a:r>
              <a:rPr sz="1500" b="1">
                <a:solidFill>
                  <a:srgbClr val="2896F0"/>
                </a:solidFill>
                <a:latin typeface="Amazon Ember"/>
                <a:ea typeface="メイリオ"/>
                <a:cs typeface="メイリオ"/>
              </a:rPr>
              <a:t>p99 19,843 ms</a:t>
            </a:r>
          </a:p>
        </p:txBody>
      </p:sp>
      <p:sp>
        <p:nvSpPr>
          <p:cNvPr id="25" name="Rounded Rectangle 24"/>
          <p:cNvSpPr/>
          <p:nvPr/>
        </p:nvSpPr>
        <p:spPr>
          <a:xfrm>
            <a:off x="409575" y="4953000"/>
            <a:ext cx="11372850" cy="666750"/>
          </a:xfrm>
          <a:prstGeom prst="roundRect">
            <a:avLst>
              <a:gd name="adj" fmla="val 20000"/>
            </a:avLst>
          </a:prstGeom>
          <a:noFill/>
          <a:ln w="15875">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19050" bIns="19050"/>
          <a:lstStyle/>
          <a:p>
            <a:pPr algn="ctr">
              <a:lnSpc>
                <a:spcPct val="122000"/>
              </a:lnSpc>
            </a:pPr>
            <a:r>
              <a:rPr sz="1500" b="1">
                <a:solidFill>
                  <a:srgbClr val="96969E"/>
                </a:solidFill>
                <a:latin typeface="Amazon Ember"/>
                <a:ea typeface="メイリオ"/>
                <a:cs typeface="メイリオ"/>
              </a:rPr>
              <a:t>Upgrading NIXL alone, with no change on the caller's side, reaches almost the same TTFT as patching the caller under NIXL 1.1.0 -- either fix removes the same fallback.</a:t>
            </a:r>
          </a:p>
        </p:txBody>
      </p:sp>
    </p:spTree>
  </p:cSld>
  <p:clrMapOvr>
    <a:masterClrMapping/>
  </p:clrMapOvr>
</p:sld>
</file>

<file path=ppt/theme/theme1.xml><?xml version="1.0" encoding="utf-8"?>
<a:theme xmlns:a="http://schemas.openxmlformats.org/drawingml/2006/main" name="AWS Confidential Dark">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75000"/>
          </a:schemeClr>
        </a:solidFill>
        <a:ln>
          <a:noFill/>
        </a:ln>
      </a:spPr>
      <a:bodyPr rtlCol="0" anchor="ctr"/>
      <a:lstStyle>
        <a:defPPr algn="ctr">
          <a:defRPr kumimoji="1" smtClean="0">
            <a:latin typeface="Amazon Ember Display" panose="020F0603020204020204" pitchFamily="34" charset="0"/>
            <a:ea typeface="メイリオ" panose="020B0604030504040204" pitchFamily="34" charset="-128"/>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smtClean="0">
            <a:latin typeface="Amazon Ember Display" panose="020F0603020204020204" pitchFamily="34" charset="0"/>
            <a:ea typeface="メイリオ" panose="020B0604030504040204" pitchFamily="34"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1027CB-BA99-4849-AD2B-D501A617C772}">
  <we:reference id="wa200001625" version="1.0.0.8" store="en-US" storeType="OMEX"/>
  <we:alternateReferences>
    <we:reference id="wa200001625" version="1.0.0.8" store="wa2000016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103425</TotalTime>
  <Words>1507</Words>
  <Application>Microsoft Macintosh PowerPoint</Application>
  <PresentationFormat>Widescreen</PresentationFormat>
  <Paragraphs>93</Paragraphs>
  <Slides>11</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Meiryo</vt:lpstr>
      <vt:lpstr>システムフォント（レギュラー）</vt:lpstr>
      <vt:lpstr>Amazon Ember</vt:lpstr>
      <vt:lpstr>Amazon Ember Display</vt:lpstr>
      <vt:lpstr>Amazon Ember Mono</vt:lpstr>
      <vt:lpstr>Arial</vt:lpstr>
      <vt:lpstr>AWS Confidential Dark</vt:lpstr>
      <vt:lpstr>PFN 様向けの取り組み状況</vt:lpstr>
      <vt:lpstr>PowerPoint Presentation</vt:lpstr>
      <vt:lpstr>PowerPoint Presentation</vt:lpstr>
      <vt:lpstr>PLaMo3 on Trainium</vt:lpstr>
      <vt:lpstr>PowerPoint Presentation</vt:lpstr>
      <vt:lpstr>PowerPoint Presentation</vt:lpstr>
      <vt:lpstr>Native PyTorch</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Microsoft Office User</dc:creator>
  <cp:lastModifiedBy>Akazawa, Toshinobu</cp:lastModifiedBy>
  <cp:revision>1088</cp:revision>
  <cp:lastPrinted>2026-06-30T17:34:27Z</cp:lastPrinted>
  <dcterms:created xsi:type="dcterms:W3CDTF">2022-07-18T16:28:56Z</dcterms:created>
  <dcterms:modified xsi:type="dcterms:W3CDTF">2026-06-30T17:42:46Z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2025-07-23T09:55:06Z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72dc440f-c268-47a9-b913-f18389bbf79d</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