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  <p:sldId id="262" r:id="rId6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What Engram may free up (the paper's view)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9575" y="723900"/>
            <a:ext cx="323850" cy="2095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962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95425" y="723900"/>
            <a:ext cx="323850" cy="20955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9547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GPT backbone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3275" y="723900"/>
            <a:ext cx="323850" cy="20955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332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Engram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575" y="112395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Without Engram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1485900"/>
            <a:ext cx="5562600" cy="4248150"/>
          </a:xfrm>
          <a:prstGeom prst="roundRect">
            <a:avLst>
              <a:gd name="adj" fmla="val 3000"/>
            </a:avLst>
          </a:prstGeom>
          <a:solidFill>
            <a:srgbClr val="161A1E"/>
          </a:solidFill>
          <a:ln w="1270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9825" y="112395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With Engram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9825" y="1485900"/>
            <a:ext cx="5562600" cy="4248150"/>
          </a:xfrm>
          <a:prstGeom prst="roundRect">
            <a:avLst>
              <a:gd name="adj" fmla="val 3000"/>
            </a:avLst>
          </a:prstGeom>
          <a:solidFill>
            <a:srgbClr val="161A1E"/>
          </a:solidFill>
          <a:ln w="1270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0575" y="1676400"/>
            <a:ext cx="4800600" cy="4191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tokens  "Alexander the Great"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90875" y="2095500"/>
            <a:ext cx="0" cy="3048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90575" y="2400300"/>
            <a:ext cx="480060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 the 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575" y="2857500"/>
            <a:ext cx="480060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 the 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575" y="3314700"/>
            <a:ext cx="480060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 the name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575" y="3771900"/>
            <a:ext cx="480060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the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575" y="4229100"/>
            <a:ext cx="480060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the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575" y="4686300"/>
            <a:ext cx="480060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the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00825" y="1676400"/>
            <a:ext cx="4800600" cy="4191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tokens  "Alexander the Great"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29800" y="2095500"/>
            <a:ext cx="0" cy="3048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58175" y="2400300"/>
            <a:ext cx="314325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 the name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8175" y="2857500"/>
            <a:ext cx="314325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 the name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8175" y="3314700"/>
            <a:ext cx="314325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the 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58175" y="3771900"/>
            <a:ext cx="314325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the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8175" y="4229100"/>
            <a:ext cx="314325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the context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58175" y="4686300"/>
            <a:ext cx="314325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the context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00825" y="2857500"/>
            <a:ext cx="1428750" cy="38100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table lookup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0" y="2095500"/>
            <a:ext cx="0" cy="762000"/>
          </a:xfrm>
          <a:prstGeom prst="line">
            <a:avLst/>
          </a:prstGeom>
          <a:ln w="25400">
            <a:solidFill>
              <a:srgbClr val="24A0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029575" y="3048000"/>
            <a:ext cx="228600" cy="0"/>
          </a:xfrm>
          <a:prstGeom prst="line">
            <a:avLst/>
          </a:prstGeom>
          <a:ln w="38100">
            <a:solidFill>
              <a:srgbClr val="24A0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90575" y="5219700"/>
            <a:ext cx="4800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6 blocks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8175" y="5219700"/>
            <a:ext cx="3143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same 6 blocks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575" y="58293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illustrative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Inside one Engram layer (this article's model)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9575" y="723900"/>
            <a:ext cx="323850" cy="2095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962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95425" y="723900"/>
            <a:ext cx="323850" cy="209550"/>
          </a:xfrm>
          <a:prstGeom prst="roundRect">
            <a:avLst>
              <a:gd name="adj" fmla="val 10000"/>
            </a:avLst>
          </a:prstGeom>
          <a:pattFill prst="dotGrid">
            <a:fgClr>
              <a:srgbClr val="87701A"/>
            </a:fgClr>
            <a:bgClr>
              <a:srgbClr val="50420E"/>
            </a:bgClr>
          </a:pattFill>
          <a:ln w="1905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9547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from token ids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10025" y="723900"/>
            <a:ext cx="323850" cy="20955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007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Engram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86375" y="723900"/>
            <a:ext cx="323850" cy="20955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642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GPT backbone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1428750"/>
            <a:ext cx="2381250" cy="819150"/>
          </a:xfrm>
          <a:prstGeom prst="roundRect">
            <a:avLst>
              <a:gd name="adj" fmla="val 10000"/>
            </a:avLst>
          </a:prstGeom>
          <a:pattFill prst="dotGrid">
            <a:fgClr>
              <a:srgbClr val="87701A"/>
            </a:fgClr>
            <a:bgClr>
              <a:srgbClr val="50420E"/>
            </a:bgClr>
          </a:pattFill>
          <a:ln w="1905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compress ids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50,257 → 32,962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1314450"/>
            <a:ext cx="285750" cy="285750"/>
          </a:xfrm>
          <a:prstGeom prst="ellipse">
            <a:avLst/>
          </a:prstGeom>
          <a:solidFill>
            <a:srgbClr val="F5F5F8"/>
          </a:solidFill>
          <a:ln w="127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0A0A0C"/>
                </a:solidFill>
                <a:latin typeface="Amazon Ember"/>
                <a:ea typeface="メイリオ"/>
                <a:cs typeface="メイリオ"/>
              </a:rP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52750" y="183832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29000" y="1428750"/>
            <a:ext cx="2381250" cy="819150"/>
          </a:xfrm>
          <a:prstGeom prst="roundRect">
            <a:avLst>
              <a:gd name="adj" fmla="val 10000"/>
            </a:avLst>
          </a:prstGeom>
          <a:pattFill prst="dotGrid">
            <a:fgClr>
              <a:srgbClr val="87701A"/>
            </a:fgClr>
            <a:bgClr>
              <a:srgbClr val="50420E"/>
            </a:bgClr>
          </a:pattFill>
          <a:ln w="1905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n-grams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2-gram, 3-gram</a:t>
            </a:r>
          </a:p>
        </p:txBody>
      </p:sp>
      <p:sp>
        <p:nvSpPr>
          <p:cNvPr id="15" name="Oval 14"/>
          <p:cNvSpPr/>
          <p:nvPr/>
        </p:nvSpPr>
        <p:spPr>
          <a:xfrm>
            <a:off x="3314700" y="1314450"/>
            <a:ext cx="285750" cy="285750"/>
          </a:xfrm>
          <a:prstGeom prst="ellipse">
            <a:avLst/>
          </a:prstGeom>
          <a:solidFill>
            <a:srgbClr val="F5F5F8"/>
          </a:solidFill>
          <a:ln w="127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0A0A0C"/>
                </a:solidFill>
                <a:latin typeface="Amazon Ember"/>
                <a:ea typeface="メイリオ"/>
                <a:cs typeface="メイリオ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10250" y="183832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1428750"/>
            <a:ext cx="2381250" cy="819150"/>
          </a:xfrm>
          <a:prstGeom prst="roundRect">
            <a:avLst>
              <a:gd name="adj" fmla="val 10000"/>
            </a:avLst>
          </a:prstGeom>
          <a:pattFill prst="dotGrid">
            <a:fgClr>
              <a:srgbClr val="87701A"/>
            </a:fgClr>
            <a:bgClr>
              <a:srgbClr val="50420E"/>
            </a:bgClr>
          </a:pattFill>
          <a:ln w="1905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hash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 + 8 = 16 row ids</a:t>
            </a:r>
          </a:p>
        </p:txBody>
      </p:sp>
      <p:sp>
        <p:nvSpPr>
          <p:cNvPr id="18" name="Oval 17"/>
          <p:cNvSpPr/>
          <p:nvPr/>
        </p:nvSpPr>
        <p:spPr>
          <a:xfrm>
            <a:off x="6172200" y="1314450"/>
            <a:ext cx="285750" cy="285750"/>
          </a:xfrm>
          <a:prstGeom prst="ellipse">
            <a:avLst/>
          </a:prstGeom>
          <a:solidFill>
            <a:srgbClr val="F5F5F8"/>
          </a:solidFill>
          <a:ln w="127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0A0A0C"/>
                </a:solidFill>
                <a:latin typeface="Amazon Ember"/>
                <a:ea typeface="メイリオ"/>
                <a:cs typeface="メイリオ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67750" y="183832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0" y="1428750"/>
            <a:ext cx="2381250" cy="81915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rows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 × 64 = 1,024</a:t>
            </a:r>
          </a:p>
        </p:txBody>
      </p:sp>
      <p:sp>
        <p:nvSpPr>
          <p:cNvPr id="21" name="Oval 20"/>
          <p:cNvSpPr/>
          <p:nvPr/>
        </p:nvSpPr>
        <p:spPr>
          <a:xfrm>
            <a:off x="9029700" y="1314450"/>
            <a:ext cx="285750" cy="285750"/>
          </a:xfrm>
          <a:prstGeom prst="ellipse">
            <a:avLst/>
          </a:prstGeom>
          <a:solidFill>
            <a:srgbClr val="F5F5F8"/>
          </a:solidFill>
          <a:ln w="127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0A0A0C"/>
                </a:solidFill>
                <a:latin typeface="Amazon Ember"/>
                <a:ea typeface="メイリオ"/>
                <a:cs typeface="メイリオ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2762250"/>
            <a:ext cx="2381250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 ids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762125" y="2247900"/>
            <a:ext cx="0" cy="5143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0" y="2762250"/>
            <a:ext cx="2381250" cy="66675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table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1,049,422 rows × 64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0334625" y="2247900"/>
            <a:ext cx="0" cy="514350"/>
          </a:xfrm>
          <a:prstGeom prst="line">
            <a:avLst/>
          </a:prstGeom>
          <a:ln w="25400">
            <a:solidFill>
              <a:srgbClr val="24A0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0" y="4000500"/>
            <a:ext cx="2381250" cy="81915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key, value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512 + 512</a:t>
            </a:r>
          </a:p>
        </p:txBody>
      </p:sp>
      <p:sp>
        <p:nvSpPr>
          <p:cNvPr id="27" name="Oval 26"/>
          <p:cNvSpPr/>
          <p:nvPr/>
        </p:nvSpPr>
        <p:spPr>
          <a:xfrm>
            <a:off x="9029700" y="3886200"/>
            <a:ext cx="285750" cy="285750"/>
          </a:xfrm>
          <a:prstGeom prst="ellipse">
            <a:avLst/>
          </a:prstGeom>
          <a:solidFill>
            <a:srgbClr val="F5F5F8"/>
          </a:solidFill>
          <a:ln w="127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0A0A0C"/>
                </a:solidFill>
                <a:latin typeface="Amazon Ember"/>
                <a:ea typeface="メイリオ"/>
                <a:cs typeface="メイリオ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6500" y="4000500"/>
            <a:ext cx="2381250" cy="81915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gate α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from h and key</a:t>
            </a:r>
          </a:p>
        </p:txBody>
      </p:sp>
      <p:sp>
        <p:nvSpPr>
          <p:cNvPr id="29" name="Oval 28"/>
          <p:cNvSpPr/>
          <p:nvPr/>
        </p:nvSpPr>
        <p:spPr>
          <a:xfrm>
            <a:off x="6172200" y="3886200"/>
            <a:ext cx="285750" cy="285750"/>
          </a:xfrm>
          <a:prstGeom prst="ellipse">
            <a:avLst/>
          </a:prstGeom>
          <a:solidFill>
            <a:srgbClr val="F5F5F8"/>
          </a:solidFill>
          <a:ln w="127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0A0A0C"/>
                </a:solidFill>
                <a:latin typeface="Amazon Ember"/>
                <a:ea typeface="メイリオ"/>
                <a:cs typeface="メイリオ"/>
              </a:rP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4000500"/>
            <a:ext cx="2381250" cy="81915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add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 + α · value</a:t>
            </a:r>
          </a:p>
        </p:txBody>
      </p:sp>
      <p:sp>
        <p:nvSpPr>
          <p:cNvPr id="31" name="Oval 30"/>
          <p:cNvSpPr/>
          <p:nvPr/>
        </p:nvSpPr>
        <p:spPr>
          <a:xfrm>
            <a:off x="3314700" y="3886200"/>
            <a:ext cx="285750" cy="285750"/>
          </a:xfrm>
          <a:prstGeom prst="ellipse">
            <a:avLst/>
          </a:prstGeom>
          <a:solidFill>
            <a:srgbClr val="F5F5F8"/>
          </a:solidFill>
          <a:ln w="127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0A0A0C"/>
                </a:solidFill>
                <a:latin typeface="Amazon Ember"/>
                <a:ea typeface="メイリオ"/>
                <a:cs typeface="メイリオ"/>
              </a:rPr>
              <a:t>7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525250" y="1838325"/>
            <a:ext cx="333375" cy="0"/>
          </a:xfrm>
          <a:prstGeom prst="line">
            <a:avLst/>
          </a:prstGeom>
          <a:ln w="25400">
            <a:solidFill>
              <a:srgbClr val="24A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858625" y="1838325"/>
            <a:ext cx="0" cy="2571750"/>
          </a:xfrm>
          <a:prstGeom prst="line">
            <a:avLst/>
          </a:prstGeom>
          <a:ln w="25400">
            <a:solidFill>
              <a:srgbClr val="24A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1525250" y="4410075"/>
            <a:ext cx="333375" cy="0"/>
          </a:xfrm>
          <a:prstGeom prst="line">
            <a:avLst/>
          </a:prstGeom>
          <a:ln w="25400">
            <a:solidFill>
              <a:srgbClr val="24A0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667750" y="441007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810250" y="441007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71500" y="4095750"/>
            <a:ext cx="2381250" cy="62865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block 1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2952750" y="441007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71500" y="5429250"/>
            <a:ext cx="2381250" cy="5715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block 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86500" y="5429250"/>
            <a:ext cx="2381250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hidden state h (512)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952750" y="5715000"/>
            <a:ext cx="33337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477125" y="4819650"/>
            <a:ext cx="0" cy="6096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667500" y="5143500"/>
            <a:ext cx="0" cy="28575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4619625" y="5143500"/>
            <a:ext cx="2047875" cy="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619625" y="4819650"/>
            <a:ext cx="0" cy="3238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71500" y="6191250"/>
            <a:ext cx="10953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1-3: token ids only, before block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Step 1: one id for case and leading-space variants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9575" y="723900"/>
            <a:ext cx="323850" cy="2095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962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95425" y="723900"/>
            <a:ext cx="323850" cy="209550"/>
          </a:xfrm>
          <a:prstGeom prst="roundRect">
            <a:avLst>
              <a:gd name="adj" fmla="val 10000"/>
            </a:avLst>
          </a:prstGeom>
          <a:pattFill prst="dotGrid">
            <a:fgClr>
              <a:srgbClr val="87701A"/>
            </a:fgClr>
            <a:bgClr>
              <a:srgbClr val="50420E"/>
            </a:bgClr>
          </a:pattFill>
          <a:ln w="1905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9547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from token ids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1524000"/>
            <a:ext cx="323850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"␣The"   token 383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00500" y="1828800"/>
            <a:ext cx="1333500" cy="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1828800"/>
            <a:ext cx="0" cy="131445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34000" y="3143250"/>
            <a:ext cx="762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62000" y="2400300"/>
            <a:ext cx="323850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"␣the"   token 262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00500" y="2705100"/>
            <a:ext cx="1333500" cy="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34000" y="2705100"/>
            <a:ext cx="0" cy="43815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34000" y="3143250"/>
            <a:ext cx="762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62000" y="3276600"/>
            <a:ext cx="323850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"The"   token 464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00500" y="3581400"/>
            <a:ext cx="1333500" cy="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334000" y="3143250"/>
            <a:ext cx="0" cy="43815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34000" y="3143250"/>
            <a:ext cx="762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62000" y="4152900"/>
            <a:ext cx="323850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"the"   token 1169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00500" y="4457700"/>
            <a:ext cx="1333500" cy="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334000" y="3143250"/>
            <a:ext cx="0" cy="131445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334000" y="3143250"/>
            <a:ext cx="762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96000" y="2838450"/>
            <a:ext cx="3048000" cy="609600"/>
          </a:xfrm>
          <a:prstGeom prst="roundRect">
            <a:avLst>
              <a:gd name="adj" fmla="val 10000"/>
            </a:avLst>
          </a:prstGeom>
          <a:pattFill prst="dotGrid">
            <a:fgClr>
              <a:srgbClr val="87701A"/>
            </a:fgClr>
            <a:bgClr>
              <a:srgbClr val="50420E"/>
            </a:bgClr>
          </a:pattFill>
          <a:ln w="1905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compressed id 231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5334000"/>
            <a:ext cx="1047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␣ = leading space.  50,257 tokens → 32,962 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Steps 2-4: the n-grams ending at " the" pick 16 rows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9575" y="723900"/>
            <a:ext cx="323850" cy="2095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962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95425" y="723900"/>
            <a:ext cx="323850" cy="209550"/>
          </a:xfrm>
          <a:prstGeom prst="roundRect">
            <a:avLst>
              <a:gd name="adj" fmla="val 10000"/>
            </a:avLst>
          </a:prstGeom>
          <a:pattFill prst="dotGrid">
            <a:fgClr>
              <a:srgbClr val="87701A"/>
            </a:fgClr>
            <a:bgClr>
              <a:srgbClr val="50420E"/>
            </a:bgClr>
          </a:pattFill>
          <a:ln w="1905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9547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from token ids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10025" y="723900"/>
            <a:ext cx="323850" cy="20955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007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Engram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1333500"/>
            <a:ext cx="1390650" cy="5143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866900"/>
            <a:ext cx="13906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id 556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333500"/>
            <a:ext cx="1390650" cy="5143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Alexander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866900"/>
            <a:ext cx="13906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id 7565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10000" y="1333500"/>
            <a:ext cx="1390650" cy="5143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3810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0" y="1866900"/>
            <a:ext cx="13906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id 231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0" y="1333500"/>
            <a:ext cx="1390650" cy="5143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next: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0" y="1066800"/>
            <a:ext cx="1390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2247900"/>
            <a:ext cx="4438650" cy="476250"/>
          </a:xfrm>
          <a:prstGeom prst="roundRect">
            <a:avLst>
              <a:gd name="adj" fmla="val 10000"/>
            </a:avLst>
          </a:prstGeom>
          <a:pattFill prst="dotGrid">
            <a:fgClr>
              <a:srgbClr val="87701A"/>
            </a:fgClr>
            <a:bgClr>
              <a:srgbClr val="50420E"/>
            </a:bgClr>
          </a:pattFill>
          <a:ln w="1905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3-gram  Only Alexander the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2895600"/>
            <a:ext cx="2914650" cy="476250"/>
          </a:xfrm>
          <a:prstGeom prst="roundRect">
            <a:avLst>
              <a:gd name="adj" fmla="val 10000"/>
            </a:avLst>
          </a:prstGeom>
          <a:pattFill prst="dotGrid">
            <a:fgClr>
              <a:srgbClr val="87701A"/>
            </a:fgClr>
            <a:bgClr>
              <a:srgbClr val="50420E"/>
            </a:bgClr>
          </a:pattFill>
          <a:ln w="1905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2-gram  Alexander the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6195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XOR of (id × odd multiplier) → one number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39000" y="1428750"/>
            <a:ext cx="4476750" cy="4286250"/>
          </a:xfrm>
          <a:prstGeom prst="roundRect">
            <a:avLst>
              <a:gd name="adj" fmla="val 3000"/>
            </a:avLst>
          </a:prstGeom>
          <a:solidFill>
            <a:srgbClr val="161A1E"/>
          </a:solidFill>
          <a:ln w="1270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9000" y="5257800"/>
            <a:ext cx="44767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 ranges, prime sizes 65,537 ... 65,651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9500" y="1676400"/>
            <a:ext cx="2000250" cy="285750"/>
          </a:xfrm>
          <a:prstGeom prst="roundRect">
            <a:avLst>
              <a:gd name="adj" fmla="val 20000"/>
            </a:avLst>
          </a:prstGeom>
          <a:pattFill prst="dotGrid">
            <a:fgClr>
              <a:srgbClr val="87701A"/>
            </a:fgClr>
            <a:bgClr>
              <a:srgbClr val="50420E"/>
            </a:bgClr>
          </a:patt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2-gram: 8 heads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25000" y="1676400"/>
            <a:ext cx="2047875" cy="285750"/>
          </a:xfrm>
          <a:prstGeom prst="roundRect">
            <a:avLst>
              <a:gd name="adj" fmla="val 20000"/>
            </a:avLst>
          </a:prstGeom>
          <a:pattFill prst="dotGrid">
            <a:fgClr>
              <a:srgbClr val="87701A"/>
            </a:fgClr>
            <a:bgClr>
              <a:srgbClr val="50420E"/>
            </a:bgClr>
          </a:patt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3-gram: 8 heads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29500" y="2038350"/>
            <a:ext cx="2000250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h0: row 28,481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5000" y="2038350"/>
            <a:ext cx="2047875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h0: row 50,523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29500" y="2286000"/>
            <a:ext cx="2000250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h1: row 44,042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5000" y="2286000"/>
            <a:ext cx="2047875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h1: row 43,514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533650"/>
            <a:ext cx="2000250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h2: row 30,922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25000" y="2533650"/>
            <a:ext cx="2047875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h2: row 48,875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29500" y="2781300"/>
            <a:ext cx="2000250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h3: row 61,096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25000" y="2781300"/>
            <a:ext cx="2047875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h3: row 13,539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29500" y="3028950"/>
            <a:ext cx="2000250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h4: row 35,305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25000" y="3028950"/>
            <a:ext cx="2047875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h4: row 35,234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29500" y="3276600"/>
            <a:ext cx="2000250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h5: row 12,384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25000" y="3276600"/>
            <a:ext cx="2047875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h5: row 52,272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29500" y="3524250"/>
            <a:ext cx="2000250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h6: row 34,790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25000" y="3524250"/>
            <a:ext cx="2047875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h6: row 1,325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29500" y="3771900"/>
            <a:ext cx="2000250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h7: row 25,524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25000" y="3771900"/>
            <a:ext cx="2047875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h7: row 64,750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200650" y="2486025"/>
            <a:ext cx="1657350" cy="0"/>
          </a:xfrm>
          <a:prstGeom prst="line">
            <a:avLst/>
          </a:prstGeom>
          <a:ln w="25400">
            <a:solidFill>
              <a:srgbClr val="FBD3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858000" y="1123950"/>
            <a:ext cx="0" cy="1362075"/>
          </a:xfrm>
          <a:prstGeom prst="line">
            <a:avLst/>
          </a:prstGeom>
          <a:ln w="25400">
            <a:solidFill>
              <a:srgbClr val="FBD3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58000" y="1123950"/>
            <a:ext cx="3686175" cy="0"/>
          </a:xfrm>
          <a:prstGeom prst="line">
            <a:avLst/>
          </a:prstGeom>
          <a:ln w="25400">
            <a:solidFill>
              <a:srgbClr val="FBD3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544175" y="1123950"/>
            <a:ext cx="0" cy="55245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200650" y="3133725"/>
            <a:ext cx="1847850" cy="0"/>
          </a:xfrm>
          <a:prstGeom prst="line">
            <a:avLst/>
          </a:prstGeom>
          <a:ln w="25400">
            <a:solidFill>
              <a:srgbClr val="FBD3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048500" y="1819275"/>
            <a:ext cx="0" cy="1314450"/>
          </a:xfrm>
          <a:prstGeom prst="line">
            <a:avLst/>
          </a:prstGeom>
          <a:ln w="25400">
            <a:solidFill>
              <a:srgbClr val="FBD3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048500" y="1819275"/>
            <a:ext cx="38100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334250" y="4076700"/>
            <a:ext cx="4286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each range: its own prime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20000" y="4533900"/>
            <a:ext cx="3714750" cy="53340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4. join 16 rows: e_t, 1,024 numbers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477375" y="4362450"/>
            <a:ext cx="0" cy="171450"/>
          </a:xfrm>
          <a:prstGeom prst="line">
            <a:avLst/>
          </a:prstGeom>
          <a:ln w="25400">
            <a:solidFill>
              <a:srgbClr val="24A0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62000" y="58293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seed 1337, row within each range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Steps 5-7: how much of the lookup to add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9575" y="723900"/>
            <a:ext cx="323850" cy="2095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962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95425" y="723900"/>
            <a:ext cx="323850" cy="20955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9547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Engram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71775" y="723900"/>
            <a:ext cx="323850" cy="20955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182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GPT backbone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1333500"/>
            <a:ext cx="1905000" cy="60960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e_t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1,024 numbers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7500" y="1333500"/>
            <a:ext cx="2095500" cy="60960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W_K, W_V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1,024 → 512 + 512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76500" y="1638300"/>
            <a:ext cx="381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24500" y="952500"/>
            <a:ext cx="2095500" cy="47625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value v_t (512)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24500" y="1905000"/>
            <a:ext cx="2095500" cy="47625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key k_t (512)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953000" y="1190625"/>
            <a:ext cx="571500" cy="3333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53000" y="1752600"/>
            <a:ext cx="571500" cy="39052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71500" y="3143250"/>
            <a:ext cx="190500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h_t from block 0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512 numbers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24500" y="3143250"/>
            <a:ext cx="2857500" cy="60960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score s_t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72250" y="2381250"/>
            <a:ext cx="0" cy="762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476500" y="3448050"/>
            <a:ext cx="3048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524500" y="4191000"/>
            <a:ext cx="2857500" cy="53340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gate α_t (0 to 1)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53250" y="3752850"/>
            <a:ext cx="0" cy="4381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524500" y="5334000"/>
            <a:ext cx="2857500" cy="60960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h_t + α_t · v_t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53250" y="4724400"/>
            <a:ext cx="0" cy="6096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20000" y="1190625"/>
            <a:ext cx="3619500" cy="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239500" y="1190625"/>
            <a:ext cx="0" cy="4448175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382000" y="5638800"/>
            <a:ext cx="2857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24000" y="3752850"/>
            <a:ext cx="0" cy="188595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524000" y="5638800"/>
            <a:ext cx="400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44000" y="6191250"/>
            <a:ext cx="2476500" cy="47625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block 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53250" y="5943600"/>
            <a:ext cx="0" cy="485775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53250" y="6429375"/>
            <a:ext cx="21907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905000" y="42862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 " the": α = 0.88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Where Engram sits in the 12-block GPT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9575" y="723900"/>
            <a:ext cx="323850" cy="2095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962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95425" y="723900"/>
            <a:ext cx="323850" cy="209550"/>
          </a:xfrm>
          <a:prstGeom prst="roundRect">
            <a:avLst>
              <a:gd name="adj" fmla="val 10000"/>
            </a:avLst>
          </a:prstGeom>
          <a:pattFill prst="dotGrid">
            <a:fgClr>
              <a:srgbClr val="87701A"/>
            </a:fgClr>
            <a:bgClr>
              <a:srgbClr val="50420E"/>
            </a:bgClr>
          </a:pattFill>
          <a:ln w="1905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9547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from token ids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10025" y="723900"/>
            <a:ext cx="323850" cy="20955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007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Engram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86375" y="723900"/>
            <a:ext cx="323850" cy="20955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642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GPT backbone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1333500"/>
            <a:ext cx="228600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 ids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05000" y="180975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62000" y="2095500"/>
            <a:ext cx="228600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embedding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05000" y="2476500"/>
            <a:ext cx="0" cy="1524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62000" y="2628900"/>
            <a:ext cx="228600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block 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05000" y="3009900"/>
            <a:ext cx="0" cy="1524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2000" y="3162300"/>
            <a:ext cx="2286000" cy="38100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Engram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05000" y="3543300"/>
            <a:ext cx="0" cy="1524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62000" y="3695700"/>
            <a:ext cx="228600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block 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05000" y="4076700"/>
            <a:ext cx="0" cy="1524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2000" y="4229100"/>
            <a:ext cx="228600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block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762500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5048250"/>
            <a:ext cx="228600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block 11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05000" y="5429250"/>
            <a:ext cx="0" cy="1524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62000" y="5581650"/>
            <a:ext cx="2286000" cy="3810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output head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3000" y="1333500"/>
            <a:ext cx="2857500" cy="476250"/>
          </a:xfrm>
          <a:prstGeom prst="roundRect">
            <a:avLst>
              <a:gd name="adj" fmla="val 10000"/>
            </a:avLst>
          </a:prstGeom>
          <a:pattFill prst="dotGrid">
            <a:fgClr>
              <a:srgbClr val="87701A"/>
            </a:fgClr>
            <a:bgClr>
              <a:srgbClr val="50420E"/>
            </a:bgClr>
          </a:pattFill>
          <a:ln w="1905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hash: 16 row ids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048000" y="1571625"/>
            <a:ext cx="190500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381750" y="1809750"/>
            <a:ext cx="0" cy="1543050"/>
          </a:xfrm>
          <a:prstGeom prst="line">
            <a:avLst/>
          </a:prstGeom>
          <a:ln w="25400">
            <a:solidFill>
              <a:srgbClr val="FBD3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3048000" y="3352800"/>
            <a:ext cx="333375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67500" y="2286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before block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38500" y="36195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before block 1 (2nd block)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training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1619250"/>
            <a:ext cx="2000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windows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2000250"/>
            <a:ext cx="2000250" cy="1047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128 × 512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09825" y="2524125"/>
            <a:ext cx="33337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743200" y="1619250"/>
            <a:ext cx="2000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000250"/>
            <a:ext cx="2000250" cy="1047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next-token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probabilities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43450" y="2524125"/>
            <a:ext cx="33337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76825" y="1619250"/>
            <a:ext cx="2000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6825" y="2000250"/>
            <a:ext cx="2000250" cy="1047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vs. the true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next token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77075" y="2524125"/>
            <a:ext cx="33337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10450" y="1619250"/>
            <a:ext cx="2000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gradient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10450" y="2000250"/>
            <a:ext cx="2000250" cy="1047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 each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10700" y="2524125"/>
            <a:ext cx="33337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744075" y="1619250"/>
            <a:ext cx="2000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update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44075" y="2000250"/>
            <a:ext cx="2000250" cy="1047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905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 weights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744200" y="3048000"/>
            <a:ext cx="0" cy="76200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743325" y="3810000"/>
            <a:ext cx="7000875" cy="0"/>
          </a:xfrm>
          <a:prstGeom prst="line">
            <a:avLst/>
          </a:prstGeom>
          <a:ln w="25400">
            <a:solidFill>
              <a:srgbClr val="F5F5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743325" y="3048000"/>
            <a:ext cx="0" cy="762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10000" y="39052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× 3,600 steps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backbone, with and without Engram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9575" y="723900"/>
            <a:ext cx="323850" cy="20955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962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GPT backbone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7425" y="723900"/>
            <a:ext cx="323850" cy="20955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7475" y="7048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A0A0A8"/>
                </a:solidFill>
                <a:latin typeface="Amazon Ember"/>
                <a:ea typeface="メイリオ"/>
                <a:cs typeface="メイリオ"/>
              </a:rPr>
              <a:t>Engram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575" y="11049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Trained without Engram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575" y="1466850"/>
            <a:ext cx="5562600" cy="4095750"/>
          </a:xfrm>
          <a:prstGeom prst="roundRect">
            <a:avLst>
              <a:gd name="adj" fmla="val 3000"/>
            </a:avLst>
          </a:prstGeom>
          <a:solidFill>
            <a:srgbClr val="161A1E"/>
          </a:solidFill>
          <a:ln w="1270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5325" y="1695450"/>
            <a:ext cx="4991100" cy="5334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starting weights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5325" y="2457450"/>
            <a:ext cx="4991100" cy="5334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batches, same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5325" y="3219450"/>
            <a:ext cx="4991100" cy="5334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236M tokens, AdamW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56769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about 63.8M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9825" y="11049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With Engram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9825" y="1466850"/>
            <a:ext cx="5562600" cy="4095750"/>
          </a:xfrm>
          <a:prstGeom prst="roundRect">
            <a:avLst>
              <a:gd name="adj" fmla="val 3000"/>
            </a:avLst>
          </a:prstGeom>
          <a:solidFill>
            <a:srgbClr val="161A1E"/>
          </a:solidFill>
          <a:ln w="12700">
            <a:solidFill>
              <a:srgbClr val="6E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05575" y="1695450"/>
            <a:ext cx="4991100" cy="5334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starting weights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05575" y="2457450"/>
            <a:ext cx="4991100" cy="5334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batches, same order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5575" y="3219450"/>
            <a:ext cx="4991100" cy="533400"/>
          </a:xfrm>
          <a:prstGeom prst="roundRect">
            <a:avLst>
              <a:gd name="adj" fmla="val 10000"/>
            </a:avLst>
          </a:prstGeom>
          <a:pattFill prst="pct25">
            <a:fgClr>
              <a:srgbClr val="184E7E"/>
            </a:fgClr>
            <a:bgClr>
              <a:srgbClr val="102C48"/>
            </a:bgClr>
          </a:patt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236M tokens, AdamW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05575" y="3981450"/>
            <a:ext cx="4991100" cy="53340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+ Engram: 68.2M weights (table 67.2M)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05575" y="4743450"/>
            <a:ext cx="4991100" cy="533400"/>
          </a:xfrm>
          <a:prstGeom prst="roundRect">
            <a:avLst>
              <a:gd name="adj" fmla="val 10000"/>
            </a:avLst>
          </a:prstGeom>
          <a:pattFill prst="wdUpDiag">
            <a:fgClr>
              <a:srgbClr val="185F2E"/>
            </a:fgClr>
            <a:bgClr>
              <a:srgbClr val="124022"/>
            </a:bgClr>
          </a:patt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table: Adam, 5 × backbone LR, no decay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9825" y="56769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about 132.0M weights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