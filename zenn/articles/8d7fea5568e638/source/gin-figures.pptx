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32" r:id="rId1"/>
  </p:sldMasterIdLst>
  <p:notesMasterIdLst>
    <p:notesMasterId r:id="rId13"/>
  </p:notesMasterIdLst>
  <p:handoutMasterIdLst>
    <p:handoutMasterId r:id="rId14"/>
  </p:handoutMasterIdLst>
  <p:sldIdLst>
    <p:sldId id="256" r:id="rId9"/>
    <p:sldId id="257" r:id="rId10"/>
    <p:sldId id="25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A15E724-AFC9-A4C0-CAB9-D6EC0C560360}" name="Khan, Kamran" initials="KK" userId="S::kjkhan@amazon.com::8c16a378-efd2-4586-a4a5-f0725abc41b4" providerId="AD"/>
  <p188:author id="{485EC9B9-D043-2072-5CDA-0E18DA86FA5A}" name="Lakhotia, Esha" initials="LE" userId="S::elakhoti@amazon.com::458df9ec-1ecb-4c08-9ab9-581bf4e2578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CE8F4"/>
    <a:srgbClr val="7F1EE7"/>
    <a:srgbClr val="000000"/>
    <a:srgbClr val="1D262F"/>
    <a:srgbClr val="1A0033"/>
    <a:srgbClr val="FFFFFF"/>
    <a:srgbClr val="FCFCFD"/>
    <a:srgbClr val="0000A3"/>
    <a:srgbClr val="B81EE7"/>
    <a:srgbClr val="5400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77" autoAdjust="0"/>
    <p:restoredTop sz="79852" autoAdjust="0"/>
  </p:normalViewPr>
  <p:slideViewPr>
    <p:cSldViewPr snapToGrid="0">
      <p:cViewPr varScale="1">
        <p:scale>
          <a:sx n="132" d="100"/>
          <a:sy n="132" d="100"/>
        </p:scale>
        <p:origin x="1152" y="176"/>
      </p:cViewPr>
      <p:guideLst>
        <p:guide orient="horz" pos="1296"/>
        <p:guide pos="3840"/>
      </p:guideLst>
    </p:cSldViewPr>
  </p:slideViewPr>
  <p:outlineViewPr>
    <p:cViewPr>
      <p:scale>
        <a:sx n="33" d="100"/>
        <a:sy n="33" d="100"/>
      </p:scale>
      <p:origin x="0" y="-4488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109" d="100"/>
          <a:sy n="109" d="100"/>
        </p:scale>
        <p:origin x="4040" y="1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>
                <a:latin typeface="Amazon Ember Display" panose="020F0603020204020204" pitchFamily="34" charset="0"/>
              </a:rPr>
              <a:pPr algn="ctr"/>
              <a:t>‹#›</a:t>
            </a:fld>
            <a:endParaRPr lang="en-US" sz="1000" dirty="0">
              <a:latin typeface="Amazon Ember Display" panose="020F06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 b="0" i="0">
                <a:latin typeface="Amazon Ember Display" panose="020F0603020204020204" pitchFamily="34" charset="0"/>
              </a:defRPr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b="0" i="0" kern="1200">
        <a:solidFill>
          <a:schemeClr val="tx1"/>
        </a:solidFill>
        <a:latin typeface="Amazon Ember Display" panose="020F0603020204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ide 1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DF3A4-5795-4C3E-A626-E8705501F6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7246" y="3418321"/>
            <a:ext cx="6460999" cy="923330"/>
          </a:xfrm>
          <a:prstGeom prst="rect">
            <a:avLst/>
          </a:prstGeom>
        </p:spPr>
        <p:txBody>
          <a:bodyPr wrap="square" anchor="t" anchorCtr="0"/>
          <a:lstStyle>
            <a:lvl1pPr algn="l">
              <a:defRPr sz="60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Enter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1914-560C-4D5C-AA3F-8A993D908E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9598" y="4366830"/>
            <a:ext cx="6460998" cy="584775"/>
          </a:xfrm>
          <a:prstGeom prst="rect">
            <a:avLst/>
          </a:prstGeom>
        </p:spPr>
        <p:txBody>
          <a:bodyPr wrap="square"/>
          <a:lstStyle>
            <a:lvl1pPr marL="0" indent="0" algn="l">
              <a:spcAft>
                <a:spcPts val="0"/>
              </a:spcAft>
              <a:buFont typeface="Arial" panose="020B0604020202020204" pitchFamily="34" charset="0"/>
              <a:buNone/>
              <a:defRPr sz="32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Enter subtitle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235E33B-41A5-4ACB-9AE6-2F3E7CAA442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598" y="5261981"/>
            <a:ext cx="3797302" cy="400110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2000" b="1" i="0" cap="none" spc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 (pronouns)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54CE4ED-4096-479A-AA41-A2286E854B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598" y="332014"/>
            <a:ext cx="6477002" cy="230832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0"/>
              </a:spcAft>
              <a:buNone/>
              <a:defRPr sz="1000" b="0" i="0" cap="all" spc="300" baseline="0">
                <a:solidFill>
                  <a:schemeClr val="tx2"/>
                </a:solidFill>
                <a:latin typeface="Amazon Ember Mono" panose="020B0509020204020204" pitchFamily="49" charset="0"/>
                <a:ea typeface="Amazon Ember Mono" panose="020B0509020204020204" pitchFamily="49" charset="0"/>
                <a:cs typeface="Amazon Ember Mono" panose="020B0509020204020204" pitchFamily="49" charset="0"/>
              </a:defRPr>
            </a:lvl1pPr>
          </a:lstStyle>
          <a:p>
            <a:pPr lvl="0"/>
            <a:r>
              <a:rPr lang="en-US" dirty="0"/>
              <a:t>Enter session ID if required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7D4CE88-F816-4273-A6C0-5D3F9D2E05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8" y="5674769"/>
            <a:ext cx="3797302" cy="584775"/>
          </a:xfrm>
          <a:prstGeom prst="rect">
            <a:avLst/>
          </a:prstGeom>
        </p:spPr>
        <p:txBody>
          <a:bodyPr wrap="square"/>
          <a:lstStyle>
            <a:lvl1pPr marL="0" indent="0">
              <a:spcAft>
                <a:spcPts val="300"/>
              </a:spcAft>
              <a:buNone/>
              <a:defRPr sz="1600" b="0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job title</a:t>
            </a:r>
            <a:br>
              <a:rPr lang="en-US" dirty="0"/>
            </a:br>
            <a:r>
              <a:rPr lang="en-US" dirty="0"/>
              <a:t>Speaker company</a:t>
            </a:r>
          </a:p>
        </p:txBody>
      </p:sp>
    </p:spTree>
    <p:extLst>
      <p:ext uri="{BB962C8B-B14F-4D97-AF65-F5344CB8AC3E}">
        <p14:creationId xmlns:p14="http://schemas.microsoft.com/office/powerpoint/2010/main" val="3116447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4464">
          <p15:clr>
            <a:srgbClr val="FBAE40"/>
          </p15:clr>
        </p15:guide>
        <p15:guide id="3" orient="horz" pos="2736">
          <p15:clr>
            <a:srgbClr val="FBAE40"/>
          </p15:clr>
        </p15:guide>
        <p15:guide id="4" orient="horz" pos="1272">
          <p15:clr>
            <a:srgbClr val="FBAE40"/>
          </p15:clr>
        </p15:guide>
        <p15:guide id="5" orient="horz" pos="17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750401-572B-4B45-BF07-5D528B05F8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9600" y="1377715"/>
            <a:ext cx="11247438" cy="3549690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  <a:lvl2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2pPr>
            <a:lvl3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3pPr>
            <a:lvl4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4pPr>
            <a:lvl5pPr marL="0" indent="0">
              <a:spcAft>
                <a:spcPts val="3000"/>
              </a:spcAft>
              <a:buNone/>
              <a:defRPr sz="2400" b="0" i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5pPr>
          </a:lstStyle>
          <a:p>
            <a:pPr lvl="0"/>
            <a:r>
              <a:rPr lang="en-US" dirty="0"/>
              <a:t>Enter high-level agenda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64188B27-D1F7-5699-25C7-360C2A3C7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93583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071E41DC-3AB2-33CA-0E29-26E2B0164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02146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adi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0C633D-6533-7A81-CB54-487A1ECE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828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6213DF-CEC6-4F46-9CD4-5ED4A416AF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7987" y="908050"/>
            <a:ext cx="11449049" cy="36933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0" i="0" cap="none" spc="0" baseline="0"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Enter subtitle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ADA10BAA-117E-4979-BFDE-E8E27E25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922509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840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2984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C31057A0-1AB3-C59E-241E-58D9A94D4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19982E9C-19F2-6D70-0138-2D7C09EA29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>
            <a:lvl1pPr marL="0" indent="0">
              <a:buNone/>
              <a:defRPr/>
            </a:lvl1pPr>
            <a:lvl2pPr marL="280800" indent="0">
              <a:buNone/>
              <a:defRPr/>
            </a:lvl2pPr>
            <a:lvl3pPr marL="622800" indent="0">
              <a:buNone/>
              <a:defRPr/>
            </a:lvl3pPr>
            <a:lvl4pPr marL="795600" indent="0">
              <a:buNone/>
              <a:defRPr/>
            </a:lvl4pPr>
            <a:lvl5pPr marL="968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1086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ullete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86EE66B-2848-D944-6D93-4D6603CDC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EC2E6AE7-4E53-3437-B370-670CC07A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578817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15E6F-C631-449B-B22F-53FD20C9E89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2718036"/>
            <a:ext cx="7823200" cy="1421928"/>
          </a:xfrm>
          <a:prstGeom prst="rect">
            <a:avLst/>
          </a:prstGeom>
        </p:spPr>
        <p:txBody>
          <a:bodyPr anchor="ctr" anchorCtr="0"/>
          <a:lstStyle>
            <a:lvl1pPr>
              <a:defRPr sz="4800" b="1" i="0" baseline="0">
                <a:solidFill>
                  <a:schemeClr val="tx2"/>
                </a:solidFill>
                <a:latin typeface="Amazon Ember Display" panose="020F0603020204020204" pitchFamily="34" charset="0"/>
                <a:ea typeface="メイリオ" panose="020B0604030504040204" pitchFamily="34" charset="-128"/>
                <a:cs typeface="Amazon Ember Display" panose="020F0603020204020204" pitchFamily="34" charset="0"/>
              </a:defRPr>
            </a:lvl1pPr>
          </a:lstStyle>
          <a:p>
            <a:r>
              <a:rPr lang="en-US" dirty="0"/>
              <a:t>Section layout: Enter section name here</a:t>
            </a:r>
          </a:p>
        </p:txBody>
      </p:sp>
    </p:spTree>
    <p:extLst>
      <p:ext uri="{BB962C8B-B14F-4D97-AF65-F5344CB8AC3E}">
        <p14:creationId xmlns:p14="http://schemas.microsoft.com/office/powerpoint/2010/main" val="349012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Op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1FFA190-394C-4586-A84A-BA2A677030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82D70F-F9C4-4C4C-A916-589EA4438C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393A1250-E885-4935-B98D-9C62E4E5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146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F7E9957-AB07-4CE6-BD9E-3631EF6ED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146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E064B62F-5416-46A2-BBC6-945C362C63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10125" y="3621643"/>
            <a:ext cx="1994088" cy="369332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20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BBE44B1-E140-4E35-AF0B-41A3CDA5CA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10125" y="3990975"/>
            <a:ext cx="1994088" cy="535531"/>
          </a:xfrm>
          <a:prstGeom prst="rect">
            <a:avLst/>
          </a:prstGeom>
        </p:spPr>
        <p:txBody>
          <a:bodyPr/>
          <a:lstStyle>
            <a:lvl1pPr marL="0" indent="0">
              <a:spcAft>
                <a:spcPts val="600"/>
              </a:spcAft>
              <a:buNone/>
              <a:defRPr sz="1600" b="0" i="0">
                <a:solidFill>
                  <a:schemeClr val="tx2"/>
                </a:solidFill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defRPr>
            </a:lvl1pPr>
          </a:lstStyle>
          <a:p>
            <a:pPr lvl="0"/>
            <a:r>
              <a:rPr lang="en-US" dirty="0"/>
              <a:t>Speaker contact info (email or socials)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BEBFA3-8C5E-448A-B03D-8DAAEBB407B0}"/>
              </a:ext>
            </a:extLst>
          </p:cNvPr>
          <p:cNvSpPr txBox="1"/>
          <p:nvPr userDrawn="1"/>
        </p:nvSpPr>
        <p:spPr>
          <a:xfrm>
            <a:off x="609599" y="2461211"/>
            <a:ext cx="6867525" cy="923330"/>
          </a:xfrm>
          <a:prstGeom prst="rect">
            <a:avLst/>
          </a:prstGeom>
          <a:noFill/>
        </p:spPr>
        <p:txBody>
          <a:bodyPr wrap="square" lIns="0" rtlCol="0">
            <a:noAutofit/>
          </a:bodyPr>
          <a:lstStyle/>
          <a:p>
            <a:r>
              <a:rPr lang="en-US" sz="4800" b="0" i="0" dirty="0">
                <a:solidFill>
                  <a:schemeClr val="tx2"/>
                </a:solidFill>
                <a:latin typeface="Amazon Ember Display" panose="020F0603020204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580401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9">
            <a:extLst>
              <a:ext uri="{FF2B5EF4-FFF2-40B4-BE49-F238E27FC236}">
                <a16:creationId xmlns:a16="http://schemas.microsoft.com/office/drawing/2014/main" id="{6BA9B5C3-6371-84F6-B7DD-E715A7747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301169"/>
            <a:ext cx="11449050" cy="60688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7F0757-0A35-2523-9D3C-4010D62C7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1376363"/>
            <a:ext cx="11449049" cy="2062103"/>
          </a:xfrm>
          <a:prstGeom prst="rect">
            <a:avLst/>
          </a:prstGeom>
        </p:spPr>
        <p:txBody>
          <a:bodyPr vert="horz" wrap="square" lIns="0" tIns="45720" rIns="0" bIns="45720" rtlCol="0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74855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9" r:id="rId2"/>
    <p:sldLayoutId id="2147483742" r:id="rId3"/>
    <p:sldLayoutId id="2147483744" r:id="rId4"/>
    <p:sldLayoutId id="2147483746" r:id="rId5"/>
    <p:sldLayoutId id="2147483747" r:id="rId6"/>
    <p:sldLayoutId id="2147483748" r:id="rId7"/>
    <p:sldLayoutId id="2147483749" r:id="rId8"/>
    <p:sldLayoutId id="2147483772" r:id="rId9"/>
    <p:sldLayoutId id="2147483780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</p:titleStyle>
    <p:bodyStyle>
      <a:lvl1pPr marL="3492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1pPr>
      <a:lvl2pPr marL="630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-"/>
        <a:defRPr sz="24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2pPr>
      <a:lvl3pPr marL="9720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システムフォント（レギュラー）"/>
        <a:buChar char="&gt;"/>
        <a:defRPr sz="20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3pPr>
      <a:lvl4pPr marL="11448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4pPr>
      <a:lvl5pPr marL="1317600" indent="-3492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b="0" i="0" kern="1200" baseline="0">
          <a:solidFill>
            <a:schemeClr val="tx1"/>
          </a:solidFill>
          <a:latin typeface="Amazon Ember Display" panose="020F0603020204020204" pitchFamily="34" charset="0"/>
          <a:ea typeface="メイリオ" panose="020B0604030504040204" pitchFamily="34" charset="-128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06" userDrawn="1">
          <p15:clr>
            <a:srgbClr val="F26B43"/>
          </p15:clr>
        </p15:guide>
        <p15:guide id="3" pos="257" userDrawn="1">
          <p15:clr>
            <a:srgbClr val="F26B43"/>
          </p15:clr>
        </p15:guide>
        <p15:guide id="4" pos="7469" userDrawn="1">
          <p15:clr>
            <a:srgbClr val="F26B43"/>
          </p15:clr>
        </p15:guide>
        <p15:guide id="5" orient="horz" pos="187" userDrawn="1">
          <p15:clr>
            <a:srgbClr val="F26B43"/>
          </p15:clr>
        </p15:guide>
        <p15:guide id="6" orient="horz" pos="572" userDrawn="1">
          <p15:clr>
            <a:srgbClr val="F26B43"/>
          </p15:clr>
        </p15:guide>
        <p15:guide id="7" orient="horz" pos="8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GIN: kernel, backend,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GPU code.  Blue: CPU on the path.  Yellow: network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9575" y="1143000"/>
            <a:ext cx="11372850" cy="1047750"/>
          </a:xfrm>
          <a:prstGeom prst="roundRect">
            <a:avLst>
              <a:gd name="adj" fmla="val 4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75" y="12192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CUDA 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75" y="1504950"/>
            <a:ext cx="1095375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Device GIN API (ncclGin): put / get / signal / flush / wait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9575" y="2762250"/>
            <a:ext cx="11372850" cy="19050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0075" y="28194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9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GIN backend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5325" y="3143250"/>
            <a:ext cx="3429000" cy="1238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GDAKI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WQE + doorbell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IB / RoCE, ConnectX-6 Dx+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1975" y="3143250"/>
            <a:ext cx="3429000" cy="123825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Proxy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64-byte descriptor, CPU proxy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any RDMA NIC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8625" y="3143250"/>
            <a:ext cx="3448050" cy="123825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GDA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WQE + doorbell</a:t>
            </a:r>
          </a:p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EFA, NCCL 2.31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09825" y="2190750"/>
            <a:ext cx="0" cy="952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6475" y="2190750"/>
            <a:ext cx="0" cy="95250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772650" y="2190750"/>
            <a:ext cx="0" cy="9525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409825" y="4381500"/>
            <a:ext cx="0" cy="1181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86475" y="4381500"/>
            <a:ext cx="0" cy="1181100"/>
          </a:xfrm>
          <a:prstGeom prst="line">
            <a:avLst/>
          </a:prstGeom>
          <a:ln w="25400">
            <a:solidFill>
              <a:srgbClr val="2896F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72650" y="4381500"/>
            <a:ext cx="0" cy="118110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9575" y="5562600"/>
            <a:ext cx="11372850" cy="666750"/>
          </a:xfrm>
          <a:prstGeom prst="roundRect">
            <a:avLst>
              <a:gd name="adj" fmla="val 8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Network: InfiniBand / RoCE / 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Round-trip latency for 4-128 byte messages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arXiv:2511.15076: put with signal ping-pong, two H100 GPUs, NCCL 2.28.  Lower is faster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600200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 GIN GDAKI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67075" y="1428750"/>
            <a:ext cx="5217414" cy="666750"/>
          </a:xfrm>
          <a:prstGeom prst="roundRect">
            <a:avLst>
              <a:gd name="adj" fmla="val 6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8789" y="1600200"/>
            <a:ext cx="152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16.7 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9575" y="260032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 GIN Proxy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7075" y="2428875"/>
            <a:ext cx="5623560" cy="666750"/>
          </a:xfrm>
          <a:prstGeom prst="roundRect">
            <a:avLst>
              <a:gd name="adj" fmla="val 6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4935" y="2600325"/>
            <a:ext cx="152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18.0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" y="3600450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NVSHMEM IBRC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7075" y="3429000"/>
            <a:ext cx="4998720" cy="66675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0095" y="3600450"/>
            <a:ext cx="152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16.0 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9575" y="4600575"/>
            <a:ext cx="2857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NVSHMEM IBGDA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67075" y="4429125"/>
            <a:ext cx="7591806" cy="666750"/>
          </a:xfrm>
          <a:prstGeom prst="roundRect">
            <a:avLst>
              <a:gd name="adj" fmla="val 6000"/>
            </a:avLst>
          </a:prstGeom>
          <a:solidFill>
            <a:srgbClr val="343840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3181" y="4600575"/>
            <a:ext cx="1524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24.3 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" y="5619750"/>
            <a:ext cx="11334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GIN GDAKI (GPU path).  Blue: GIN Proxy (CPU on the path).  Grey: NVSHMEM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9575" y="247650"/>
            <a:ext cx="11334750" cy="438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30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GIN on AWS EFA: proxy path and EFA GDA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9575" y="685800"/>
            <a:ext cx="113347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Green: GPU.  Blue: CPU on the path.  Yellow: 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957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GIN proxy (aws-ofi-nccl)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957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CPU proxy thread issues 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9575" y="1676400"/>
            <a:ext cx="5562600" cy="2857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9825" y="1066800"/>
            <a:ext cx="55626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NCCL_GIN_TYPE_EFA_GDA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9825" y="1352550"/>
            <a:ext cx="5562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0">
                <a:solidFill>
                  <a:srgbClr val="96969E"/>
                </a:solidFill>
                <a:latin typeface="Amazon Ember"/>
                <a:ea typeface="メイリオ"/>
                <a:cs typeface="メイリオ"/>
              </a:rPr>
              <a:t>GPU kernel issues Put / Signal / Flush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9825" y="1676400"/>
            <a:ext cx="5562600" cy="2857500"/>
          </a:xfrm>
          <a:prstGeom prst="roundRect">
            <a:avLst>
              <a:gd name="adj" fmla="val 4000"/>
            </a:avLst>
          </a:prstGeom>
          <a:solidFill>
            <a:srgbClr val="161A1E"/>
          </a:solidFill>
          <a:ln w="15875">
            <a:solidFill>
              <a:srgbClr val="46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0575" y="1866900"/>
            <a:ext cx="4800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kernel (ncclGin)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90875" y="240030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0575" y="2686050"/>
            <a:ext cx="4800600" cy="533400"/>
          </a:xfrm>
          <a:prstGeom prst="roundRect">
            <a:avLst>
              <a:gd name="adj" fmla="val 10000"/>
            </a:avLst>
          </a:prstGeom>
          <a:solidFill>
            <a:srgbClr val="102C48"/>
          </a:solidFill>
          <a:ln w="15875">
            <a:solidFill>
              <a:srgbClr val="289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CPU proxy -&gt; libfabric (efa)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90875" y="32194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0575" y="3505200"/>
            <a:ext cx="4800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(SRD)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00825" y="1866900"/>
            <a:ext cx="4800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GPU kernel (ncclGin)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001125" y="240030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600825" y="2686050"/>
            <a:ext cx="4800600" cy="533400"/>
          </a:xfrm>
          <a:prstGeom prst="roundRect">
            <a:avLst>
              <a:gd name="adj" fmla="val 10000"/>
            </a:avLst>
          </a:prstGeom>
          <a:solidFill>
            <a:srgbClr val="124022"/>
          </a:solidFill>
          <a:ln w="15875">
            <a:solidFill>
              <a:srgbClr val="24A0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efa-dp-direct (inside NCCL)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01125" y="3219450"/>
            <a:ext cx="0" cy="285750"/>
          </a:xfrm>
          <a:prstGeom prst="line">
            <a:avLst/>
          </a:prstGeom>
          <a:ln w="25400">
            <a:solidFill>
              <a:srgbClr val="F5F5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600825" y="3505200"/>
            <a:ext cx="4800600" cy="533400"/>
          </a:xfrm>
          <a:prstGeom prst="roundRect">
            <a:avLst>
              <a:gd name="adj" fmla="val 10000"/>
            </a:avLst>
          </a:prstGeom>
          <a:solidFill>
            <a:srgbClr val="50420E"/>
          </a:solidFill>
          <a:ln w="15875">
            <a:solidFill>
              <a:srgbClr val="FBD3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9050" rIns="19050" tIns="19050" bIns="19050"/>
          <a:lstStyle/>
          <a:p>
            <a:pPr algn="ctr">
              <a:lnSpc>
                <a:spcPct val="122000"/>
              </a:lnSpc>
            </a:pPr>
            <a:r>
              <a:rPr sz="1500" b="1">
                <a:solidFill>
                  <a:srgbClr val="F5F5F8"/>
                </a:solidFill>
                <a:latin typeface="Amazon Ember"/>
                <a:ea typeface="メイリオ"/>
                <a:cs typeface="メイリオ"/>
              </a:rPr>
              <a:t>EFA (SRD)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Confidential Dark">
  <a:themeElements>
    <a:clrScheme name="AWS 2024">
      <a:dk1>
        <a:srgbClr val="000000"/>
      </a:dk1>
      <a:lt1>
        <a:srgbClr val="FFFFFF"/>
      </a:lt1>
      <a:dk2>
        <a:srgbClr val="161D26"/>
      </a:dk2>
      <a:lt2>
        <a:srgbClr val="F3F3F7"/>
      </a:lt2>
      <a:accent1>
        <a:srgbClr val="41B3FF"/>
      </a:accent1>
      <a:accent2>
        <a:srgbClr val="AD5CFF"/>
      </a:accent2>
      <a:accent3>
        <a:srgbClr val="00E500"/>
      </a:accent3>
      <a:accent4>
        <a:srgbClr val="FF5C85"/>
      </a:accent4>
      <a:accent5>
        <a:srgbClr val="FF693C"/>
      </a:accent5>
      <a:accent6>
        <a:srgbClr val="FBD332"/>
      </a:accent6>
      <a:hlink>
        <a:srgbClr val="41B1E8"/>
      </a:hlink>
      <a:folHlink>
        <a:srgbClr val="41B1E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>
            <a:lumMod val="75000"/>
          </a:schemeClr>
        </a:solidFill>
        <a:ln>
          <a:noFill/>
        </a:ln>
      </a:spPr>
      <a:bodyPr rtlCol="0" anchor="ctr"/>
      <a:lstStyle>
        <a:defPPr algn="ctr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kumimoji="1" smtClean="0">
            <a:latin typeface="Amazon Ember Display" panose="020F0603020204020204" pitchFamily="34" charset="0"/>
            <a:ea typeface="メイリオ" panose="020B0604030504040204" pitchFamily="34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ne Brand 2022 Dark">
      <a:dk1>
        <a:srgbClr val="000000"/>
      </a:dk1>
      <a:lt1>
        <a:sysClr val="window" lastClr="FFFFFF"/>
      </a:lt1>
      <a:dk2>
        <a:srgbClr val="232F3E"/>
      </a:dk2>
      <a:lt2>
        <a:srgbClr val="F1F3F3"/>
      </a:lt2>
      <a:accent1>
        <a:srgbClr val="FF8500"/>
      </a:accent1>
      <a:accent2>
        <a:srgbClr val="7C59ED"/>
      </a:accent2>
      <a:accent3>
        <a:srgbClr val="38EF7D"/>
      </a:accent3>
      <a:accent4>
        <a:srgbClr val="F46DBA"/>
      </a:accent4>
      <a:accent5>
        <a:srgbClr val="9FFCEA"/>
      </a:accent5>
      <a:accent6>
        <a:srgbClr val="FBD8BF"/>
      </a:accent6>
      <a:hlink>
        <a:srgbClr val="41B1E8"/>
      </a:hlink>
      <a:folHlink>
        <a:srgbClr val="41B1E8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1027CB-BA99-4849-AD2B-D501A617C772}">
  <we:reference id="wa200001625" version="1.0.0.8" store="en-US" storeType="OMEX"/>
  <we:alternateReferences>
    <we:reference id="wa200001625" version="1.0.0.8" store="wa20000162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103425</TotalTime>
  <Words>1507</Words>
  <Application>Microsoft Macintosh PowerPoint</Application>
  <PresentationFormat>Widescreen</PresentationFormat>
  <Paragraphs>93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Meiryo</vt:lpstr>
      <vt:lpstr>システムフォント（レギュラー）</vt:lpstr>
      <vt:lpstr>Amazon Ember</vt:lpstr>
      <vt:lpstr>Amazon Ember Display</vt:lpstr>
      <vt:lpstr>Amazon Ember Mono</vt:lpstr>
      <vt:lpstr>Arial</vt:lpstr>
      <vt:lpstr>AWS Confidential Dark</vt:lpstr>
      <vt:lpstr>PFN 様向けの取り組み状況</vt:lpstr>
      <vt:lpstr>PowerPoint Presentation</vt:lpstr>
      <vt:lpstr>PowerPoint Presentation</vt:lpstr>
      <vt:lpstr>PLaMo3 on Trainium</vt:lpstr>
      <vt:lpstr>PowerPoint Presentation</vt:lpstr>
      <vt:lpstr>PowerPoint Presentation</vt:lpstr>
      <vt:lpstr>Native PyTorch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template includes</dc:title>
  <dc:creator>Microsoft Office User</dc:creator>
  <cp:lastModifiedBy>Akazawa, Toshinobu</cp:lastModifiedBy>
  <cp:revision>1088</cp:revision>
  <cp:lastPrinted>2026-06-30T17:34:27Z</cp:lastPrinted>
  <dcterms:created xsi:type="dcterms:W3CDTF">2022-07-18T16:28:56Z</dcterms:created>
  <dcterms:modified xsi:type="dcterms:W3CDTF">2026-06-30T17:42:46Z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2025-07-23T09:55:06Z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72dc440f-c268-47a9-b913-f18389bbf79d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