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lookup address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input.  Green: GPU compute.  Pink: the address.  Yellow: memory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(conditional computation)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expert ids from the hidden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76400"/>
            <a:ext cx="556260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982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Engram (conditional memory)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982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row ids from the token ids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9825" y="1676400"/>
            <a:ext cx="556260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575" y="18669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 "Great"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90875" y="23431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0575" y="25717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layers before layer 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90875" y="3048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0575" y="32766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hidden state of "Great" -&gt; router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90875" y="37528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0575" y="39814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#17, #203, ... (6 of 384)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90875" y="44577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0575" y="46863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(FFN)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75" y="5257800"/>
            <a:ext cx="4800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address known only when layer l runs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0825" y="18669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"Alexander the Great"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1125" y="23431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00825" y="25717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hash "the Great", "Alexander the Great"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1125" y="30480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600825" y="32766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1E2E"/>
          </a:solidFill>
          <a:ln w="15875">
            <a:solidFill>
              <a:srgbClr val="FF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rows 4,112,907, 7,340,551, ...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01125" y="375285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00825" y="398145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embedding table rows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001125" y="4457700"/>
            <a:ext cx="0" cy="2286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00825" y="4686300"/>
            <a:ext cx="48006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gate with h, add to residual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0825" y="5257800"/>
            <a:ext cx="4800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address known before the forward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Gathering rows from a table split across GPUs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reader GPU.  Blue: owner GPU works.  Grey: owner GPU idle.  Pink: row ids.  Yellow: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562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all_reduce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35623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V4.1 reference inference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76400"/>
            <a:ext cx="35623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4825" y="1066800"/>
            <a:ext cx="3562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All-to-All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4825" y="1352550"/>
            <a:ext cx="35623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paper,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4825" y="1676400"/>
            <a:ext cx="35623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075" y="1066800"/>
            <a:ext cx="3562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075" y="1352550"/>
            <a:ext cx="35623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DeepEP Engram (experimental)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0075" y="1676400"/>
            <a:ext cx="35623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5325" y="1905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0: looks up all ids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rows it does not own =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5325" y="4191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1: looks up all ids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rows it does not own = 0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114300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0975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00250" y="3267075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partial results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summed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00575" y="1905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0: sends row ids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00575" y="4191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1: reads its rows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sends them back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4000" y="2819400"/>
            <a:ext cx="0" cy="1371600"/>
          </a:xfrm>
          <a:prstGeom prst="line">
            <a:avLst/>
          </a:prstGeom>
          <a:ln w="38100">
            <a:solidFill>
              <a:srgbClr val="FF78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10075" y="3267075"/>
            <a:ext cx="809625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FF78A0"/>
                </a:solidFill>
                <a:latin typeface="Amazon Ember"/>
                <a:ea typeface="メイリオ"/>
                <a:cs typeface="メイリオ"/>
              </a:rPr>
              <a:t>row ids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5800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00875" y="3238500"/>
            <a:ext cx="1333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5825" y="1905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0: get(row offset)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flush_async, wait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5825" y="4191000"/>
            <a:ext cx="29908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rank 1: GPU not involved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NIC reads its storage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0763250" y="2819400"/>
            <a:ext cx="0" cy="1371600"/>
          </a:xfrm>
          <a:prstGeom prst="line">
            <a:avLst/>
          </a:prstGeom>
          <a:ln w="381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06125" y="3238500"/>
            <a:ext cx="95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Two kinds of sparsity per token (DeepSeek-V4.1-Flash)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used for this token (positions illustrative).  Grey: not used.  Yellow: Engram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layer: sparse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982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Engram layer 1: sparse memory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428750"/>
            <a:ext cx="5562600" cy="3619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9825" y="1428750"/>
            <a:ext cx="5562600" cy="3619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00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39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858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77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097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716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335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954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574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193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812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431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051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8670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289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908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528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147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385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0005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24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43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62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6482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101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9720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3397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29590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57825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19750" y="16192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000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20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239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858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2477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4097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716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7335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8954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574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2193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3812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5431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7051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8670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0289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1908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528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5147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6766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8385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0005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624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243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62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6482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8101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9720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13397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29590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457825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619750" y="18288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000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620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239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858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2477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097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5716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7335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8954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0574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193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3812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25431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7051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8670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0289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1908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3528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35147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36766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8385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0005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1624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3243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4862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6482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8101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9720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13397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29590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457825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619750" y="20383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000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620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239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10858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2477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14097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5716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7335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8954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20574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2193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3812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25431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7051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8670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30289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31908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33528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35147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36766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8385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40005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41624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3243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4862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6482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8101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9720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13397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529590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457825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5619750" y="22479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000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620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9239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10858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2477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4097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5716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7335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8954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20574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22193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23812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5431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27051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8670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0289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31908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3528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35147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36766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8385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40005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1624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3243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4862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6482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8101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9720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513397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29590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5457825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5619750" y="24574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000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7620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9239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10858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12477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4097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15716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17335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8954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20574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2193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23812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25431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27051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28670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30289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31908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33528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35147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36766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38385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40005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41624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43243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44862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46482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48101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49720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ounded Rectangle 195"/>
          <p:cNvSpPr/>
          <p:nvPr/>
        </p:nvSpPr>
        <p:spPr>
          <a:xfrm>
            <a:off x="513397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529590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457825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5619750" y="26670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6000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7620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9239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10858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12477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14097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15716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17335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18954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20574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22193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23812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25431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27051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ounded Rectangle 213"/>
          <p:cNvSpPr/>
          <p:nvPr/>
        </p:nvSpPr>
        <p:spPr>
          <a:xfrm>
            <a:off x="28670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ounded Rectangle 214"/>
          <p:cNvSpPr/>
          <p:nvPr/>
        </p:nvSpPr>
        <p:spPr>
          <a:xfrm>
            <a:off x="30289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31908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33528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35147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36766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38385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ounded Rectangle 220"/>
          <p:cNvSpPr/>
          <p:nvPr/>
        </p:nvSpPr>
        <p:spPr>
          <a:xfrm>
            <a:off x="40005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41624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43243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44862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46482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48101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ounded Rectangle 226"/>
          <p:cNvSpPr/>
          <p:nvPr/>
        </p:nvSpPr>
        <p:spPr>
          <a:xfrm>
            <a:off x="49720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513397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ounded Rectangle 228"/>
          <p:cNvSpPr/>
          <p:nvPr/>
        </p:nvSpPr>
        <p:spPr>
          <a:xfrm>
            <a:off x="529590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5457825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619750" y="28765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6000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ounded Rectangle 232"/>
          <p:cNvSpPr/>
          <p:nvPr/>
        </p:nvSpPr>
        <p:spPr>
          <a:xfrm>
            <a:off x="7620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9239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ounded Rectangle 234"/>
          <p:cNvSpPr/>
          <p:nvPr/>
        </p:nvSpPr>
        <p:spPr>
          <a:xfrm>
            <a:off x="10858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ounded Rectangle 235"/>
          <p:cNvSpPr/>
          <p:nvPr/>
        </p:nvSpPr>
        <p:spPr>
          <a:xfrm>
            <a:off x="12477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ounded Rectangle 236"/>
          <p:cNvSpPr/>
          <p:nvPr/>
        </p:nvSpPr>
        <p:spPr>
          <a:xfrm>
            <a:off x="14097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ounded Rectangle 237"/>
          <p:cNvSpPr/>
          <p:nvPr/>
        </p:nvSpPr>
        <p:spPr>
          <a:xfrm>
            <a:off x="15716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17335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18954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ounded Rectangle 240"/>
          <p:cNvSpPr/>
          <p:nvPr/>
        </p:nvSpPr>
        <p:spPr>
          <a:xfrm>
            <a:off x="20574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ounded Rectangle 241"/>
          <p:cNvSpPr/>
          <p:nvPr/>
        </p:nvSpPr>
        <p:spPr>
          <a:xfrm>
            <a:off x="22193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ounded Rectangle 242"/>
          <p:cNvSpPr/>
          <p:nvPr/>
        </p:nvSpPr>
        <p:spPr>
          <a:xfrm>
            <a:off x="23812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ounded Rectangle 243"/>
          <p:cNvSpPr/>
          <p:nvPr/>
        </p:nvSpPr>
        <p:spPr>
          <a:xfrm>
            <a:off x="25431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27051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28670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30289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ounded Rectangle 247"/>
          <p:cNvSpPr/>
          <p:nvPr/>
        </p:nvSpPr>
        <p:spPr>
          <a:xfrm>
            <a:off x="31908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ounded Rectangle 248"/>
          <p:cNvSpPr/>
          <p:nvPr/>
        </p:nvSpPr>
        <p:spPr>
          <a:xfrm>
            <a:off x="33528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ounded Rectangle 249"/>
          <p:cNvSpPr/>
          <p:nvPr/>
        </p:nvSpPr>
        <p:spPr>
          <a:xfrm>
            <a:off x="35147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ounded Rectangle 250"/>
          <p:cNvSpPr/>
          <p:nvPr/>
        </p:nvSpPr>
        <p:spPr>
          <a:xfrm>
            <a:off x="36766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38385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40005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41624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ounded Rectangle 254"/>
          <p:cNvSpPr/>
          <p:nvPr/>
        </p:nvSpPr>
        <p:spPr>
          <a:xfrm>
            <a:off x="43243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ounded Rectangle 255"/>
          <p:cNvSpPr/>
          <p:nvPr/>
        </p:nvSpPr>
        <p:spPr>
          <a:xfrm>
            <a:off x="44862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46482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ounded Rectangle 257"/>
          <p:cNvSpPr/>
          <p:nvPr/>
        </p:nvSpPr>
        <p:spPr>
          <a:xfrm>
            <a:off x="48101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49720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ounded Rectangle 259"/>
          <p:cNvSpPr/>
          <p:nvPr/>
        </p:nvSpPr>
        <p:spPr>
          <a:xfrm>
            <a:off x="513397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529590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ounded Rectangle 261"/>
          <p:cNvSpPr/>
          <p:nvPr/>
        </p:nvSpPr>
        <p:spPr>
          <a:xfrm>
            <a:off x="5457825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ounded Rectangle 262"/>
          <p:cNvSpPr/>
          <p:nvPr/>
        </p:nvSpPr>
        <p:spPr>
          <a:xfrm>
            <a:off x="5619750" y="30861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ounded Rectangle 263"/>
          <p:cNvSpPr/>
          <p:nvPr/>
        </p:nvSpPr>
        <p:spPr>
          <a:xfrm>
            <a:off x="6000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ounded Rectangle 264"/>
          <p:cNvSpPr/>
          <p:nvPr/>
        </p:nvSpPr>
        <p:spPr>
          <a:xfrm>
            <a:off x="7620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9239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ounded Rectangle 266"/>
          <p:cNvSpPr/>
          <p:nvPr/>
        </p:nvSpPr>
        <p:spPr>
          <a:xfrm>
            <a:off x="10858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ounded Rectangle 267"/>
          <p:cNvSpPr/>
          <p:nvPr/>
        </p:nvSpPr>
        <p:spPr>
          <a:xfrm>
            <a:off x="12477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ounded Rectangle 268"/>
          <p:cNvSpPr/>
          <p:nvPr/>
        </p:nvSpPr>
        <p:spPr>
          <a:xfrm>
            <a:off x="14097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ounded Rectangle 269"/>
          <p:cNvSpPr/>
          <p:nvPr/>
        </p:nvSpPr>
        <p:spPr>
          <a:xfrm>
            <a:off x="15716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ounded Rectangle 270"/>
          <p:cNvSpPr/>
          <p:nvPr/>
        </p:nvSpPr>
        <p:spPr>
          <a:xfrm>
            <a:off x="17335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18954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ounded Rectangle 272"/>
          <p:cNvSpPr/>
          <p:nvPr/>
        </p:nvSpPr>
        <p:spPr>
          <a:xfrm>
            <a:off x="20574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ounded Rectangle 273"/>
          <p:cNvSpPr/>
          <p:nvPr/>
        </p:nvSpPr>
        <p:spPr>
          <a:xfrm>
            <a:off x="22193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ounded Rectangle 274"/>
          <p:cNvSpPr/>
          <p:nvPr/>
        </p:nvSpPr>
        <p:spPr>
          <a:xfrm>
            <a:off x="23812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ounded Rectangle 275"/>
          <p:cNvSpPr/>
          <p:nvPr/>
        </p:nvSpPr>
        <p:spPr>
          <a:xfrm>
            <a:off x="25431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ounded Rectangle 276"/>
          <p:cNvSpPr/>
          <p:nvPr/>
        </p:nvSpPr>
        <p:spPr>
          <a:xfrm>
            <a:off x="27051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28670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ounded Rectangle 278"/>
          <p:cNvSpPr/>
          <p:nvPr/>
        </p:nvSpPr>
        <p:spPr>
          <a:xfrm>
            <a:off x="30289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ounded Rectangle 279"/>
          <p:cNvSpPr/>
          <p:nvPr/>
        </p:nvSpPr>
        <p:spPr>
          <a:xfrm>
            <a:off x="31908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ounded Rectangle 280"/>
          <p:cNvSpPr/>
          <p:nvPr/>
        </p:nvSpPr>
        <p:spPr>
          <a:xfrm>
            <a:off x="33528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ounded Rectangle 281"/>
          <p:cNvSpPr/>
          <p:nvPr/>
        </p:nvSpPr>
        <p:spPr>
          <a:xfrm>
            <a:off x="35147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ounded Rectangle 282"/>
          <p:cNvSpPr/>
          <p:nvPr/>
        </p:nvSpPr>
        <p:spPr>
          <a:xfrm>
            <a:off x="36766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8385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ounded Rectangle 284"/>
          <p:cNvSpPr/>
          <p:nvPr/>
        </p:nvSpPr>
        <p:spPr>
          <a:xfrm>
            <a:off x="40005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ounded Rectangle 285"/>
          <p:cNvSpPr/>
          <p:nvPr/>
        </p:nvSpPr>
        <p:spPr>
          <a:xfrm>
            <a:off x="41624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ounded Rectangle 286"/>
          <p:cNvSpPr/>
          <p:nvPr/>
        </p:nvSpPr>
        <p:spPr>
          <a:xfrm>
            <a:off x="43243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ounded Rectangle 287"/>
          <p:cNvSpPr/>
          <p:nvPr/>
        </p:nvSpPr>
        <p:spPr>
          <a:xfrm>
            <a:off x="44862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ounded Rectangle 288"/>
          <p:cNvSpPr/>
          <p:nvPr/>
        </p:nvSpPr>
        <p:spPr>
          <a:xfrm>
            <a:off x="46482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ounded Rectangle 289"/>
          <p:cNvSpPr/>
          <p:nvPr/>
        </p:nvSpPr>
        <p:spPr>
          <a:xfrm>
            <a:off x="48101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ounded Rectangle 290"/>
          <p:cNvSpPr/>
          <p:nvPr/>
        </p:nvSpPr>
        <p:spPr>
          <a:xfrm>
            <a:off x="49720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ounded Rectangle 291"/>
          <p:cNvSpPr/>
          <p:nvPr/>
        </p:nvSpPr>
        <p:spPr>
          <a:xfrm>
            <a:off x="513397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ounded Rectangle 292"/>
          <p:cNvSpPr/>
          <p:nvPr/>
        </p:nvSpPr>
        <p:spPr>
          <a:xfrm>
            <a:off x="529590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ounded Rectangle 293"/>
          <p:cNvSpPr/>
          <p:nvPr/>
        </p:nvSpPr>
        <p:spPr>
          <a:xfrm>
            <a:off x="5457825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ounded Rectangle 294"/>
          <p:cNvSpPr/>
          <p:nvPr/>
        </p:nvSpPr>
        <p:spPr>
          <a:xfrm>
            <a:off x="5619750" y="32956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ounded Rectangle 295"/>
          <p:cNvSpPr/>
          <p:nvPr/>
        </p:nvSpPr>
        <p:spPr>
          <a:xfrm>
            <a:off x="6000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ounded Rectangle 296"/>
          <p:cNvSpPr/>
          <p:nvPr/>
        </p:nvSpPr>
        <p:spPr>
          <a:xfrm>
            <a:off x="7620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ounded Rectangle 297"/>
          <p:cNvSpPr/>
          <p:nvPr/>
        </p:nvSpPr>
        <p:spPr>
          <a:xfrm>
            <a:off x="9239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ounded Rectangle 298"/>
          <p:cNvSpPr/>
          <p:nvPr/>
        </p:nvSpPr>
        <p:spPr>
          <a:xfrm>
            <a:off x="10858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ounded Rectangle 299"/>
          <p:cNvSpPr/>
          <p:nvPr/>
        </p:nvSpPr>
        <p:spPr>
          <a:xfrm>
            <a:off x="12477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ounded Rectangle 300"/>
          <p:cNvSpPr/>
          <p:nvPr/>
        </p:nvSpPr>
        <p:spPr>
          <a:xfrm>
            <a:off x="14097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ounded Rectangle 301"/>
          <p:cNvSpPr/>
          <p:nvPr/>
        </p:nvSpPr>
        <p:spPr>
          <a:xfrm>
            <a:off x="15716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ounded Rectangle 302"/>
          <p:cNvSpPr/>
          <p:nvPr/>
        </p:nvSpPr>
        <p:spPr>
          <a:xfrm>
            <a:off x="17335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ounded Rectangle 303"/>
          <p:cNvSpPr/>
          <p:nvPr/>
        </p:nvSpPr>
        <p:spPr>
          <a:xfrm>
            <a:off x="18954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ounded Rectangle 304"/>
          <p:cNvSpPr/>
          <p:nvPr/>
        </p:nvSpPr>
        <p:spPr>
          <a:xfrm>
            <a:off x="20574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ounded Rectangle 305"/>
          <p:cNvSpPr/>
          <p:nvPr/>
        </p:nvSpPr>
        <p:spPr>
          <a:xfrm>
            <a:off x="22193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ounded Rectangle 306"/>
          <p:cNvSpPr/>
          <p:nvPr/>
        </p:nvSpPr>
        <p:spPr>
          <a:xfrm>
            <a:off x="23812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25431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ounded Rectangle 308"/>
          <p:cNvSpPr/>
          <p:nvPr/>
        </p:nvSpPr>
        <p:spPr>
          <a:xfrm>
            <a:off x="27051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ounded Rectangle 309"/>
          <p:cNvSpPr/>
          <p:nvPr/>
        </p:nvSpPr>
        <p:spPr>
          <a:xfrm>
            <a:off x="28670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ounded Rectangle 310"/>
          <p:cNvSpPr/>
          <p:nvPr/>
        </p:nvSpPr>
        <p:spPr>
          <a:xfrm>
            <a:off x="30289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ounded Rectangle 311"/>
          <p:cNvSpPr/>
          <p:nvPr/>
        </p:nvSpPr>
        <p:spPr>
          <a:xfrm>
            <a:off x="31908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ounded Rectangle 312"/>
          <p:cNvSpPr/>
          <p:nvPr/>
        </p:nvSpPr>
        <p:spPr>
          <a:xfrm>
            <a:off x="33528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ounded Rectangle 313"/>
          <p:cNvSpPr/>
          <p:nvPr/>
        </p:nvSpPr>
        <p:spPr>
          <a:xfrm>
            <a:off x="35147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ounded Rectangle 314"/>
          <p:cNvSpPr/>
          <p:nvPr/>
        </p:nvSpPr>
        <p:spPr>
          <a:xfrm>
            <a:off x="36766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ounded Rectangle 315"/>
          <p:cNvSpPr/>
          <p:nvPr/>
        </p:nvSpPr>
        <p:spPr>
          <a:xfrm>
            <a:off x="38385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ounded Rectangle 316"/>
          <p:cNvSpPr/>
          <p:nvPr/>
        </p:nvSpPr>
        <p:spPr>
          <a:xfrm>
            <a:off x="40005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ounded Rectangle 317"/>
          <p:cNvSpPr/>
          <p:nvPr/>
        </p:nvSpPr>
        <p:spPr>
          <a:xfrm>
            <a:off x="41624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ounded Rectangle 318"/>
          <p:cNvSpPr/>
          <p:nvPr/>
        </p:nvSpPr>
        <p:spPr>
          <a:xfrm>
            <a:off x="43243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ounded Rectangle 319"/>
          <p:cNvSpPr/>
          <p:nvPr/>
        </p:nvSpPr>
        <p:spPr>
          <a:xfrm>
            <a:off x="44862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ounded Rectangle 320"/>
          <p:cNvSpPr/>
          <p:nvPr/>
        </p:nvSpPr>
        <p:spPr>
          <a:xfrm>
            <a:off x="46482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ounded Rectangle 321"/>
          <p:cNvSpPr/>
          <p:nvPr/>
        </p:nvSpPr>
        <p:spPr>
          <a:xfrm>
            <a:off x="48101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ounded Rectangle 322"/>
          <p:cNvSpPr/>
          <p:nvPr/>
        </p:nvSpPr>
        <p:spPr>
          <a:xfrm>
            <a:off x="49720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ounded Rectangle 323"/>
          <p:cNvSpPr/>
          <p:nvPr/>
        </p:nvSpPr>
        <p:spPr>
          <a:xfrm>
            <a:off x="513397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ounded Rectangle 324"/>
          <p:cNvSpPr/>
          <p:nvPr/>
        </p:nvSpPr>
        <p:spPr>
          <a:xfrm>
            <a:off x="529590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ounded Rectangle 325"/>
          <p:cNvSpPr/>
          <p:nvPr/>
        </p:nvSpPr>
        <p:spPr>
          <a:xfrm>
            <a:off x="5457825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ounded Rectangle 326"/>
          <p:cNvSpPr/>
          <p:nvPr/>
        </p:nvSpPr>
        <p:spPr>
          <a:xfrm>
            <a:off x="5619750" y="35052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ounded Rectangle 327"/>
          <p:cNvSpPr/>
          <p:nvPr/>
        </p:nvSpPr>
        <p:spPr>
          <a:xfrm>
            <a:off x="6000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ounded Rectangle 328"/>
          <p:cNvSpPr/>
          <p:nvPr/>
        </p:nvSpPr>
        <p:spPr>
          <a:xfrm>
            <a:off x="7620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ounded Rectangle 329"/>
          <p:cNvSpPr/>
          <p:nvPr/>
        </p:nvSpPr>
        <p:spPr>
          <a:xfrm>
            <a:off x="9239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ounded Rectangle 330"/>
          <p:cNvSpPr/>
          <p:nvPr/>
        </p:nvSpPr>
        <p:spPr>
          <a:xfrm>
            <a:off x="10858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ounded Rectangle 331"/>
          <p:cNvSpPr/>
          <p:nvPr/>
        </p:nvSpPr>
        <p:spPr>
          <a:xfrm>
            <a:off x="12477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ounded Rectangle 332"/>
          <p:cNvSpPr/>
          <p:nvPr/>
        </p:nvSpPr>
        <p:spPr>
          <a:xfrm>
            <a:off x="14097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ounded Rectangle 333"/>
          <p:cNvSpPr/>
          <p:nvPr/>
        </p:nvSpPr>
        <p:spPr>
          <a:xfrm>
            <a:off x="15716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ounded Rectangle 334"/>
          <p:cNvSpPr/>
          <p:nvPr/>
        </p:nvSpPr>
        <p:spPr>
          <a:xfrm>
            <a:off x="17335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ounded Rectangle 335"/>
          <p:cNvSpPr/>
          <p:nvPr/>
        </p:nvSpPr>
        <p:spPr>
          <a:xfrm>
            <a:off x="18954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ounded Rectangle 336"/>
          <p:cNvSpPr/>
          <p:nvPr/>
        </p:nvSpPr>
        <p:spPr>
          <a:xfrm>
            <a:off x="20574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22193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ounded Rectangle 338"/>
          <p:cNvSpPr/>
          <p:nvPr/>
        </p:nvSpPr>
        <p:spPr>
          <a:xfrm>
            <a:off x="23812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ounded Rectangle 339"/>
          <p:cNvSpPr/>
          <p:nvPr/>
        </p:nvSpPr>
        <p:spPr>
          <a:xfrm>
            <a:off x="25431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ounded Rectangle 340"/>
          <p:cNvSpPr/>
          <p:nvPr/>
        </p:nvSpPr>
        <p:spPr>
          <a:xfrm>
            <a:off x="27051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28670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ounded Rectangle 342"/>
          <p:cNvSpPr/>
          <p:nvPr/>
        </p:nvSpPr>
        <p:spPr>
          <a:xfrm>
            <a:off x="30289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31908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ounded Rectangle 344"/>
          <p:cNvSpPr/>
          <p:nvPr/>
        </p:nvSpPr>
        <p:spPr>
          <a:xfrm>
            <a:off x="33528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ounded Rectangle 345"/>
          <p:cNvSpPr/>
          <p:nvPr/>
        </p:nvSpPr>
        <p:spPr>
          <a:xfrm>
            <a:off x="35147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ounded Rectangle 346"/>
          <p:cNvSpPr/>
          <p:nvPr/>
        </p:nvSpPr>
        <p:spPr>
          <a:xfrm>
            <a:off x="36766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ounded Rectangle 347"/>
          <p:cNvSpPr/>
          <p:nvPr/>
        </p:nvSpPr>
        <p:spPr>
          <a:xfrm>
            <a:off x="38385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ounded Rectangle 348"/>
          <p:cNvSpPr/>
          <p:nvPr/>
        </p:nvSpPr>
        <p:spPr>
          <a:xfrm>
            <a:off x="40005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ounded Rectangle 349"/>
          <p:cNvSpPr/>
          <p:nvPr/>
        </p:nvSpPr>
        <p:spPr>
          <a:xfrm>
            <a:off x="41624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ounded Rectangle 350"/>
          <p:cNvSpPr/>
          <p:nvPr/>
        </p:nvSpPr>
        <p:spPr>
          <a:xfrm>
            <a:off x="43243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ounded Rectangle 351"/>
          <p:cNvSpPr/>
          <p:nvPr/>
        </p:nvSpPr>
        <p:spPr>
          <a:xfrm>
            <a:off x="44862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ounded Rectangle 352"/>
          <p:cNvSpPr/>
          <p:nvPr/>
        </p:nvSpPr>
        <p:spPr>
          <a:xfrm>
            <a:off x="46482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ounded Rectangle 353"/>
          <p:cNvSpPr/>
          <p:nvPr/>
        </p:nvSpPr>
        <p:spPr>
          <a:xfrm>
            <a:off x="48101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ounded Rectangle 354"/>
          <p:cNvSpPr/>
          <p:nvPr/>
        </p:nvSpPr>
        <p:spPr>
          <a:xfrm>
            <a:off x="49720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ounded Rectangle 355"/>
          <p:cNvSpPr/>
          <p:nvPr/>
        </p:nvSpPr>
        <p:spPr>
          <a:xfrm>
            <a:off x="513397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ounded Rectangle 356"/>
          <p:cNvSpPr/>
          <p:nvPr/>
        </p:nvSpPr>
        <p:spPr>
          <a:xfrm>
            <a:off x="529590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ounded Rectangle 357"/>
          <p:cNvSpPr/>
          <p:nvPr/>
        </p:nvSpPr>
        <p:spPr>
          <a:xfrm>
            <a:off x="5457825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ounded Rectangle 358"/>
          <p:cNvSpPr/>
          <p:nvPr/>
        </p:nvSpPr>
        <p:spPr>
          <a:xfrm>
            <a:off x="5619750" y="371475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ounded Rectangle 359"/>
          <p:cNvSpPr/>
          <p:nvPr/>
        </p:nvSpPr>
        <p:spPr>
          <a:xfrm>
            <a:off x="6000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ounded Rectangle 360"/>
          <p:cNvSpPr/>
          <p:nvPr/>
        </p:nvSpPr>
        <p:spPr>
          <a:xfrm>
            <a:off x="7620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ounded Rectangle 361"/>
          <p:cNvSpPr/>
          <p:nvPr/>
        </p:nvSpPr>
        <p:spPr>
          <a:xfrm>
            <a:off x="9239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ounded Rectangle 362"/>
          <p:cNvSpPr/>
          <p:nvPr/>
        </p:nvSpPr>
        <p:spPr>
          <a:xfrm>
            <a:off x="10858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ounded Rectangle 363"/>
          <p:cNvSpPr/>
          <p:nvPr/>
        </p:nvSpPr>
        <p:spPr>
          <a:xfrm>
            <a:off x="12477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14097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15716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17335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18954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20574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22193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23812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25431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27051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28670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30289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31908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33528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35147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36766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38385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40005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41624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ounded Rectangle 382"/>
          <p:cNvSpPr/>
          <p:nvPr/>
        </p:nvSpPr>
        <p:spPr>
          <a:xfrm>
            <a:off x="43243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ounded Rectangle 383"/>
          <p:cNvSpPr/>
          <p:nvPr/>
        </p:nvSpPr>
        <p:spPr>
          <a:xfrm>
            <a:off x="44862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ounded Rectangle 384"/>
          <p:cNvSpPr/>
          <p:nvPr/>
        </p:nvSpPr>
        <p:spPr>
          <a:xfrm>
            <a:off x="46482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ounded Rectangle 385"/>
          <p:cNvSpPr/>
          <p:nvPr/>
        </p:nvSpPr>
        <p:spPr>
          <a:xfrm>
            <a:off x="48101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ounded Rectangle 386"/>
          <p:cNvSpPr/>
          <p:nvPr/>
        </p:nvSpPr>
        <p:spPr>
          <a:xfrm>
            <a:off x="49720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513397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ounded Rectangle 388"/>
          <p:cNvSpPr/>
          <p:nvPr/>
        </p:nvSpPr>
        <p:spPr>
          <a:xfrm>
            <a:off x="529590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ounded Rectangle 389"/>
          <p:cNvSpPr/>
          <p:nvPr/>
        </p:nvSpPr>
        <p:spPr>
          <a:xfrm>
            <a:off x="5457825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ounded Rectangle 390"/>
          <p:cNvSpPr/>
          <p:nvPr/>
        </p:nvSpPr>
        <p:spPr>
          <a:xfrm>
            <a:off x="5619750" y="3924300"/>
            <a:ext cx="123825" cy="152400"/>
          </a:xfrm>
          <a:prstGeom prst="roundRect">
            <a:avLst>
              <a:gd name="adj" fmla="val 20000"/>
            </a:avLst>
          </a:prstGeom>
          <a:solidFill>
            <a:srgbClr val="343840"/>
          </a:solidFill>
          <a:ln w="6350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00075" y="428625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 of 384 routed experts run their FFN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600075" y="461010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cost: FLOPs of 6 experts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6505575" y="1714500"/>
            <a:ext cx="4991100" cy="2286000"/>
          </a:xfrm>
          <a:prstGeom prst="roundRect">
            <a:avLst>
              <a:gd name="adj" fmla="val 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ounded Rectangle 394"/>
          <p:cNvSpPr/>
          <p:nvPr/>
        </p:nvSpPr>
        <p:spPr>
          <a:xfrm>
            <a:off x="6572250" y="17526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496175" y="20288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ounded Rectangle 396"/>
          <p:cNvSpPr/>
          <p:nvPr/>
        </p:nvSpPr>
        <p:spPr>
          <a:xfrm>
            <a:off x="8420100" y="23050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ounded Rectangle 397"/>
          <p:cNvSpPr/>
          <p:nvPr/>
        </p:nvSpPr>
        <p:spPr>
          <a:xfrm>
            <a:off x="9344025" y="25812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ounded Rectangle 398"/>
          <p:cNvSpPr/>
          <p:nvPr/>
        </p:nvSpPr>
        <p:spPr>
          <a:xfrm>
            <a:off x="10267950" y="28575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ounded Rectangle 399"/>
          <p:cNvSpPr/>
          <p:nvPr/>
        </p:nvSpPr>
        <p:spPr>
          <a:xfrm>
            <a:off x="11191875" y="31337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ounded Rectangle 400"/>
          <p:cNvSpPr/>
          <p:nvPr/>
        </p:nvSpPr>
        <p:spPr>
          <a:xfrm>
            <a:off x="7258050" y="34099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ounded Rectangle 401"/>
          <p:cNvSpPr/>
          <p:nvPr/>
        </p:nvSpPr>
        <p:spPr>
          <a:xfrm>
            <a:off x="8181975" y="36861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ounded Rectangle 402"/>
          <p:cNvSpPr/>
          <p:nvPr/>
        </p:nvSpPr>
        <p:spPr>
          <a:xfrm>
            <a:off x="9105900" y="17526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ounded Rectangle 403"/>
          <p:cNvSpPr/>
          <p:nvPr/>
        </p:nvSpPr>
        <p:spPr>
          <a:xfrm>
            <a:off x="10029825" y="20288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ounded Rectangle 404"/>
          <p:cNvSpPr/>
          <p:nvPr/>
        </p:nvSpPr>
        <p:spPr>
          <a:xfrm>
            <a:off x="10953750" y="23050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ounded Rectangle 405"/>
          <p:cNvSpPr/>
          <p:nvPr/>
        </p:nvSpPr>
        <p:spPr>
          <a:xfrm>
            <a:off x="7019925" y="25812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ounded Rectangle 406"/>
          <p:cNvSpPr/>
          <p:nvPr/>
        </p:nvSpPr>
        <p:spPr>
          <a:xfrm>
            <a:off x="7943850" y="28575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ounded Rectangle 407"/>
          <p:cNvSpPr/>
          <p:nvPr/>
        </p:nvSpPr>
        <p:spPr>
          <a:xfrm>
            <a:off x="8867775" y="31337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ounded Rectangle 408"/>
          <p:cNvSpPr/>
          <p:nvPr/>
        </p:nvSpPr>
        <p:spPr>
          <a:xfrm>
            <a:off x="9791700" y="34099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ounded Rectangle 409"/>
          <p:cNvSpPr/>
          <p:nvPr/>
        </p:nvSpPr>
        <p:spPr>
          <a:xfrm>
            <a:off x="10715625" y="36861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ounded Rectangle 410"/>
          <p:cNvSpPr/>
          <p:nvPr/>
        </p:nvSpPr>
        <p:spPr>
          <a:xfrm>
            <a:off x="6781800" y="17526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ounded Rectangle 411"/>
          <p:cNvSpPr/>
          <p:nvPr/>
        </p:nvSpPr>
        <p:spPr>
          <a:xfrm>
            <a:off x="7705725" y="20288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ounded Rectangle 412"/>
          <p:cNvSpPr/>
          <p:nvPr/>
        </p:nvSpPr>
        <p:spPr>
          <a:xfrm>
            <a:off x="8629650" y="23050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ounded Rectangle 413"/>
          <p:cNvSpPr/>
          <p:nvPr/>
        </p:nvSpPr>
        <p:spPr>
          <a:xfrm>
            <a:off x="9553575" y="25812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ounded Rectangle 414"/>
          <p:cNvSpPr/>
          <p:nvPr/>
        </p:nvSpPr>
        <p:spPr>
          <a:xfrm>
            <a:off x="10477500" y="285750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ounded Rectangle 415"/>
          <p:cNvSpPr/>
          <p:nvPr/>
        </p:nvSpPr>
        <p:spPr>
          <a:xfrm>
            <a:off x="11401425" y="313372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ounded Rectangle 416"/>
          <p:cNvSpPr/>
          <p:nvPr/>
        </p:nvSpPr>
        <p:spPr>
          <a:xfrm>
            <a:off x="7467600" y="3409950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ounded Rectangle 417"/>
          <p:cNvSpPr/>
          <p:nvPr/>
        </p:nvSpPr>
        <p:spPr>
          <a:xfrm>
            <a:off x="8391525" y="3686175"/>
            <a:ext cx="57150" cy="247650"/>
          </a:xfrm>
          <a:prstGeom prst="roundRect">
            <a:avLst>
              <a:gd name="adj" fmla="val 0"/>
            </a:avLst>
          </a:prstGeom>
          <a:solidFill>
            <a:srgbClr val="24A046"/>
          </a:solidFill>
          <a:ln w="6350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410325" y="428625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24 of 384,006,168 rows are read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6410325" y="4610100"/>
            <a:ext cx="5181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lookup itself: 24 × 256 bytes read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