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732" r:id="rId1"/>
  </p:sldMasterIdLst>
  <p:notesMasterIdLst>
    <p:notesMasterId r:id="rId13"/>
  </p:notesMasterIdLst>
  <p:handoutMasterIdLst>
    <p:handoutMasterId r:id="rId14"/>
  </p:handoutMasterIdLst>
  <p:sldIdLst>
    <p:sldId id="256" r:id="rId9"/>
    <p:sldId id="257" r:id="rId10"/>
    <p:sldId id="258" r:id="rId11"/>
    <p:sldId id="259" r:id="rId12"/>
    <p:sldId id="260" r:id="rId8"/>
    <p:sldId id="261" r:id="rId7"/>
    <p:sldId id="262" r:id="rId6"/>
    <p:sldId id="263" r:id="rId5"/>
    <p:sldId id="264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296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A15E724-AFC9-A4C0-CAB9-D6EC0C560360}" name="Khan, Kamran" initials="KK" userId="S::kjkhan@amazon.com::8c16a378-efd2-4586-a4a5-f0725abc41b4" providerId="AD"/>
  <p188:author id="{485EC9B9-D043-2072-5CDA-0E18DA86FA5A}" name="Lakhotia, Esha" initials="LE" userId="S::elakhoti@amazon.com::458df9ec-1ecb-4c08-9ab9-581bf4e2578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CE8F4"/>
    <a:srgbClr val="7F1EE7"/>
    <a:srgbClr val="000000"/>
    <a:srgbClr val="1D262F"/>
    <a:srgbClr val="1A0033"/>
    <a:srgbClr val="FFFFFF"/>
    <a:srgbClr val="FCFCFD"/>
    <a:srgbClr val="0000A3"/>
    <a:srgbClr val="B81EE7"/>
    <a:srgbClr val="5400A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912C8C85-51F0-491E-9774-3900AFEF0FD7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277" autoAdjust="0"/>
    <p:restoredTop sz="79852" autoAdjust="0"/>
  </p:normalViewPr>
  <p:slideViewPr>
    <p:cSldViewPr snapToGrid="0">
      <p:cViewPr varScale="1">
        <p:scale>
          <a:sx n="132" d="100"/>
          <a:sy n="132" d="100"/>
        </p:scale>
        <p:origin x="1152" y="176"/>
      </p:cViewPr>
      <p:guideLst>
        <p:guide orient="horz" pos="1296"/>
        <p:guide pos="3840"/>
      </p:guideLst>
    </p:cSldViewPr>
  </p:slideViewPr>
  <p:outlineViewPr>
    <p:cViewPr>
      <p:scale>
        <a:sx n="33" d="100"/>
        <a:sy n="33" d="100"/>
      </p:scale>
      <p:origin x="0" y="-44888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notesViewPr>
    <p:cSldViewPr snapToGrid="0" showGuides="1">
      <p:cViewPr varScale="1">
        <p:scale>
          <a:sx n="109" d="100"/>
          <a:sy n="109" d="100"/>
        </p:scale>
        <p:origin x="4040" y="1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4" Type="http://schemas.openxmlformats.org/officeDocument/2006/relationships/slide" Target="slides/slide9.xml"/><Relationship Id="rId5" Type="http://schemas.openxmlformats.org/officeDocument/2006/relationships/slide" Target="slides/slide8.xml"/><Relationship Id="rId6" Type="http://schemas.openxmlformats.org/officeDocument/2006/relationships/slide" Target="slides/slide7.xml"/><Relationship Id="rId7" Type="http://schemas.openxmlformats.org/officeDocument/2006/relationships/slide" Target="slides/slide6.xml"/><Relationship Id="rId8" Type="http://schemas.openxmlformats.org/officeDocument/2006/relationships/slide" Target="slides/slide5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4" Type="http://schemas.openxmlformats.org/officeDocument/2006/relationships/handoutMaster" Target="handoutMasters/handout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30B3F9-42E9-426B-B3D2-D6012D7491A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19431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algn="ctr"/>
            <a:fld id="{C71F7584-9745-40DA-BD49-9A41A97B2D2E}" type="slidenum">
              <a:rPr lang="en-US" sz="1000" smtClean="0">
                <a:latin typeface="Amazon Ember Display" panose="020F0603020204020204" pitchFamily="34" charset="0"/>
              </a:rPr>
              <a:pPr algn="ctr"/>
              <a:t>‹#›</a:t>
            </a:fld>
            <a:endParaRPr lang="en-US" sz="1000" dirty="0">
              <a:latin typeface="Amazon Ember Display" panose="020F06030202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2530059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38150" y="457200"/>
            <a:ext cx="5981700" cy="3364706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419100" y="4197679"/>
            <a:ext cx="6000750" cy="4328803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19431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1000" b="0" i="0">
                <a:latin typeface="Amazon Ember Display" panose="020F0603020204020204" pitchFamily="34" charset="0"/>
              </a:defRPr>
            </a:lvl1pPr>
          </a:lstStyle>
          <a:p>
            <a:fld id="{A3D89E5F-BEEF-42A1-A57B-E5A736D5119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48719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spcAft>
        <a:spcPts val="300"/>
      </a:spcAft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1pPr>
    <a:lvl2pPr marL="225425" indent="-1063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2pPr>
    <a:lvl3pPr marL="463550" indent="-1190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3pPr>
    <a:lvl4pPr marL="747713" indent="-1190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4pPr>
    <a:lvl5pPr marL="973138" indent="-117475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pos="2160" userDrawn="1">
          <p15:clr>
            <a:srgbClr val="F26B43"/>
          </p15:clr>
        </p15:guide>
        <p15:guide id="2" orient="horz" pos="2880" userDrawn="1">
          <p15:clr>
            <a:srgbClr val="F26B43"/>
          </p15:clr>
        </p15:guide>
        <p15:guide id="3" pos="264" userDrawn="1">
          <p15:clr>
            <a:srgbClr val="F26B43"/>
          </p15:clr>
        </p15:guide>
        <p15:guide id="4" pos="4056" userDrawn="1">
          <p15:clr>
            <a:srgbClr val="F26B43"/>
          </p15:clr>
        </p15:guide>
        <p15:guide id="5" orient="horz" pos="288" userDrawn="1">
          <p15:clr>
            <a:srgbClr val="F26B43"/>
          </p15:clr>
        </p15:guide>
        <p15:guide id="6" orient="horz" pos="2640" userDrawn="1">
          <p15:clr>
            <a:srgbClr val="F26B43"/>
          </p15:clr>
        </p15:guide>
      </p15:sldGuideLst>
    </p:ext>
  </p:extLst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ide 1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DF3A4-5795-4C3E-A626-E8705501F60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77246" y="3418321"/>
            <a:ext cx="6460999" cy="923330"/>
          </a:xfrm>
          <a:prstGeom prst="rect">
            <a:avLst/>
          </a:prstGeom>
        </p:spPr>
        <p:txBody>
          <a:bodyPr wrap="square" anchor="t" anchorCtr="0"/>
          <a:lstStyle>
            <a:lvl1pPr algn="l">
              <a:defRPr sz="6000" b="1" i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r>
              <a:rPr lang="en-US" dirty="0"/>
              <a:t>Enter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AD1914-560C-4D5C-AA3F-8A993D908EC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09598" y="4366830"/>
            <a:ext cx="6460998" cy="584775"/>
          </a:xfrm>
          <a:prstGeom prst="rect">
            <a:avLst/>
          </a:prstGeom>
        </p:spPr>
        <p:txBody>
          <a:bodyPr wrap="square"/>
          <a:lstStyle>
            <a:lvl1pPr marL="0" indent="0" algn="l">
              <a:spcAft>
                <a:spcPts val="0"/>
              </a:spcAft>
              <a:buFont typeface="Arial" panose="020B0604020202020204" pitchFamily="34" charset="0"/>
              <a:buNone/>
              <a:defRPr sz="3200" b="1" i="0" cap="none" spc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Enter subtitle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235E33B-41A5-4ACB-9AE6-2F3E7CAA442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09598" y="5261981"/>
            <a:ext cx="3797302" cy="400110"/>
          </a:xfrm>
          <a:prstGeom prst="rect">
            <a:avLst/>
          </a:prstGeom>
        </p:spPr>
        <p:txBody>
          <a:bodyPr wrap="square"/>
          <a:lstStyle>
            <a:lvl1pPr marL="0" indent="0">
              <a:spcAft>
                <a:spcPts val="0"/>
              </a:spcAft>
              <a:buNone/>
              <a:defRPr sz="2000" b="1" i="0" cap="none" spc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name (pronouns)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54CE4ED-4096-479A-AA41-A2286E854BF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9598" y="332014"/>
            <a:ext cx="6477002" cy="230832"/>
          </a:xfrm>
          <a:prstGeom prst="rect">
            <a:avLst/>
          </a:prstGeom>
        </p:spPr>
        <p:txBody>
          <a:bodyPr wrap="square"/>
          <a:lstStyle>
            <a:lvl1pPr marL="0" indent="0">
              <a:spcAft>
                <a:spcPts val="0"/>
              </a:spcAft>
              <a:buNone/>
              <a:defRPr sz="1000" b="0" i="0" cap="all" spc="300" baseline="0">
                <a:solidFill>
                  <a:schemeClr val="tx2"/>
                </a:solidFill>
                <a:latin typeface="Amazon Ember Mono" panose="020B0509020204020204" pitchFamily="49" charset="0"/>
                <a:ea typeface="Amazon Ember Mono" panose="020B0509020204020204" pitchFamily="49" charset="0"/>
                <a:cs typeface="Amazon Ember Mono" panose="020B0509020204020204" pitchFamily="49" charset="0"/>
              </a:defRPr>
            </a:lvl1pPr>
          </a:lstStyle>
          <a:p>
            <a:pPr lvl="0"/>
            <a:r>
              <a:rPr lang="en-US" dirty="0"/>
              <a:t>Enter session ID if required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7D4CE88-F816-4273-A6C0-5D3F9D2E051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9598" y="5674769"/>
            <a:ext cx="3797302" cy="584775"/>
          </a:xfrm>
          <a:prstGeom prst="rect">
            <a:avLst/>
          </a:prstGeom>
        </p:spPr>
        <p:txBody>
          <a:bodyPr wrap="square"/>
          <a:lstStyle>
            <a:lvl1pPr marL="0" indent="0">
              <a:spcAft>
                <a:spcPts val="300"/>
              </a:spcAft>
              <a:buNone/>
              <a:defRPr sz="1600" b="0" i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job title</a:t>
            </a:r>
            <a:br>
              <a:rPr lang="en-US" dirty="0"/>
            </a:br>
            <a:r>
              <a:rPr lang="en-US" dirty="0"/>
              <a:t>Speaker company</a:t>
            </a:r>
          </a:p>
        </p:txBody>
      </p:sp>
    </p:spTree>
    <p:extLst>
      <p:ext uri="{BB962C8B-B14F-4D97-AF65-F5344CB8AC3E}">
        <p14:creationId xmlns:p14="http://schemas.microsoft.com/office/powerpoint/2010/main" val="31164470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2" pos="4464">
          <p15:clr>
            <a:srgbClr val="FBAE40"/>
          </p15:clr>
        </p15:guide>
        <p15:guide id="3" orient="horz" pos="2736">
          <p15:clr>
            <a:srgbClr val="FBAE40"/>
          </p15:clr>
        </p15:guide>
        <p15:guide id="4" orient="horz" pos="1272">
          <p15:clr>
            <a:srgbClr val="FBAE40"/>
          </p15:clr>
        </p15:guide>
        <p15:guide id="5" orient="horz" pos="172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1750401-572B-4B45-BF07-5D528B05F88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9600" y="1377715"/>
            <a:ext cx="11247438" cy="3549690"/>
          </a:xfrm>
          <a:prstGeom prst="rect">
            <a:avLst/>
          </a:prstGeom>
        </p:spPr>
        <p:txBody>
          <a:bodyPr/>
          <a:lstStyle>
            <a:lvl1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  <a:lvl2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2pPr>
            <a:lvl3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3pPr>
            <a:lvl4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4pPr>
            <a:lvl5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5pPr>
          </a:lstStyle>
          <a:p>
            <a:pPr lvl="0"/>
            <a:r>
              <a:rPr lang="en-US" dirty="0"/>
              <a:t>Enter high-level agenda items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タイトル 5">
            <a:extLst>
              <a:ext uri="{FF2B5EF4-FFF2-40B4-BE49-F238E27FC236}">
                <a16:creationId xmlns:a16="http://schemas.microsoft.com/office/drawing/2014/main" id="{64188B27-D1F7-5699-25C7-360C2A3C74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12935836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>
            <a:extLst>
              <a:ext uri="{FF2B5EF4-FFF2-40B4-BE49-F238E27FC236}">
                <a16:creationId xmlns:a16="http://schemas.microsoft.com/office/drawing/2014/main" id="{071E41DC-3AB2-33CA-0E29-26E2B01642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2021467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Gradi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>
            <a:extLst>
              <a:ext uri="{FF2B5EF4-FFF2-40B4-BE49-F238E27FC236}">
                <a16:creationId xmlns:a16="http://schemas.microsoft.com/office/drawing/2014/main" id="{9C0C633D-6533-7A81-CB54-487A1ECE7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5828452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6213DF-CEC6-4F46-9CD4-5ED4A416AF5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07987" y="908050"/>
            <a:ext cx="11449049" cy="36933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0" i="0" cap="none" spc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Enter subtitle</a:t>
            </a:r>
          </a:p>
        </p:txBody>
      </p:sp>
      <p:sp>
        <p:nvSpPr>
          <p:cNvPr id="7" name="タイトル 6">
            <a:extLst>
              <a:ext uri="{FF2B5EF4-FFF2-40B4-BE49-F238E27FC236}">
                <a16:creationId xmlns:a16="http://schemas.microsoft.com/office/drawing/2014/main" id="{ADA10BAA-117E-4979-BFDE-E8E27E25E8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9225091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840">
          <p15:clr>
            <a:srgbClr val="9FCC3B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229841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タイトル 6">
            <a:extLst>
              <a:ext uri="{FF2B5EF4-FFF2-40B4-BE49-F238E27FC236}">
                <a16:creationId xmlns:a16="http://schemas.microsoft.com/office/drawing/2014/main" id="{C31057A0-1AB3-C59E-241E-58D9A94D4D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19982E9C-19F2-6D70-0138-2D7C09EA29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7987" y="1376363"/>
            <a:ext cx="11449049" cy="2062103"/>
          </a:xfrm>
          <a:prstGeom prst="rect">
            <a:avLst/>
          </a:prstGeom>
        </p:spPr>
        <p:txBody>
          <a:bodyPr vert="horz" wrap="square" lIns="0" tIns="45720" rIns="0" bIns="45720" rtlCol="0">
            <a:spAutoFit/>
          </a:bodyPr>
          <a:lstStyle>
            <a:lvl1pPr marL="0" indent="0">
              <a:buNone/>
              <a:defRPr/>
            </a:lvl1pPr>
            <a:lvl2pPr marL="280800" indent="0">
              <a:buNone/>
              <a:defRPr/>
            </a:lvl2pPr>
            <a:lvl3pPr marL="622800" indent="0">
              <a:buNone/>
              <a:defRPr/>
            </a:lvl3pPr>
            <a:lvl4pPr marL="795600" indent="0">
              <a:buNone/>
              <a:defRPr/>
            </a:lvl4pPr>
            <a:lvl5pPr marL="9684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108612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Bullete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686EE66B-2848-D944-6D93-4D6603CDCB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7987" y="1376363"/>
            <a:ext cx="11449049" cy="2062103"/>
          </a:xfrm>
          <a:prstGeom prst="rect">
            <a:avLst/>
          </a:prstGeom>
        </p:spPr>
        <p:txBody>
          <a:bodyPr vert="horz" wrap="square" lIns="0" tIns="45720" rIns="0" bIns="45720" rtlCol="0">
            <a:sp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タイトル 7">
            <a:extLst>
              <a:ext uri="{FF2B5EF4-FFF2-40B4-BE49-F238E27FC236}">
                <a16:creationId xmlns:a16="http://schemas.microsoft.com/office/drawing/2014/main" id="{EC2E6AE7-4E53-3437-B370-670CC07AFE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5788172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Op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915E6F-C631-449B-B22F-53FD20C9E89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2718036"/>
            <a:ext cx="7823200" cy="1421928"/>
          </a:xfrm>
          <a:prstGeom prst="rect">
            <a:avLst/>
          </a:prstGeom>
        </p:spPr>
        <p:txBody>
          <a:bodyPr anchor="ctr" anchorCtr="0"/>
          <a:lstStyle>
            <a:lvl1pPr>
              <a:defRPr sz="4800" b="1" i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r>
              <a:rPr lang="en-US" dirty="0"/>
              <a:t>Section layout: Enter section name here</a:t>
            </a:r>
          </a:p>
        </p:txBody>
      </p:sp>
    </p:spTree>
    <p:extLst>
      <p:ext uri="{BB962C8B-B14F-4D97-AF65-F5344CB8AC3E}">
        <p14:creationId xmlns:p14="http://schemas.microsoft.com/office/powerpoint/2010/main" val="34901273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Op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1FFA190-394C-4586-A84A-BA2A6770300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9125" y="3621643"/>
            <a:ext cx="1994088" cy="369332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20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682D70F-F9C4-4C4C-A916-589EA4438C2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9125" y="3990975"/>
            <a:ext cx="1994088" cy="535531"/>
          </a:xfrm>
          <a:prstGeom prst="rect">
            <a:avLst/>
          </a:prstGeom>
        </p:spPr>
        <p:txBody>
          <a:bodyPr/>
          <a:lstStyle>
            <a:lvl1pPr marL="0" indent="0">
              <a:spcAft>
                <a:spcPts val="600"/>
              </a:spcAft>
              <a:buNone/>
              <a:defRPr sz="16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contact info (email or socials)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393A1250-E885-4935-B98D-9C62E4E51F4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714625" y="3621643"/>
            <a:ext cx="1994088" cy="369332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20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DF7E9957-AB07-4CE6-BD9E-3631EF6ED5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714625" y="3990975"/>
            <a:ext cx="1994088" cy="535531"/>
          </a:xfrm>
          <a:prstGeom prst="rect">
            <a:avLst/>
          </a:prstGeom>
        </p:spPr>
        <p:txBody>
          <a:bodyPr/>
          <a:lstStyle>
            <a:lvl1pPr marL="0" indent="0">
              <a:spcAft>
                <a:spcPts val="600"/>
              </a:spcAft>
              <a:buNone/>
              <a:defRPr sz="16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contact info (email or socials)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E064B62F-5416-46A2-BBC6-945C362C63D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810125" y="3621643"/>
            <a:ext cx="1994088" cy="369332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20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4BBE44B1-E140-4E35-AF0B-41A3CDA5CA2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810125" y="3990975"/>
            <a:ext cx="1994088" cy="535531"/>
          </a:xfrm>
          <a:prstGeom prst="rect">
            <a:avLst/>
          </a:prstGeom>
        </p:spPr>
        <p:txBody>
          <a:bodyPr/>
          <a:lstStyle>
            <a:lvl1pPr marL="0" indent="0">
              <a:spcAft>
                <a:spcPts val="600"/>
              </a:spcAft>
              <a:buNone/>
              <a:defRPr sz="16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contact info (email or socials)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2BEBFA3-8C5E-448A-B03D-8DAAEBB407B0}"/>
              </a:ext>
            </a:extLst>
          </p:cNvPr>
          <p:cNvSpPr txBox="1"/>
          <p:nvPr userDrawn="1"/>
        </p:nvSpPr>
        <p:spPr>
          <a:xfrm>
            <a:off x="609599" y="2461211"/>
            <a:ext cx="6867525" cy="923330"/>
          </a:xfrm>
          <a:prstGeom prst="rect">
            <a:avLst/>
          </a:prstGeom>
          <a:noFill/>
        </p:spPr>
        <p:txBody>
          <a:bodyPr wrap="square" lIns="0" rtlCol="0">
            <a:noAutofit/>
          </a:bodyPr>
          <a:lstStyle/>
          <a:p>
            <a:r>
              <a:rPr lang="en-US" sz="4800" b="0" i="0" dirty="0">
                <a:solidFill>
                  <a:schemeClr val="tx2"/>
                </a:solidFill>
                <a:latin typeface="Amazon Ember Display" panose="020F0603020204020204" pitchFamily="34" charset="0"/>
              </a:rPr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1580401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Relationship Id="rId12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Placeholder 19">
            <a:extLst>
              <a:ext uri="{FF2B5EF4-FFF2-40B4-BE49-F238E27FC236}">
                <a16:creationId xmlns:a16="http://schemas.microsoft.com/office/drawing/2014/main" id="{6BA9B5C3-6371-84F6-B7DD-E715A77476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988" y="301169"/>
            <a:ext cx="11449050" cy="60688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7F0757-0A35-2523-9D3C-4010D62C72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7987" y="1376363"/>
            <a:ext cx="11449049" cy="2062103"/>
          </a:xfrm>
          <a:prstGeom prst="rect">
            <a:avLst/>
          </a:prstGeom>
        </p:spPr>
        <p:txBody>
          <a:bodyPr vert="horz" wrap="square" lIns="0" tIns="45720" rIns="0" bIns="45720" rtlCol="0">
            <a:sp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474855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33" r:id="rId1"/>
    <p:sldLayoutId id="2147483739" r:id="rId2"/>
    <p:sldLayoutId id="2147483742" r:id="rId3"/>
    <p:sldLayoutId id="2147483744" r:id="rId4"/>
    <p:sldLayoutId id="2147483746" r:id="rId5"/>
    <p:sldLayoutId id="2147483747" r:id="rId6"/>
    <p:sldLayoutId id="2147483748" r:id="rId7"/>
    <p:sldLayoutId id="2147483749" r:id="rId8"/>
    <p:sldLayoutId id="2147483772" r:id="rId9"/>
    <p:sldLayoutId id="2147483780" r:id="rId1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1pPr>
    </p:titleStyle>
    <p:bodyStyle>
      <a:lvl1pPr marL="3492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24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1pPr>
      <a:lvl2pPr marL="6300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システムフォント（レギュラー）"/>
        <a:buChar char="-"/>
        <a:defRPr sz="24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2pPr>
      <a:lvl3pPr marL="9720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システムフォント（レギュラー）"/>
        <a:buChar char="&gt;"/>
        <a:defRPr sz="20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3pPr>
      <a:lvl4pPr marL="11448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4pPr>
      <a:lvl5pPr marL="13176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906" userDrawn="1">
          <p15:clr>
            <a:srgbClr val="F26B43"/>
          </p15:clr>
        </p15:guide>
        <p15:guide id="3" pos="257" userDrawn="1">
          <p15:clr>
            <a:srgbClr val="F26B43"/>
          </p15:clr>
        </p15:guide>
        <p15:guide id="4" pos="7469" userDrawn="1">
          <p15:clr>
            <a:srgbClr val="F26B43"/>
          </p15:clr>
        </p15:guide>
        <p15:guide id="5" orient="horz" pos="187" userDrawn="1">
          <p15:clr>
            <a:srgbClr val="F26B43"/>
          </p15:clr>
        </p15:guide>
        <p15:guide id="6" orient="horz" pos="572" userDrawn="1">
          <p15:clr>
            <a:srgbClr val="F26B43"/>
          </p15:clr>
        </p15:guide>
        <p15:guide id="7" orient="horz" pos="867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Where the lookup address comes from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Grey: input.  Green: GPU compute.  Pink: the address.  Yellow: memory read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9575" y="1066800"/>
            <a:ext cx="55626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MoE (conditional computation)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9575" y="1352550"/>
            <a:ext cx="5562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expert ids from the hidden state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9575" y="1676400"/>
            <a:ext cx="5562600" cy="4000500"/>
          </a:xfrm>
          <a:prstGeom prst="roundRect">
            <a:avLst>
              <a:gd name="adj" fmla="val 4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9825" y="1066800"/>
            <a:ext cx="55626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Engram (conditional memory)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9825" y="1352550"/>
            <a:ext cx="5562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row ids from the token ids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9825" y="1676400"/>
            <a:ext cx="5562600" cy="4000500"/>
          </a:xfrm>
          <a:prstGeom prst="roundRect">
            <a:avLst>
              <a:gd name="adj" fmla="val 4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90575" y="1866900"/>
            <a:ext cx="4800600" cy="47625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token "Great"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190875" y="2343150"/>
            <a:ext cx="0" cy="2286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90575" y="2571750"/>
            <a:ext cx="4800600" cy="4762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layers before layer l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190875" y="3048000"/>
            <a:ext cx="0" cy="2286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90575" y="3276600"/>
            <a:ext cx="4800600" cy="4762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hidden state of "Great" -&gt; router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190875" y="3752850"/>
            <a:ext cx="0" cy="2286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90575" y="3981450"/>
            <a:ext cx="4800600" cy="476250"/>
          </a:xfrm>
          <a:prstGeom prst="roundRect">
            <a:avLst>
              <a:gd name="adj" fmla="val 10000"/>
            </a:avLst>
          </a:prstGeom>
          <a:solidFill>
            <a:srgbClr val="501E2E"/>
          </a:solidFill>
          <a:ln w="15875">
            <a:solidFill>
              <a:srgbClr val="FF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experts #17, #203, ... (6 of 384, illustrative)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90875" y="4457700"/>
            <a:ext cx="0" cy="2286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90575" y="4686300"/>
            <a:ext cx="4800600" cy="4762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experts (FFN)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575" y="5257800"/>
            <a:ext cx="48006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address known only when layer l runs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00825" y="1866900"/>
            <a:ext cx="4800600" cy="47625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tokens "Alexander the Great"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001125" y="2343150"/>
            <a:ext cx="0" cy="2286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600825" y="2571750"/>
            <a:ext cx="4800600" cy="476250"/>
          </a:xfrm>
          <a:prstGeom prst="roundRect">
            <a:avLst>
              <a:gd name="adj" fmla="val 10000"/>
            </a:avLst>
          </a:prstGeom>
          <a:solidFill>
            <a:srgbClr val="501E2E"/>
          </a:solidFill>
          <a:ln w="15875">
            <a:solidFill>
              <a:srgbClr val="FF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hash "the Great", "Alexander the Great"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001125" y="3048000"/>
            <a:ext cx="0" cy="2286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600825" y="3276600"/>
            <a:ext cx="4800600" cy="476250"/>
          </a:xfrm>
          <a:prstGeom prst="roundRect">
            <a:avLst>
              <a:gd name="adj" fmla="val 10000"/>
            </a:avLst>
          </a:prstGeom>
          <a:solidFill>
            <a:srgbClr val="501E2E"/>
          </a:solidFill>
          <a:ln w="15875">
            <a:solidFill>
              <a:srgbClr val="FF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rows 4,112,907, 7,340,551, ... (illustrative)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001125" y="3752850"/>
            <a:ext cx="0" cy="2286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600825" y="3981450"/>
            <a:ext cx="4800600" cy="47625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embedding table rows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001125" y="4457700"/>
            <a:ext cx="0" cy="2286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600825" y="4686300"/>
            <a:ext cx="4800600" cy="4762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gate with h, add to residual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00825" y="5257800"/>
            <a:ext cx="48006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address known from the input tokens, before the layers run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Gathering rows from a table split across ranks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Green: reader GPU.  Blue: owner GPU works.  Grey: owner GPU runs no kernel.  Pink: row ids.  Yellow: rows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9575" y="1066800"/>
            <a:ext cx="35623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all_reduce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9575" y="1352550"/>
            <a:ext cx="35623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V4.1 reference inference code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9575" y="1676400"/>
            <a:ext cx="3562350" cy="3810000"/>
          </a:xfrm>
          <a:prstGeom prst="roundRect">
            <a:avLst>
              <a:gd name="adj" fmla="val 4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14825" y="1066800"/>
            <a:ext cx="35623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All-to-All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14825" y="1352550"/>
            <a:ext cx="35623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paper, training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4825" y="1676400"/>
            <a:ext cx="3562350" cy="3810000"/>
          </a:xfrm>
          <a:prstGeom prst="roundRect">
            <a:avLst>
              <a:gd name="adj" fmla="val 4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0075" y="1066800"/>
            <a:ext cx="35623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GIN get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0075" y="1352550"/>
            <a:ext cx="35623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DeepEP Engram (experimental)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0075" y="1676400"/>
            <a:ext cx="3562350" cy="3810000"/>
          </a:xfrm>
          <a:prstGeom prst="roundRect">
            <a:avLst>
              <a:gd name="adj" fmla="val 4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95325" y="1905000"/>
            <a:ext cx="2990850" cy="914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rank 0: looks up all ids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rows it does not own = 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5325" y="4191000"/>
            <a:ext cx="2990850" cy="9144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rank 1: looks up all ids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rows it does not own = 0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1143000" y="2819400"/>
            <a:ext cx="0" cy="1371600"/>
          </a:xfrm>
          <a:prstGeom prst="line">
            <a:avLst/>
          </a:prstGeom>
          <a:ln w="3810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809750" y="2819400"/>
            <a:ext cx="0" cy="1371600"/>
          </a:xfrm>
          <a:prstGeom prst="line">
            <a:avLst/>
          </a:prstGeom>
          <a:ln w="3810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000250" y="3267075"/>
            <a:ext cx="1905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partial results</a:t>
            </a:r>
          </a:p>
          <a:p>
            <a:pPr algn="l">
              <a:lnSpc>
                <a:spcPct val="122000"/>
              </a:lnSpc>
            </a:pPr>
            <a:r>
              <a:rPr sz="1400" b="0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summed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00575" y="1905000"/>
            <a:ext cx="2990850" cy="914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rank 0: sends row ids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00575" y="4191000"/>
            <a:ext cx="2990850" cy="9144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rank 1: reads its rows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sends them back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334000" y="2819400"/>
            <a:ext cx="0" cy="1371600"/>
          </a:xfrm>
          <a:prstGeom prst="line">
            <a:avLst/>
          </a:prstGeom>
          <a:ln w="38100">
            <a:solidFill>
              <a:srgbClr val="FF78A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410075" y="3267075"/>
            <a:ext cx="809625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2000"/>
              </a:lnSpc>
            </a:pPr>
            <a:r>
              <a:rPr sz="1400" b="0">
                <a:solidFill>
                  <a:srgbClr val="FF78A0"/>
                </a:solidFill>
                <a:latin typeface="Amazon Ember"/>
                <a:ea typeface="メイリオ"/>
                <a:cs typeface="メイリオ"/>
              </a:rPr>
              <a:t>row ids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6858000" y="2819400"/>
            <a:ext cx="0" cy="1371600"/>
          </a:xfrm>
          <a:prstGeom prst="line">
            <a:avLst/>
          </a:prstGeom>
          <a:ln w="3810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000875" y="3238500"/>
            <a:ext cx="1333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rows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05825" y="1905000"/>
            <a:ext cx="2990850" cy="914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rank 0: get(row offset)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then waits for completion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505825" y="4191000"/>
            <a:ext cx="2990850" cy="9144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rank 1: no row-serving kernel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NIC reads its storage (RDMA)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10763250" y="2819400"/>
            <a:ext cx="0" cy="1371600"/>
          </a:xfrm>
          <a:prstGeom prst="line">
            <a:avLst/>
          </a:prstGeom>
          <a:ln w="3810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0906125" y="3238500"/>
            <a:ext cx="952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rows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Two kinds of sparsity per token (DeepSeek-V4.1-Flash)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Green: used for this token (positions illustrative).  Grey: not used.  Yellow: Engram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9575" y="1066800"/>
            <a:ext cx="55626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MoE layer: sparse compute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9825" y="1066800"/>
            <a:ext cx="55626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Engram layer 1: sparse memory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9575" y="1428750"/>
            <a:ext cx="5562600" cy="3619500"/>
          </a:xfrm>
          <a:prstGeom prst="roundRect">
            <a:avLst>
              <a:gd name="adj" fmla="val 4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9825" y="1428750"/>
            <a:ext cx="5562600" cy="3619500"/>
          </a:xfrm>
          <a:prstGeom prst="roundRect">
            <a:avLst>
              <a:gd name="adj" fmla="val 4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00075" y="16192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2000" y="16192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23925" y="16192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85850" y="16192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247775" y="16192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409700" y="16192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24A046"/>
          </a:solidFill>
          <a:ln w="6350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571625" y="16192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733550" y="16192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895475" y="16192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057400" y="16192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219325" y="16192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381250" y="16192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543175" y="16192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705100" y="16192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867025" y="16192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028950" y="16192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190875" y="16192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352800" y="16192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514725" y="16192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676650" y="16192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838575" y="16192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000500" y="16192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162425" y="16192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324350" y="16192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486275" y="16192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648200" y="16192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810125" y="16192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972050" y="16192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133975" y="16192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295900" y="16192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5457825" y="16192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5619750" y="16192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00075" y="18288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62000" y="18288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23925" y="18288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085850" y="18288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1247775" y="18288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1409700" y="18288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571625" y="18288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733550" y="18288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1895475" y="18288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2057400" y="18288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24A046"/>
          </a:solidFill>
          <a:ln w="6350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2219325" y="18288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2381250" y="18288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2543175" y="18288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2705100" y="18288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2867025" y="18288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3028950" y="18288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3190875" y="18288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3352800" y="18288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3514725" y="18288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3676650" y="18288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3838575" y="18288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4000500" y="18288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4162425" y="18288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324350" y="18288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4486275" y="18288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4648200" y="18288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4810125" y="18288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4972050" y="18288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5133975" y="18288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5295900" y="18288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5457825" y="18288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5619750" y="18288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600075" y="20383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762000" y="20383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923925" y="20383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1085850" y="20383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1247775" y="20383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1409700" y="20383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1571625" y="20383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1733550" y="20383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1895475" y="20383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2057400" y="20383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2219325" y="20383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2381250" y="20383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2543175" y="20383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2705100" y="20383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24A046"/>
          </a:solidFill>
          <a:ln w="6350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2867025" y="20383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3028950" y="20383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3190875" y="20383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3352800" y="20383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3514725" y="20383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3676650" y="20383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3838575" y="20383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4000500" y="20383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ounded Rectangle 93"/>
          <p:cNvSpPr/>
          <p:nvPr/>
        </p:nvSpPr>
        <p:spPr>
          <a:xfrm>
            <a:off x="4162425" y="20383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4324350" y="20383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4486275" y="20383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4648200" y="20383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4810125" y="20383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4972050" y="20383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5133975" y="20383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5295900" y="20383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5457825" y="20383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ounded Rectangle 102"/>
          <p:cNvSpPr/>
          <p:nvPr/>
        </p:nvSpPr>
        <p:spPr>
          <a:xfrm>
            <a:off x="5619750" y="20383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ounded Rectangle 103"/>
          <p:cNvSpPr/>
          <p:nvPr/>
        </p:nvSpPr>
        <p:spPr>
          <a:xfrm>
            <a:off x="600075" y="22479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762000" y="22479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ounded Rectangle 105"/>
          <p:cNvSpPr/>
          <p:nvPr/>
        </p:nvSpPr>
        <p:spPr>
          <a:xfrm>
            <a:off x="923925" y="22479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ounded Rectangle 106"/>
          <p:cNvSpPr/>
          <p:nvPr/>
        </p:nvSpPr>
        <p:spPr>
          <a:xfrm>
            <a:off x="1085850" y="22479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ounded Rectangle 107"/>
          <p:cNvSpPr/>
          <p:nvPr/>
        </p:nvSpPr>
        <p:spPr>
          <a:xfrm>
            <a:off x="1247775" y="22479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ounded Rectangle 108"/>
          <p:cNvSpPr/>
          <p:nvPr/>
        </p:nvSpPr>
        <p:spPr>
          <a:xfrm>
            <a:off x="1409700" y="22479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ounded Rectangle 109"/>
          <p:cNvSpPr/>
          <p:nvPr/>
        </p:nvSpPr>
        <p:spPr>
          <a:xfrm>
            <a:off x="1571625" y="22479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ounded Rectangle 110"/>
          <p:cNvSpPr/>
          <p:nvPr/>
        </p:nvSpPr>
        <p:spPr>
          <a:xfrm>
            <a:off x="1733550" y="22479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ounded Rectangle 111"/>
          <p:cNvSpPr/>
          <p:nvPr/>
        </p:nvSpPr>
        <p:spPr>
          <a:xfrm>
            <a:off x="1895475" y="22479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ounded Rectangle 112"/>
          <p:cNvSpPr/>
          <p:nvPr/>
        </p:nvSpPr>
        <p:spPr>
          <a:xfrm>
            <a:off x="2057400" y="22479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2219325" y="22479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ounded Rectangle 114"/>
          <p:cNvSpPr/>
          <p:nvPr/>
        </p:nvSpPr>
        <p:spPr>
          <a:xfrm>
            <a:off x="2381250" y="22479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2543175" y="22479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ounded Rectangle 116"/>
          <p:cNvSpPr/>
          <p:nvPr/>
        </p:nvSpPr>
        <p:spPr>
          <a:xfrm>
            <a:off x="2705100" y="22479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ounded Rectangle 117"/>
          <p:cNvSpPr/>
          <p:nvPr/>
        </p:nvSpPr>
        <p:spPr>
          <a:xfrm>
            <a:off x="2867025" y="22479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ounded Rectangle 118"/>
          <p:cNvSpPr/>
          <p:nvPr/>
        </p:nvSpPr>
        <p:spPr>
          <a:xfrm>
            <a:off x="3028950" y="22479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ounded Rectangle 119"/>
          <p:cNvSpPr/>
          <p:nvPr/>
        </p:nvSpPr>
        <p:spPr>
          <a:xfrm>
            <a:off x="3190875" y="22479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3352800" y="22479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ounded Rectangle 121"/>
          <p:cNvSpPr/>
          <p:nvPr/>
        </p:nvSpPr>
        <p:spPr>
          <a:xfrm>
            <a:off x="3514725" y="22479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ounded Rectangle 122"/>
          <p:cNvSpPr/>
          <p:nvPr/>
        </p:nvSpPr>
        <p:spPr>
          <a:xfrm>
            <a:off x="3676650" y="22479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ounded Rectangle 123"/>
          <p:cNvSpPr/>
          <p:nvPr/>
        </p:nvSpPr>
        <p:spPr>
          <a:xfrm>
            <a:off x="3838575" y="22479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ounded Rectangle 124"/>
          <p:cNvSpPr/>
          <p:nvPr/>
        </p:nvSpPr>
        <p:spPr>
          <a:xfrm>
            <a:off x="4000500" y="22479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ounded Rectangle 125"/>
          <p:cNvSpPr/>
          <p:nvPr/>
        </p:nvSpPr>
        <p:spPr>
          <a:xfrm>
            <a:off x="4162425" y="22479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ounded Rectangle 126"/>
          <p:cNvSpPr/>
          <p:nvPr/>
        </p:nvSpPr>
        <p:spPr>
          <a:xfrm>
            <a:off x="4324350" y="22479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ounded Rectangle 127"/>
          <p:cNvSpPr/>
          <p:nvPr/>
        </p:nvSpPr>
        <p:spPr>
          <a:xfrm>
            <a:off x="4486275" y="22479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ounded Rectangle 128"/>
          <p:cNvSpPr/>
          <p:nvPr/>
        </p:nvSpPr>
        <p:spPr>
          <a:xfrm>
            <a:off x="4648200" y="22479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ounded Rectangle 129"/>
          <p:cNvSpPr/>
          <p:nvPr/>
        </p:nvSpPr>
        <p:spPr>
          <a:xfrm>
            <a:off x="4810125" y="22479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ounded Rectangle 130"/>
          <p:cNvSpPr/>
          <p:nvPr/>
        </p:nvSpPr>
        <p:spPr>
          <a:xfrm>
            <a:off x="4972050" y="22479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ounded Rectangle 131"/>
          <p:cNvSpPr/>
          <p:nvPr/>
        </p:nvSpPr>
        <p:spPr>
          <a:xfrm>
            <a:off x="5133975" y="22479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ounded Rectangle 132"/>
          <p:cNvSpPr/>
          <p:nvPr/>
        </p:nvSpPr>
        <p:spPr>
          <a:xfrm>
            <a:off x="5295900" y="22479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ounded Rectangle 133"/>
          <p:cNvSpPr/>
          <p:nvPr/>
        </p:nvSpPr>
        <p:spPr>
          <a:xfrm>
            <a:off x="5457825" y="22479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ounded Rectangle 134"/>
          <p:cNvSpPr/>
          <p:nvPr/>
        </p:nvSpPr>
        <p:spPr>
          <a:xfrm>
            <a:off x="5619750" y="22479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ounded Rectangle 135"/>
          <p:cNvSpPr/>
          <p:nvPr/>
        </p:nvSpPr>
        <p:spPr>
          <a:xfrm>
            <a:off x="600075" y="24574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ounded Rectangle 136"/>
          <p:cNvSpPr/>
          <p:nvPr/>
        </p:nvSpPr>
        <p:spPr>
          <a:xfrm>
            <a:off x="762000" y="24574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ounded Rectangle 137"/>
          <p:cNvSpPr/>
          <p:nvPr/>
        </p:nvSpPr>
        <p:spPr>
          <a:xfrm>
            <a:off x="923925" y="24574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24A046"/>
          </a:solidFill>
          <a:ln w="6350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ounded Rectangle 138"/>
          <p:cNvSpPr/>
          <p:nvPr/>
        </p:nvSpPr>
        <p:spPr>
          <a:xfrm>
            <a:off x="1085850" y="24574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ounded Rectangle 139"/>
          <p:cNvSpPr/>
          <p:nvPr/>
        </p:nvSpPr>
        <p:spPr>
          <a:xfrm>
            <a:off x="1247775" y="24574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ounded Rectangle 140"/>
          <p:cNvSpPr/>
          <p:nvPr/>
        </p:nvSpPr>
        <p:spPr>
          <a:xfrm>
            <a:off x="1409700" y="24574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ounded Rectangle 141"/>
          <p:cNvSpPr/>
          <p:nvPr/>
        </p:nvSpPr>
        <p:spPr>
          <a:xfrm>
            <a:off x="1571625" y="24574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ounded Rectangle 142"/>
          <p:cNvSpPr/>
          <p:nvPr/>
        </p:nvSpPr>
        <p:spPr>
          <a:xfrm>
            <a:off x="1733550" y="24574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ounded Rectangle 143"/>
          <p:cNvSpPr/>
          <p:nvPr/>
        </p:nvSpPr>
        <p:spPr>
          <a:xfrm>
            <a:off x="1895475" y="24574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ounded Rectangle 144"/>
          <p:cNvSpPr/>
          <p:nvPr/>
        </p:nvSpPr>
        <p:spPr>
          <a:xfrm>
            <a:off x="2057400" y="24574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ounded Rectangle 145"/>
          <p:cNvSpPr/>
          <p:nvPr/>
        </p:nvSpPr>
        <p:spPr>
          <a:xfrm>
            <a:off x="2219325" y="24574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ounded Rectangle 146"/>
          <p:cNvSpPr/>
          <p:nvPr/>
        </p:nvSpPr>
        <p:spPr>
          <a:xfrm>
            <a:off x="2381250" y="24574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ounded Rectangle 147"/>
          <p:cNvSpPr/>
          <p:nvPr/>
        </p:nvSpPr>
        <p:spPr>
          <a:xfrm>
            <a:off x="2543175" y="24574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ounded Rectangle 148"/>
          <p:cNvSpPr/>
          <p:nvPr/>
        </p:nvSpPr>
        <p:spPr>
          <a:xfrm>
            <a:off x="2705100" y="24574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ounded Rectangle 149"/>
          <p:cNvSpPr/>
          <p:nvPr/>
        </p:nvSpPr>
        <p:spPr>
          <a:xfrm>
            <a:off x="2867025" y="24574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ounded Rectangle 150"/>
          <p:cNvSpPr/>
          <p:nvPr/>
        </p:nvSpPr>
        <p:spPr>
          <a:xfrm>
            <a:off x="3028950" y="24574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ounded Rectangle 151"/>
          <p:cNvSpPr/>
          <p:nvPr/>
        </p:nvSpPr>
        <p:spPr>
          <a:xfrm>
            <a:off x="3190875" y="24574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ounded Rectangle 152"/>
          <p:cNvSpPr/>
          <p:nvPr/>
        </p:nvSpPr>
        <p:spPr>
          <a:xfrm>
            <a:off x="3352800" y="24574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ounded Rectangle 153"/>
          <p:cNvSpPr/>
          <p:nvPr/>
        </p:nvSpPr>
        <p:spPr>
          <a:xfrm>
            <a:off x="3514725" y="24574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ounded Rectangle 154"/>
          <p:cNvSpPr/>
          <p:nvPr/>
        </p:nvSpPr>
        <p:spPr>
          <a:xfrm>
            <a:off x="3676650" y="24574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3838575" y="24574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ounded Rectangle 156"/>
          <p:cNvSpPr/>
          <p:nvPr/>
        </p:nvSpPr>
        <p:spPr>
          <a:xfrm>
            <a:off x="4000500" y="24574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ounded Rectangle 157"/>
          <p:cNvSpPr/>
          <p:nvPr/>
        </p:nvSpPr>
        <p:spPr>
          <a:xfrm>
            <a:off x="4162425" y="24574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ounded Rectangle 158"/>
          <p:cNvSpPr/>
          <p:nvPr/>
        </p:nvSpPr>
        <p:spPr>
          <a:xfrm>
            <a:off x="4324350" y="24574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ounded Rectangle 159"/>
          <p:cNvSpPr/>
          <p:nvPr/>
        </p:nvSpPr>
        <p:spPr>
          <a:xfrm>
            <a:off x="4486275" y="24574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ounded Rectangle 160"/>
          <p:cNvSpPr/>
          <p:nvPr/>
        </p:nvSpPr>
        <p:spPr>
          <a:xfrm>
            <a:off x="4648200" y="24574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ounded Rectangle 161"/>
          <p:cNvSpPr/>
          <p:nvPr/>
        </p:nvSpPr>
        <p:spPr>
          <a:xfrm>
            <a:off x="4810125" y="24574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ounded Rectangle 162"/>
          <p:cNvSpPr/>
          <p:nvPr/>
        </p:nvSpPr>
        <p:spPr>
          <a:xfrm>
            <a:off x="4972050" y="24574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ounded Rectangle 163"/>
          <p:cNvSpPr/>
          <p:nvPr/>
        </p:nvSpPr>
        <p:spPr>
          <a:xfrm>
            <a:off x="5133975" y="24574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ounded Rectangle 164"/>
          <p:cNvSpPr/>
          <p:nvPr/>
        </p:nvSpPr>
        <p:spPr>
          <a:xfrm>
            <a:off x="5295900" y="24574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ounded Rectangle 165"/>
          <p:cNvSpPr/>
          <p:nvPr/>
        </p:nvSpPr>
        <p:spPr>
          <a:xfrm>
            <a:off x="5457825" y="24574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ounded Rectangle 166"/>
          <p:cNvSpPr/>
          <p:nvPr/>
        </p:nvSpPr>
        <p:spPr>
          <a:xfrm>
            <a:off x="5619750" y="24574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ounded Rectangle 167"/>
          <p:cNvSpPr/>
          <p:nvPr/>
        </p:nvSpPr>
        <p:spPr>
          <a:xfrm>
            <a:off x="600075" y="26670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ounded Rectangle 168"/>
          <p:cNvSpPr/>
          <p:nvPr/>
        </p:nvSpPr>
        <p:spPr>
          <a:xfrm>
            <a:off x="762000" y="26670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ounded Rectangle 169"/>
          <p:cNvSpPr/>
          <p:nvPr/>
        </p:nvSpPr>
        <p:spPr>
          <a:xfrm>
            <a:off x="923925" y="26670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ounded Rectangle 170"/>
          <p:cNvSpPr/>
          <p:nvPr/>
        </p:nvSpPr>
        <p:spPr>
          <a:xfrm>
            <a:off x="1085850" y="26670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ounded Rectangle 171"/>
          <p:cNvSpPr/>
          <p:nvPr/>
        </p:nvSpPr>
        <p:spPr>
          <a:xfrm>
            <a:off x="1247775" y="26670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ounded Rectangle 172"/>
          <p:cNvSpPr/>
          <p:nvPr/>
        </p:nvSpPr>
        <p:spPr>
          <a:xfrm>
            <a:off x="1409700" y="26670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ounded Rectangle 173"/>
          <p:cNvSpPr/>
          <p:nvPr/>
        </p:nvSpPr>
        <p:spPr>
          <a:xfrm>
            <a:off x="1571625" y="26670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ounded Rectangle 174"/>
          <p:cNvSpPr/>
          <p:nvPr/>
        </p:nvSpPr>
        <p:spPr>
          <a:xfrm>
            <a:off x="1733550" y="26670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ounded Rectangle 175"/>
          <p:cNvSpPr/>
          <p:nvPr/>
        </p:nvSpPr>
        <p:spPr>
          <a:xfrm>
            <a:off x="1895475" y="26670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ounded Rectangle 176"/>
          <p:cNvSpPr/>
          <p:nvPr/>
        </p:nvSpPr>
        <p:spPr>
          <a:xfrm>
            <a:off x="2057400" y="26670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ounded Rectangle 177"/>
          <p:cNvSpPr/>
          <p:nvPr/>
        </p:nvSpPr>
        <p:spPr>
          <a:xfrm>
            <a:off x="2219325" y="26670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ounded Rectangle 178"/>
          <p:cNvSpPr/>
          <p:nvPr/>
        </p:nvSpPr>
        <p:spPr>
          <a:xfrm>
            <a:off x="2381250" y="26670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ounded Rectangle 179"/>
          <p:cNvSpPr/>
          <p:nvPr/>
        </p:nvSpPr>
        <p:spPr>
          <a:xfrm>
            <a:off x="2543175" y="26670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ounded Rectangle 180"/>
          <p:cNvSpPr/>
          <p:nvPr/>
        </p:nvSpPr>
        <p:spPr>
          <a:xfrm>
            <a:off x="2705100" y="26670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ounded Rectangle 181"/>
          <p:cNvSpPr/>
          <p:nvPr/>
        </p:nvSpPr>
        <p:spPr>
          <a:xfrm>
            <a:off x="2867025" y="26670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ounded Rectangle 182"/>
          <p:cNvSpPr/>
          <p:nvPr/>
        </p:nvSpPr>
        <p:spPr>
          <a:xfrm>
            <a:off x="3028950" y="26670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ounded Rectangle 183"/>
          <p:cNvSpPr/>
          <p:nvPr/>
        </p:nvSpPr>
        <p:spPr>
          <a:xfrm>
            <a:off x="3190875" y="26670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ounded Rectangle 184"/>
          <p:cNvSpPr/>
          <p:nvPr/>
        </p:nvSpPr>
        <p:spPr>
          <a:xfrm>
            <a:off x="3352800" y="26670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ounded Rectangle 185"/>
          <p:cNvSpPr/>
          <p:nvPr/>
        </p:nvSpPr>
        <p:spPr>
          <a:xfrm>
            <a:off x="3514725" y="26670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ounded Rectangle 186"/>
          <p:cNvSpPr/>
          <p:nvPr/>
        </p:nvSpPr>
        <p:spPr>
          <a:xfrm>
            <a:off x="3676650" y="26670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ounded Rectangle 187"/>
          <p:cNvSpPr/>
          <p:nvPr/>
        </p:nvSpPr>
        <p:spPr>
          <a:xfrm>
            <a:off x="3838575" y="26670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ounded Rectangle 188"/>
          <p:cNvSpPr/>
          <p:nvPr/>
        </p:nvSpPr>
        <p:spPr>
          <a:xfrm>
            <a:off x="4000500" y="26670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ounded Rectangle 189"/>
          <p:cNvSpPr/>
          <p:nvPr/>
        </p:nvSpPr>
        <p:spPr>
          <a:xfrm>
            <a:off x="4162425" y="26670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ounded Rectangle 190"/>
          <p:cNvSpPr/>
          <p:nvPr/>
        </p:nvSpPr>
        <p:spPr>
          <a:xfrm>
            <a:off x="4324350" y="26670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ounded Rectangle 191"/>
          <p:cNvSpPr/>
          <p:nvPr/>
        </p:nvSpPr>
        <p:spPr>
          <a:xfrm>
            <a:off x="4486275" y="26670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ounded Rectangle 192"/>
          <p:cNvSpPr/>
          <p:nvPr/>
        </p:nvSpPr>
        <p:spPr>
          <a:xfrm>
            <a:off x="4648200" y="26670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ounded Rectangle 193"/>
          <p:cNvSpPr/>
          <p:nvPr/>
        </p:nvSpPr>
        <p:spPr>
          <a:xfrm>
            <a:off x="4810125" y="26670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ounded Rectangle 194"/>
          <p:cNvSpPr/>
          <p:nvPr/>
        </p:nvSpPr>
        <p:spPr>
          <a:xfrm>
            <a:off x="4972050" y="26670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ounded Rectangle 195"/>
          <p:cNvSpPr/>
          <p:nvPr/>
        </p:nvSpPr>
        <p:spPr>
          <a:xfrm>
            <a:off x="5133975" y="26670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ounded Rectangle 196"/>
          <p:cNvSpPr/>
          <p:nvPr/>
        </p:nvSpPr>
        <p:spPr>
          <a:xfrm>
            <a:off x="5295900" y="26670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ounded Rectangle 197"/>
          <p:cNvSpPr/>
          <p:nvPr/>
        </p:nvSpPr>
        <p:spPr>
          <a:xfrm>
            <a:off x="5457825" y="26670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ounded Rectangle 198"/>
          <p:cNvSpPr/>
          <p:nvPr/>
        </p:nvSpPr>
        <p:spPr>
          <a:xfrm>
            <a:off x="5619750" y="26670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ounded Rectangle 199"/>
          <p:cNvSpPr/>
          <p:nvPr/>
        </p:nvSpPr>
        <p:spPr>
          <a:xfrm>
            <a:off x="600075" y="28765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ounded Rectangle 200"/>
          <p:cNvSpPr/>
          <p:nvPr/>
        </p:nvSpPr>
        <p:spPr>
          <a:xfrm>
            <a:off x="762000" y="28765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ounded Rectangle 201"/>
          <p:cNvSpPr/>
          <p:nvPr/>
        </p:nvSpPr>
        <p:spPr>
          <a:xfrm>
            <a:off x="923925" y="28765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ounded Rectangle 202"/>
          <p:cNvSpPr/>
          <p:nvPr/>
        </p:nvSpPr>
        <p:spPr>
          <a:xfrm>
            <a:off x="1085850" y="28765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ounded Rectangle 203"/>
          <p:cNvSpPr/>
          <p:nvPr/>
        </p:nvSpPr>
        <p:spPr>
          <a:xfrm>
            <a:off x="1247775" y="28765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ounded Rectangle 204"/>
          <p:cNvSpPr/>
          <p:nvPr/>
        </p:nvSpPr>
        <p:spPr>
          <a:xfrm>
            <a:off x="1409700" y="28765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ounded Rectangle 205"/>
          <p:cNvSpPr/>
          <p:nvPr/>
        </p:nvSpPr>
        <p:spPr>
          <a:xfrm>
            <a:off x="1571625" y="28765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ounded Rectangle 206"/>
          <p:cNvSpPr/>
          <p:nvPr/>
        </p:nvSpPr>
        <p:spPr>
          <a:xfrm>
            <a:off x="1733550" y="28765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ounded Rectangle 207"/>
          <p:cNvSpPr/>
          <p:nvPr/>
        </p:nvSpPr>
        <p:spPr>
          <a:xfrm>
            <a:off x="1895475" y="28765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ounded Rectangle 208"/>
          <p:cNvSpPr/>
          <p:nvPr/>
        </p:nvSpPr>
        <p:spPr>
          <a:xfrm>
            <a:off x="2057400" y="28765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24A046"/>
          </a:solidFill>
          <a:ln w="6350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ounded Rectangle 209"/>
          <p:cNvSpPr/>
          <p:nvPr/>
        </p:nvSpPr>
        <p:spPr>
          <a:xfrm>
            <a:off x="2219325" y="28765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ounded Rectangle 210"/>
          <p:cNvSpPr/>
          <p:nvPr/>
        </p:nvSpPr>
        <p:spPr>
          <a:xfrm>
            <a:off x="2381250" y="28765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ounded Rectangle 211"/>
          <p:cNvSpPr/>
          <p:nvPr/>
        </p:nvSpPr>
        <p:spPr>
          <a:xfrm>
            <a:off x="2543175" y="28765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ounded Rectangle 212"/>
          <p:cNvSpPr/>
          <p:nvPr/>
        </p:nvSpPr>
        <p:spPr>
          <a:xfrm>
            <a:off x="2705100" y="28765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ounded Rectangle 213"/>
          <p:cNvSpPr/>
          <p:nvPr/>
        </p:nvSpPr>
        <p:spPr>
          <a:xfrm>
            <a:off x="2867025" y="28765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ounded Rectangle 214"/>
          <p:cNvSpPr/>
          <p:nvPr/>
        </p:nvSpPr>
        <p:spPr>
          <a:xfrm>
            <a:off x="3028950" y="28765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ounded Rectangle 215"/>
          <p:cNvSpPr/>
          <p:nvPr/>
        </p:nvSpPr>
        <p:spPr>
          <a:xfrm>
            <a:off x="3190875" y="28765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ounded Rectangle 216"/>
          <p:cNvSpPr/>
          <p:nvPr/>
        </p:nvSpPr>
        <p:spPr>
          <a:xfrm>
            <a:off x="3352800" y="28765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ounded Rectangle 217"/>
          <p:cNvSpPr/>
          <p:nvPr/>
        </p:nvSpPr>
        <p:spPr>
          <a:xfrm>
            <a:off x="3514725" y="28765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ounded Rectangle 218"/>
          <p:cNvSpPr/>
          <p:nvPr/>
        </p:nvSpPr>
        <p:spPr>
          <a:xfrm>
            <a:off x="3676650" y="28765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Rounded Rectangle 219"/>
          <p:cNvSpPr/>
          <p:nvPr/>
        </p:nvSpPr>
        <p:spPr>
          <a:xfrm>
            <a:off x="3838575" y="28765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ounded Rectangle 220"/>
          <p:cNvSpPr/>
          <p:nvPr/>
        </p:nvSpPr>
        <p:spPr>
          <a:xfrm>
            <a:off x="4000500" y="28765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ounded Rectangle 221"/>
          <p:cNvSpPr/>
          <p:nvPr/>
        </p:nvSpPr>
        <p:spPr>
          <a:xfrm>
            <a:off x="4162425" y="28765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ounded Rectangle 222"/>
          <p:cNvSpPr/>
          <p:nvPr/>
        </p:nvSpPr>
        <p:spPr>
          <a:xfrm>
            <a:off x="4324350" y="28765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ounded Rectangle 223"/>
          <p:cNvSpPr/>
          <p:nvPr/>
        </p:nvSpPr>
        <p:spPr>
          <a:xfrm>
            <a:off x="4486275" y="28765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ounded Rectangle 224"/>
          <p:cNvSpPr/>
          <p:nvPr/>
        </p:nvSpPr>
        <p:spPr>
          <a:xfrm>
            <a:off x="4648200" y="28765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ounded Rectangle 225"/>
          <p:cNvSpPr/>
          <p:nvPr/>
        </p:nvSpPr>
        <p:spPr>
          <a:xfrm>
            <a:off x="4810125" y="28765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Rounded Rectangle 226"/>
          <p:cNvSpPr/>
          <p:nvPr/>
        </p:nvSpPr>
        <p:spPr>
          <a:xfrm>
            <a:off x="4972050" y="28765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Rounded Rectangle 227"/>
          <p:cNvSpPr/>
          <p:nvPr/>
        </p:nvSpPr>
        <p:spPr>
          <a:xfrm>
            <a:off x="5133975" y="28765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Rounded Rectangle 228"/>
          <p:cNvSpPr/>
          <p:nvPr/>
        </p:nvSpPr>
        <p:spPr>
          <a:xfrm>
            <a:off x="5295900" y="28765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Rounded Rectangle 229"/>
          <p:cNvSpPr/>
          <p:nvPr/>
        </p:nvSpPr>
        <p:spPr>
          <a:xfrm>
            <a:off x="5457825" y="28765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ounded Rectangle 230"/>
          <p:cNvSpPr/>
          <p:nvPr/>
        </p:nvSpPr>
        <p:spPr>
          <a:xfrm>
            <a:off x="5619750" y="28765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ounded Rectangle 231"/>
          <p:cNvSpPr/>
          <p:nvPr/>
        </p:nvSpPr>
        <p:spPr>
          <a:xfrm>
            <a:off x="600075" y="30861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Rounded Rectangle 232"/>
          <p:cNvSpPr/>
          <p:nvPr/>
        </p:nvSpPr>
        <p:spPr>
          <a:xfrm>
            <a:off x="762000" y="30861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Rounded Rectangle 233"/>
          <p:cNvSpPr/>
          <p:nvPr/>
        </p:nvSpPr>
        <p:spPr>
          <a:xfrm>
            <a:off x="923925" y="30861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Rounded Rectangle 234"/>
          <p:cNvSpPr/>
          <p:nvPr/>
        </p:nvSpPr>
        <p:spPr>
          <a:xfrm>
            <a:off x="1085850" y="30861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Rounded Rectangle 235"/>
          <p:cNvSpPr/>
          <p:nvPr/>
        </p:nvSpPr>
        <p:spPr>
          <a:xfrm>
            <a:off x="1247775" y="30861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Rounded Rectangle 236"/>
          <p:cNvSpPr/>
          <p:nvPr/>
        </p:nvSpPr>
        <p:spPr>
          <a:xfrm>
            <a:off x="1409700" y="30861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Rounded Rectangle 237"/>
          <p:cNvSpPr/>
          <p:nvPr/>
        </p:nvSpPr>
        <p:spPr>
          <a:xfrm>
            <a:off x="1571625" y="30861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Rounded Rectangle 238"/>
          <p:cNvSpPr/>
          <p:nvPr/>
        </p:nvSpPr>
        <p:spPr>
          <a:xfrm>
            <a:off x="1733550" y="30861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Rounded Rectangle 239"/>
          <p:cNvSpPr/>
          <p:nvPr/>
        </p:nvSpPr>
        <p:spPr>
          <a:xfrm>
            <a:off x="1895475" y="30861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Rounded Rectangle 240"/>
          <p:cNvSpPr/>
          <p:nvPr/>
        </p:nvSpPr>
        <p:spPr>
          <a:xfrm>
            <a:off x="2057400" y="30861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Rounded Rectangle 241"/>
          <p:cNvSpPr/>
          <p:nvPr/>
        </p:nvSpPr>
        <p:spPr>
          <a:xfrm>
            <a:off x="2219325" y="30861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ounded Rectangle 242"/>
          <p:cNvSpPr/>
          <p:nvPr/>
        </p:nvSpPr>
        <p:spPr>
          <a:xfrm>
            <a:off x="2381250" y="30861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Rounded Rectangle 243"/>
          <p:cNvSpPr/>
          <p:nvPr/>
        </p:nvSpPr>
        <p:spPr>
          <a:xfrm>
            <a:off x="2543175" y="30861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ounded Rectangle 244"/>
          <p:cNvSpPr/>
          <p:nvPr/>
        </p:nvSpPr>
        <p:spPr>
          <a:xfrm>
            <a:off x="2705100" y="30861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ounded Rectangle 245"/>
          <p:cNvSpPr/>
          <p:nvPr/>
        </p:nvSpPr>
        <p:spPr>
          <a:xfrm>
            <a:off x="2867025" y="30861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ounded Rectangle 246"/>
          <p:cNvSpPr/>
          <p:nvPr/>
        </p:nvSpPr>
        <p:spPr>
          <a:xfrm>
            <a:off x="3028950" y="30861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Rounded Rectangle 247"/>
          <p:cNvSpPr/>
          <p:nvPr/>
        </p:nvSpPr>
        <p:spPr>
          <a:xfrm>
            <a:off x="3190875" y="30861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Rounded Rectangle 248"/>
          <p:cNvSpPr/>
          <p:nvPr/>
        </p:nvSpPr>
        <p:spPr>
          <a:xfrm>
            <a:off x="3352800" y="30861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Rounded Rectangle 249"/>
          <p:cNvSpPr/>
          <p:nvPr/>
        </p:nvSpPr>
        <p:spPr>
          <a:xfrm>
            <a:off x="3514725" y="30861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Rounded Rectangle 250"/>
          <p:cNvSpPr/>
          <p:nvPr/>
        </p:nvSpPr>
        <p:spPr>
          <a:xfrm>
            <a:off x="3676650" y="30861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ounded Rectangle 251"/>
          <p:cNvSpPr/>
          <p:nvPr/>
        </p:nvSpPr>
        <p:spPr>
          <a:xfrm>
            <a:off x="3838575" y="30861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ounded Rectangle 252"/>
          <p:cNvSpPr/>
          <p:nvPr/>
        </p:nvSpPr>
        <p:spPr>
          <a:xfrm>
            <a:off x="4000500" y="30861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ounded Rectangle 253"/>
          <p:cNvSpPr/>
          <p:nvPr/>
        </p:nvSpPr>
        <p:spPr>
          <a:xfrm>
            <a:off x="4162425" y="30861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Rounded Rectangle 254"/>
          <p:cNvSpPr/>
          <p:nvPr/>
        </p:nvSpPr>
        <p:spPr>
          <a:xfrm>
            <a:off x="4324350" y="30861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Rounded Rectangle 255"/>
          <p:cNvSpPr/>
          <p:nvPr/>
        </p:nvSpPr>
        <p:spPr>
          <a:xfrm>
            <a:off x="4486275" y="30861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Rounded Rectangle 256"/>
          <p:cNvSpPr/>
          <p:nvPr/>
        </p:nvSpPr>
        <p:spPr>
          <a:xfrm>
            <a:off x="4648200" y="30861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Rounded Rectangle 257"/>
          <p:cNvSpPr/>
          <p:nvPr/>
        </p:nvSpPr>
        <p:spPr>
          <a:xfrm>
            <a:off x="4810125" y="30861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Rounded Rectangle 258"/>
          <p:cNvSpPr/>
          <p:nvPr/>
        </p:nvSpPr>
        <p:spPr>
          <a:xfrm>
            <a:off x="4972050" y="30861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Rounded Rectangle 259"/>
          <p:cNvSpPr/>
          <p:nvPr/>
        </p:nvSpPr>
        <p:spPr>
          <a:xfrm>
            <a:off x="5133975" y="30861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Rounded Rectangle 260"/>
          <p:cNvSpPr/>
          <p:nvPr/>
        </p:nvSpPr>
        <p:spPr>
          <a:xfrm>
            <a:off x="5295900" y="30861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Rounded Rectangle 261"/>
          <p:cNvSpPr/>
          <p:nvPr/>
        </p:nvSpPr>
        <p:spPr>
          <a:xfrm>
            <a:off x="5457825" y="30861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Rounded Rectangle 262"/>
          <p:cNvSpPr/>
          <p:nvPr/>
        </p:nvSpPr>
        <p:spPr>
          <a:xfrm>
            <a:off x="5619750" y="30861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Rounded Rectangle 263"/>
          <p:cNvSpPr/>
          <p:nvPr/>
        </p:nvSpPr>
        <p:spPr>
          <a:xfrm>
            <a:off x="600075" y="32956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Rounded Rectangle 264"/>
          <p:cNvSpPr/>
          <p:nvPr/>
        </p:nvSpPr>
        <p:spPr>
          <a:xfrm>
            <a:off x="762000" y="32956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Rounded Rectangle 265"/>
          <p:cNvSpPr/>
          <p:nvPr/>
        </p:nvSpPr>
        <p:spPr>
          <a:xfrm>
            <a:off x="923925" y="32956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Rounded Rectangle 266"/>
          <p:cNvSpPr/>
          <p:nvPr/>
        </p:nvSpPr>
        <p:spPr>
          <a:xfrm>
            <a:off x="1085850" y="32956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Rounded Rectangle 267"/>
          <p:cNvSpPr/>
          <p:nvPr/>
        </p:nvSpPr>
        <p:spPr>
          <a:xfrm>
            <a:off x="1247775" y="32956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Rounded Rectangle 268"/>
          <p:cNvSpPr/>
          <p:nvPr/>
        </p:nvSpPr>
        <p:spPr>
          <a:xfrm>
            <a:off x="1409700" y="32956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Rounded Rectangle 269"/>
          <p:cNvSpPr/>
          <p:nvPr/>
        </p:nvSpPr>
        <p:spPr>
          <a:xfrm>
            <a:off x="1571625" y="32956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Rounded Rectangle 270"/>
          <p:cNvSpPr/>
          <p:nvPr/>
        </p:nvSpPr>
        <p:spPr>
          <a:xfrm>
            <a:off x="1733550" y="32956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Rounded Rectangle 271"/>
          <p:cNvSpPr/>
          <p:nvPr/>
        </p:nvSpPr>
        <p:spPr>
          <a:xfrm>
            <a:off x="1895475" y="32956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Rounded Rectangle 272"/>
          <p:cNvSpPr/>
          <p:nvPr/>
        </p:nvSpPr>
        <p:spPr>
          <a:xfrm>
            <a:off x="2057400" y="32956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Rounded Rectangle 273"/>
          <p:cNvSpPr/>
          <p:nvPr/>
        </p:nvSpPr>
        <p:spPr>
          <a:xfrm>
            <a:off x="2219325" y="32956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Rounded Rectangle 274"/>
          <p:cNvSpPr/>
          <p:nvPr/>
        </p:nvSpPr>
        <p:spPr>
          <a:xfrm>
            <a:off x="2381250" y="32956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Rounded Rectangle 275"/>
          <p:cNvSpPr/>
          <p:nvPr/>
        </p:nvSpPr>
        <p:spPr>
          <a:xfrm>
            <a:off x="2543175" y="32956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Rounded Rectangle 276"/>
          <p:cNvSpPr/>
          <p:nvPr/>
        </p:nvSpPr>
        <p:spPr>
          <a:xfrm>
            <a:off x="2705100" y="32956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Rounded Rectangle 277"/>
          <p:cNvSpPr/>
          <p:nvPr/>
        </p:nvSpPr>
        <p:spPr>
          <a:xfrm>
            <a:off x="2867025" y="32956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Rounded Rectangle 278"/>
          <p:cNvSpPr/>
          <p:nvPr/>
        </p:nvSpPr>
        <p:spPr>
          <a:xfrm>
            <a:off x="3028950" y="32956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Rounded Rectangle 279"/>
          <p:cNvSpPr/>
          <p:nvPr/>
        </p:nvSpPr>
        <p:spPr>
          <a:xfrm>
            <a:off x="3190875" y="32956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Rounded Rectangle 280"/>
          <p:cNvSpPr/>
          <p:nvPr/>
        </p:nvSpPr>
        <p:spPr>
          <a:xfrm>
            <a:off x="3352800" y="32956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Rounded Rectangle 281"/>
          <p:cNvSpPr/>
          <p:nvPr/>
        </p:nvSpPr>
        <p:spPr>
          <a:xfrm>
            <a:off x="3514725" y="32956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Rounded Rectangle 282"/>
          <p:cNvSpPr/>
          <p:nvPr/>
        </p:nvSpPr>
        <p:spPr>
          <a:xfrm>
            <a:off x="3676650" y="32956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ounded Rectangle 283"/>
          <p:cNvSpPr/>
          <p:nvPr/>
        </p:nvSpPr>
        <p:spPr>
          <a:xfrm>
            <a:off x="3838575" y="32956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Rounded Rectangle 284"/>
          <p:cNvSpPr/>
          <p:nvPr/>
        </p:nvSpPr>
        <p:spPr>
          <a:xfrm>
            <a:off x="4000500" y="32956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Rounded Rectangle 285"/>
          <p:cNvSpPr/>
          <p:nvPr/>
        </p:nvSpPr>
        <p:spPr>
          <a:xfrm>
            <a:off x="4162425" y="32956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Rounded Rectangle 286"/>
          <p:cNvSpPr/>
          <p:nvPr/>
        </p:nvSpPr>
        <p:spPr>
          <a:xfrm>
            <a:off x="4324350" y="32956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Rounded Rectangle 287"/>
          <p:cNvSpPr/>
          <p:nvPr/>
        </p:nvSpPr>
        <p:spPr>
          <a:xfrm>
            <a:off x="4486275" y="32956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Rounded Rectangle 288"/>
          <p:cNvSpPr/>
          <p:nvPr/>
        </p:nvSpPr>
        <p:spPr>
          <a:xfrm>
            <a:off x="4648200" y="32956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Rounded Rectangle 289"/>
          <p:cNvSpPr/>
          <p:nvPr/>
        </p:nvSpPr>
        <p:spPr>
          <a:xfrm>
            <a:off x="4810125" y="32956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Rounded Rectangle 290"/>
          <p:cNvSpPr/>
          <p:nvPr/>
        </p:nvSpPr>
        <p:spPr>
          <a:xfrm>
            <a:off x="4972050" y="32956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Rounded Rectangle 291"/>
          <p:cNvSpPr/>
          <p:nvPr/>
        </p:nvSpPr>
        <p:spPr>
          <a:xfrm>
            <a:off x="5133975" y="32956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Rounded Rectangle 292"/>
          <p:cNvSpPr/>
          <p:nvPr/>
        </p:nvSpPr>
        <p:spPr>
          <a:xfrm>
            <a:off x="5295900" y="32956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Rounded Rectangle 293"/>
          <p:cNvSpPr/>
          <p:nvPr/>
        </p:nvSpPr>
        <p:spPr>
          <a:xfrm>
            <a:off x="5457825" y="32956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Rounded Rectangle 294"/>
          <p:cNvSpPr/>
          <p:nvPr/>
        </p:nvSpPr>
        <p:spPr>
          <a:xfrm>
            <a:off x="5619750" y="32956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Rounded Rectangle 295"/>
          <p:cNvSpPr/>
          <p:nvPr/>
        </p:nvSpPr>
        <p:spPr>
          <a:xfrm>
            <a:off x="600075" y="35052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Rounded Rectangle 296"/>
          <p:cNvSpPr/>
          <p:nvPr/>
        </p:nvSpPr>
        <p:spPr>
          <a:xfrm>
            <a:off x="762000" y="35052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Rounded Rectangle 297"/>
          <p:cNvSpPr/>
          <p:nvPr/>
        </p:nvSpPr>
        <p:spPr>
          <a:xfrm>
            <a:off x="923925" y="35052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Rounded Rectangle 298"/>
          <p:cNvSpPr/>
          <p:nvPr/>
        </p:nvSpPr>
        <p:spPr>
          <a:xfrm>
            <a:off x="1085850" y="35052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Rounded Rectangle 299"/>
          <p:cNvSpPr/>
          <p:nvPr/>
        </p:nvSpPr>
        <p:spPr>
          <a:xfrm>
            <a:off x="1247775" y="35052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Rounded Rectangle 300"/>
          <p:cNvSpPr/>
          <p:nvPr/>
        </p:nvSpPr>
        <p:spPr>
          <a:xfrm>
            <a:off x="1409700" y="35052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Rounded Rectangle 301"/>
          <p:cNvSpPr/>
          <p:nvPr/>
        </p:nvSpPr>
        <p:spPr>
          <a:xfrm>
            <a:off x="1571625" y="35052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Rounded Rectangle 302"/>
          <p:cNvSpPr/>
          <p:nvPr/>
        </p:nvSpPr>
        <p:spPr>
          <a:xfrm>
            <a:off x="1733550" y="35052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Rounded Rectangle 303"/>
          <p:cNvSpPr/>
          <p:nvPr/>
        </p:nvSpPr>
        <p:spPr>
          <a:xfrm>
            <a:off x="1895475" y="35052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Rounded Rectangle 304"/>
          <p:cNvSpPr/>
          <p:nvPr/>
        </p:nvSpPr>
        <p:spPr>
          <a:xfrm>
            <a:off x="2057400" y="35052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Rounded Rectangle 305"/>
          <p:cNvSpPr/>
          <p:nvPr/>
        </p:nvSpPr>
        <p:spPr>
          <a:xfrm>
            <a:off x="2219325" y="35052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Rounded Rectangle 306"/>
          <p:cNvSpPr/>
          <p:nvPr/>
        </p:nvSpPr>
        <p:spPr>
          <a:xfrm>
            <a:off x="2381250" y="35052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Rounded Rectangle 307"/>
          <p:cNvSpPr/>
          <p:nvPr/>
        </p:nvSpPr>
        <p:spPr>
          <a:xfrm>
            <a:off x="2543175" y="35052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Rounded Rectangle 308"/>
          <p:cNvSpPr/>
          <p:nvPr/>
        </p:nvSpPr>
        <p:spPr>
          <a:xfrm>
            <a:off x="2705100" y="35052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Rounded Rectangle 309"/>
          <p:cNvSpPr/>
          <p:nvPr/>
        </p:nvSpPr>
        <p:spPr>
          <a:xfrm>
            <a:off x="2867025" y="35052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Rounded Rectangle 310"/>
          <p:cNvSpPr/>
          <p:nvPr/>
        </p:nvSpPr>
        <p:spPr>
          <a:xfrm>
            <a:off x="3028950" y="35052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Rounded Rectangle 311"/>
          <p:cNvSpPr/>
          <p:nvPr/>
        </p:nvSpPr>
        <p:spPr>
          <a:xfrm>
            <a:off x="3190875" y="35052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Rounded Rectangle 312"/>
          <p:cNvSpPr/>
          <p:nvPr/>
        </p:nvSpPr>
        <p:spPr>
          <a:xfrm>
            <a:off x="3352800" y="35052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Rounded Rectangle 313"/>
          <p:cNvSpPr/>
          <p:nvPr/>
        </p:nvSpPr>
        <p:spPr>
          <a:xfrm>
            <a:off x="3514725" y="35052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Rounded Rectangle 314"/>
          <p:cNvSpPr/>
          <p:nvPr/>
        </p:nvSpPr>
        <p:spPr>
          <a:xfrm>
            <a:off x="3676650" y="35052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Rounded Rectangle 315"/>
          <p:cNvSpPr/>
          <p:nvPr/>
        </p:nvSpPr>
        <p:spPr>
          <a:xfrm>
            <a:off x="3838575" y="35052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Rounded Rectangle 316"/>
          <p:cNvSpPr/>
          <p:nvPr/>
        </p:nvSpPr>
        <p:spPr>
          <a:xfrm>
            <a:off x="4000500" y="35052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Rounded Rectangle 317"/>
          <p:cNvSpPr/>
          <p:nvPr/>
        </p:nvSpPr>
        <p:spPr>
          <a:xfrm>
            <a:off x="4162425" y="35052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Rounded Rectangle 318"/>
          <p:cNvSpPr/>
          <p:nvPr/>
        </p:nvSpPr>
        <p:spPr>
          <a:xfrm>
            <a:off x="4324350" y="35052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Rounded Rectangle 319"/>
          <p:cNvSpPr/>
          <p:nvPr/>
        </p:nvSpPr>
        <p:spPr>
          <a:xfrm>
            <a:off x="4486275" y="35052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Rounded Rectangle 320"/>
          <p:cNvSpPr/>
          <p:nvPr/>
        </p:nvSpPr>
        <p:spPr>
          <a:xfrm>
            <a:off x="4648200" y="35052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Rounded Rectangle 321"/>
          <p:cNvSpPr/>
          <p:nvPr/>
        </p:nvSpPr>
        <p:spPr>
          <a:xfrm>
            <a:off x="4810125" y="35052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Rounded Rectangle 322"/>
          <p:cNvSpPr/>
          <p:nvPr/>
        </p:nvSpPr>
        <p:spPr>
          <a:xfrm>
            <a:off x="4972050" y="35052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Rounded Rectangle 323"/>
          <p:cNvSpPr/>
          <p:nvPr/>
        </p:nvSpPr>
        <p:spPr>
          <a:xfrm>
            <a:off x="5133975" y="35052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Rounded Rectangle 324"/>
          <p:cNvSpPr/>
          <p:nvPr/>
        </p:nvSpPr>
        <p:spPr>
          <a:xfrm>
            <a:off x="5295900" y="35052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Rounded Rectangle 325"/>
          <p:cNvSpPr/>
          <p:nvPr/>
        </p:nvSpPr>
        <p:spPr>
          <a:xfrm>
            <a:off x="5457825" y="35052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Rounded Rectangle 326"/>
          <p:cNvSpPr/>
          <p:nvPr/>
        </p:nvSpPr>
        <p:spPr>
          <a:xfrm>
            <a:off x="5619750" y="35052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Rounded Rectangle 327"/>
          <p:cNvSpPr/>
          <p:nvPr/>
        </p:nvSpPr>
        <p:spPr>
          <a:xfrm>
            <a:off x="600075" y="37147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Rounded Rectangle 328"/>
          <p:cNvSpPr/>
          <p:nvPr/>
        </p:nvSpPr>
        <p:spPr>
          <a:xfrm>
            <a:off x="762000" y="37147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Rounded Rectangle 329"/>
          <p:cNvSpPr/>
          <p:nvPr/>
        </p:nvSpPr>
        <p:spPr>
          <a:xfrm>
            <a:off x="923925" y="37147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Rounded Rectangle 330"/>
          <p:cNvSpPr/>
          <p:nvPr/>
        </p:nvSpPr>
        <p:spPr>
          <a:xfrm>
            <a:off x="1085850" y="37147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Rounded Rectangle 331"/>
          <p:cNvSpPr/>
          <p:nvPr/>
        </p:nvSpPr>
        <p:spPr>
          <a:xfrm>
            <a:off x="1247775" y="37147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Rounded Rectangle 332"/>
          <p:cNvSpPr/>
          <p:nvPr/>
        </p:nvSpPr>
        <p:spPr>
          <a:xfrm>
            <a:off x="1409700" y="37147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Rounded Rectangle 333"/>
          <p:cNvSpPr/>
          <p:nvPr/>
        </p:nvSpPr>
        <p:spPr>
          <a:xfrm>
            <a:off x="1571625" y="37147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Rounded Rectangle 334"/>
          <p:cNvSpPr/>
          <p:nvPr/>
        </p:nvSpPr>
        <p:spPr>
          <a:xfrm>
            <a:off x="1733550" y="37147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Rounded Rectangle 335"/>
          <p:cNvSpPr/>
          <p:nvPr/>
        </p:nvSpPr>
        <p:spPr>
          <a:xfrm>
            <a:off x="1895475" y="37147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Rounded Rectangle 336"/>
          <p:cNvSpPr/>
          <p:nvPr/>
        </p:nvSpPr>
        <p:spPr>
          <a:xfrm>
            <a:off x="2057400" y="37147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ounded Rectangle 337"/>
          <p:cNvSpPr/>
          <p:nvPr/>
        </p:nvSpPr>
        <p:spPr>
          <a:xfrm>
            <a:off x="2219325" y="37147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Rounded Rectangle 338"/>
          <p:cNvSpPr/>
          <p:nvPr/>
        </p:nvSpPr>
        <p:spPr>
          <a:xfrm>
            <a:off x="2381250" y="37147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Rounded Rectangle 339"/>
          <p:cNvSpPr/>
          <p:nvPr/>
        </p:nvSpPr>
        <p:spPr>
          <a:xfrm>
            <a:off x="2543175" y="37147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Rounded Rectangle 340"/>
          <p:cNvSpPr/>
          <p:nvPr/>
        </p:nvSpPr>
        <p:spPr>
          <a:xfrm>
            <a:off x="2705100" y="37147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24A046"/>
          </a:solidFill>
          <a:ln w="6350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ounded Rectangle 341"/>
          <p:cNvSpPr/>
          <p:nvPr/>
        </p:nvSpPr>
        <p:spPr>
          <a:xfrm>
            <a:off x="2867025" y="37147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Rounded Rectangle 342"/>
          <p:cNvSpPr/>
          <p:nvPr/>
        </p:nvSpPr>
        <p:spPr>
          <a:xfrm>
            <a:off x="3028950" y="37147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Rounded Rectangle 343"/>
          <p:cNvSpPr/>
          <p:nvPr/>
        </p:nvSpPr>
        <p:spPr>
          <a:xfrm>
            <a:off x="3190875" y="37147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Rounded Rectangle 344"/>
          <p:cNvSpPr/>
          <p:nvPr/>
        </p:nvSpPr>
        <p:spPr>
          <a:xfrm>
            <a:off x="3352800" y="37147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Rounded Rectangle 345"/>
          <p:cNvSpPr/>
          <p:nvPr/>
        </p:nvSpPr>
        <p:spPr>
          <a:xfrm>
            <a:off x="3514725" y="37147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Rounded Rectangle 346"/>
          <p:cNvSpPr/>
          <p:nvPr/>
        </p:nvSpPr>
        <p:spPr>
          <a:xfrm>
            <a:off x="3676650" y="37147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Rounded Rectangle 347"/>
          <p:cNvSpPr/>
          <p:nvPr/>
        </p:nvSpPr>
        <p:spPr>
          <a:xfrm>
            <a:off x="3838575" y="37147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Rounded Rectangle 348"/>
          <p:cNvSpPr/>
          <p:nvPr/>
        </p:nvSpPr>
        <p:spPr>
          <a:xfrm>
            <a:off x="4000500" y="37147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Rounded Rectangle 349"/>
          <p:cNvSpPr/>
          <p:nvPr/>
        </p:nvSpPr>
        <p:spPr>
          <a:xfrm>
            <a:off x="4162425" y="37147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Rounded Rectangle 350"/>
          <p:cNvSpPr/>
          <p:nvPr/>
        </p:nvSpPr>
        <p:spPr>
          <a:xfrm>
            <a:off x="4324350" y="37147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Rounded Rectangle 351"/>
          <p:cNvSpPr/>
          <p:nvPr/>
        </p:nvSpPr>
        <p:spPr>
          <a:xfrm>
            <a:off x="4486275" y="37147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Rounded Rectangle 352"/>
          <p:cNvSpPr/>
          <p:nvPr/>
        </p:nvSpPr>
        <p:spPr>
          <a:xfrm>
            <a:off x="4648200" y="37147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Rounded Rectangle 353"/>
          <p:cNvSpPr/>
          <p:nvPr/>
        </p:nvSpPr>
        <p:spPr>
          <a:xfrm>
            <a:off x="4810125" y="37147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Rounded Rectangle 354"/>
          <p:cNvSpPr/>
          <p:nvPr/>
        </p:nvSpPr>
        <p:spPr>
          <a:xfrm>
            <a:off x="4972050" y="37147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Rounded Rectangle 355"/>
          <p:cNvSpPr/>
          <p:nvPr/>
        </p:nvSpPr>
        <p:spPr>
          <a:xfrm>
            <a:off x="5133975" y="37147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Rounded Rectangle 356"/>
          <p:cNvSpPr/>
          <p:nvPr/>
        </p:nvSpPr>
        <p:spPr>
          <a:xfrm>
            <a:off x="5295900" y="37147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Rounded Rectangle 357"/>
          <p:cNvSpPr/>
          <p:nvPr/>
        </p:nvSpPr>
        <p:spPr>
          <a:xfrm>
            <a:off x="5457825" y="37147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Rounded Rectangle 358"/>
          <p:cNvSpPr/>
          <p:nvPr/>
        </p:nvSpPr>
        <p:spPr>
          <a:xfrm>
            <a:off x="5619750" y="37147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Rounded Rectangle 359"/>
          <p:cNvSpPr/>
          <p:nvPr/>
        </p:nvSpPr>
        <p:spPr>
          <a:xfrm>
            <a:off x="600075" y="39243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Rounded Rectangle 360"/>
          <p:cNvSpPr/>
          <p:nvPr/>
        </p:nvSpPr>
        <p:spPr>
          <a:xfrm>
            <a:off x="762000" y="39243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Rounded Rectangle 361"/>
          <p:cNvSpPr/>
          <p:nvPr/>
        </p:nvSpPr>
        <p:spPr>
          <a:xfrm>
            <a:off x="923925" y="39243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Rounded Rectangle 362"/>
          <p:cNvSpPr/>
          <p:nvPr/>
        </p:nvSpPr>
        <p:spPr>
          <a:xfrm>
            <a:off x="1085850" y="39243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Rounded Rectangle 363"/>
          <p:cNvSpPr/>
          <p:nvPr/>
        </p:nvSpPr>
        <p:spPr>
          <a:xfrm>
            <a:off x="1247775" y="39243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Rounded Rectangle 364"/>
          <p:cNvSpPr/>
          <p:nvPr/>
        </p:nvSpPr>
        <p:spPr>
          <a:xfrm>
            <a:off x="1409700" y="39243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Rounded Rectangle 365"/>
          <p:cNvSpPr/>
          <p:nvPr/>
        </p:nvSpPr>
        <p:spPr>
          <a:xfrm>
            <a:off x="1571625" y="39243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Rounded Rectangle 366"/>
          <p:cNvSpPr/>
          <p:nvPr/>
        </p:nvSpPr>
        <p:spPr>
          <a:xfrm>
            <a:off x="1733550" y="39243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Rounded Rectangle 367"/>
          <p:cNvSpPr/>
          <p:nvPr/>
        </p:nvSpPr>
        <p:spPr>
          <a:xfrm>
            <a:off x="1895475" y="39243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Rounded Rectangle 368"/>
          <p:cNvSpPr/>
          <p:nvPr/>
        </p:nvSpPr>
        <p:spPr>
          <a:xfrm>
            <a:off x="2057400" y="39243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Rounded Rectangle 369"/>
          <p:cNvSpPr/>
          <p:nvPr/>
        </p:nvSpPr>
        <p:spPr>
          <a:xfrm>
            <a:off x="2219325" y="39243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Rounded Rectangle 370"/>
          <p:cNvSpPr/>
          <p:nvPr/>
        </p:nvSpPr>
        <p:spPr>
          <a:xfrm>
            <a:off x="2381250" y="39243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Rounded Rectangle 371"/>
          <p:cNvSpPr/>
          <p:nvPr/>
        </p:nvSpPr>
        <p:spPr>
          <a:xfrm>
            <a:off x="2543175" y="39243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Rounded Rectangle 372"/>
          <p:cNvSpPr/>
          <p:nvPr/>
        </p:nvSpPr>
        <p:spPr>
          <a:xfrm>
            <a:off x="2705100" y="39243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Rounded Rectangle 373"/>
          <p:cNvSpPr/>
          <p:nvPr/>
        </p:nvSpPr>
        <p:spPr>
          <a:xfrm>
            <a:off x="2867025" y="39243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Rounded Rectangle 374"/>
          <p:cNvSpPr/>
          <p:nvPr/>
        </p:nvSpPr>
        <p:spPr>
          <a:xfrm>
            <a:off x="3028950" y="39243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Rounded Rectangle 375"/>
          <p:cNvSpPr/>
          <p:nvPr/>
        </p:nvSpPr>
        <p:spPr>
          <a:xfrm>
            <a:off x="3190875" y="39243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Rounded Rectangle 376"/>
          <p:cNvSpPr/>
          <p:nvPr/>
        </p:nvSpPr>
        <p:spPr>
          <a:xfrm>
            <a:off x="3352800" y="39243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Rounded Rectangle 377"/>
          <p:cNvSpPr/>
          <p:nvPr/>
        </p:nvSpPr>
        <p:spPr>
          <a:xfrm>
            <a:off x="3514725" y="39243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Rounded Rectangle 378"/>
          <p:cNvSpPr/>
          <p:nvPr/>
        </p:nvSpPr>
        <p:spPr>
          <a:xfrm>
            <a:off x="3676650" y="39243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Rounded Rectangle 379"/>
          <p:cNvSpPr/>
          <p:nvPr/>
        </p:nvSpPr>
        <p:spPr>
          <a:xfrm>
            <a:off x="3838575" y="39243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Rounded Rectangle 380"/>
          <p:cNvSpPr/>
          <p:nvPr/>
        </p:nvSpPr>
        <p:spPr>
          <a:xfrm>
            <a:off x="4000500" y="39243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Rounded Rectangle 381"/>
          <p:cNvSpPr/>
          <p:nvPr/>
        </p:nvSpPr>
        <p:spPr>
          <a:xfrm>
            <a:off x="4162425" y="39243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Rounded Rectangle 382"/>
          <p:cNvSpPr/>
          <p:nvPr/>
        </p:nvSpPr>
        <p:spPr>
          <a:xfrm>
            <a:off x="4324350" y="39243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Rounded Rectangle 383"/>
          <p:cNvSpPr/>
          <p:nvPr/>
        </p:nvSpPr>
        <p:spPr>
          <a:xfrm>
            <a:off x="4486275" y="39243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Rounded Rectangle 384"/>
          <p:cNvSpPr/>
          <p:nvPr/>
        </p:nvSpPr>
        <p:spPr>
          <a:xfrm>
            <a:off x="4648200" y="39243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Rounded Rectangle 385"/>
          <p:cNvSpPr/>
          <p:nvPr/>
        </p:nvSpPr>
        <p:spPr>
          <a:xfrm>
            <a:off x="4810125" y="39243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Rounded Rectangle 386"/>
          <p:cNvSpPr/>
          <p:nvPr/>
        </p:nvSpPr>
        <p:spPr>
          <a:xfrm>
            <a:off x="4972050" y="39243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Rounded Rectangle 387"/>
          <p:cNvSpPr/>
          <p:nvPr/>
        </p:nvSpPr>
        <p:spPr>
          <a:xfrm>
            <a:off x="5133975" y="39243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Rounded Rectangle 388"/>
          <p:cNvSpPr/>
          <p:nvPr/>
        </p:nvSpPr>
        <p:spPr>
          <a:xfrm>
            <a:off x="5295900" y="39243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Rounded Rectangle 389"/>
          <p:cNvSpPr/>
          <p:nvPr/>
        </p:nvSpPr>
        <p:spPr>
          <a:xfrm>
            <a:off x="5457825" y="39243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Rounded Rectangle 390"/>
          <p:cNvSpPr/>
          <p:nvPr/>
        </p:nvSpPr>
        <p:spPr>
          <a:xfrm>
            <a:off x="5619750" y="39243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TextBox 391"/>
          <p:cNvSpPr txBox="1"/>
          <p:nvPr/>
        </p:nvSpPr>
        <p:spPr>
          <a:xfrm>
            <a:off x="600075" y="4286250"/>
            <a:ext cx="51816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6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6 of 384 routed experts run their FFN</a:t>
            </a:r>
          </a:p>
        </p:txBody>
      </p:sp>
      <p:sp>
        <p:nvSpPr>
          <p:cNvPr id="393" name="TextBox 392"/>
          <p:cNvSpPr txBox="1"/>
          <p:nvPr/>
        </p:nvSpPr>
        <p:spPr>
          <a:xfrm>
            <a:off x="600075" y="4610100"/>
            <a:ext cx="51816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cost: FLOPs of 6 experts</a:t>
            </a:r>
          </a:p>
        </p:txBody>
      </p:sp>
      <p:sp>
        <p:nvSpPr>
          <p:cNvPr id="394" name="Rounded Rectangle 393"/>
          <p:cNvSpPr/>
          <p:nvPr/>
        </p:nvSpPr>
        <p:spPr>
          <a:xfrm>
            <a:off x="6505575" y="1714500"/>
            <a:ext cx="4991100" cy="2286000"/>
          </a:xfrm>
          <a:prstGeom prst="roundRect">
            <a:avLst>
              <a:gd name="adj" fmla="val 2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Rounded Rectangle 394"/>
          <p:cNvSpPr/>
          <p:nvPr/>
        </p:nvSpPr>
        <p:spPr>
          <a:xfrm>
            <a:off x="6572250" y="1752600"/>
            <a:ext cx="57150" cy="247650"/>
          </a:xfrm>
          <a:prstGeom prst="roundRect">
            <a:avLst>
              <a:gd name="adj" fmla="val 0"/>
            </a:avLst>
          </a:prstGeom>
          <a:solidFill>
            <a:srgbClr val="24A046"/>
          </a:solidFill>
          <a:ln w="6350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Rounded Rectangle 395"/>
          <p:cNvSpPr/>
          <p:nvPr/>
        </p:nvSpPr>
        <p:spPr>
          <a:xfrm>
            <a:off x="7496175" y="2028825"/>
            <a:ext cx="57150" cy="247650"/>
          </a:xfrm>
          <a:prstGeom prst="roundRect">
            <a:avLst>
              <a:gd name="adj" fmla="val 0"/>
            </a:avLst>
          </a:prstGeom>
          <a:solidFill>
            <a:srgbClr val="24A046"/>
          </a:solidFill>
          <a:ln w="6350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Rounded Rectangle 396"/>
          <p:cNvSpPr/>
          <p:nvPr/>
        </p:nvSpPr>
        <p:spPr>
          <a:xfrm>
            <a:off x="8420100" y="2305050"/>
            <a:ext cx="57150" cy="247650"/>
          </a:xfrm>
          <a:prstGeom prst="roundRect">
            <a:avLst>
              <a:gd name="adj" fmla="val 0"/>
            </a:avLst>
          </a:prstGeom>
          <a:solidFill>
            <a:srgbClr val="24A046"/>
          </a:solidFill>
          <a:ln w="6350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Rounded Rectangle 397"/>
          <p:cNvSpPr/>
          <p:nvPr/>
        </p:nvSpPr>
        <p:spPr>
          <a:xfrm>
            <a:off x="9344025" y="2581275"/>
            <a:ext cx="57150" cy="247650"/>
          </a:xfrm>
          <a:prstGeom prst="roundRect">
            <a:avLst>
              <a:gd name="adj" fmla="val 0"/>
            </a:avLst>
          </a:prstGeom>
          <a:solidFill>
            <a:srgbClr val="24A046"/>
          </a:solidFill>
          <a:ln w="6350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Rounded Rectangle 398"/>
          <p:cNvSpPr/>
          <p:nvPr/>
        </p:nvSpPr>
        <p:spPr>
          <a:xfrm>
            <a:off x="10267950" y="2857500"/>
            <a:ext cx="57150" cy="247650"/>
          </a:xfrm>
          <a:prstGeom prst="roundRect">
            <a:avLst>
              <a:gd name="adj" fmla="val 0"/>
            </a:avLst>
          </a:prstGeom>
          <a:solidFill>
            <a:srgbClr val="24A046"/>
          </a:solidFill>
          <a:ln w="6350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Rounded Rectangle 399"/>
          <p:cNvSpPr/>
          <p:nvPr/>
        </p:nvSpPr>
        <p:spPr>
          <a:xfrm>
            <a:off x="11191875" y="3133725"/>
            <a:ext cx="57150" cy="247650"/>
          </a:xfrm>
          <a:prstGeom prst="roundRect">
            <a:avLst>
              <a:gd name="adj" fmla="val 0"/>
            </a:avLst>
          </a:prstGeom>
          <a:solidFill>
            <a:srgbClr val="24A046"/>
          </a:solidFill>
          <a:ln w="6350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Rounded Rectangle 400"/>
          <p:cNvSpPr/>
          <p:nvPr/>
        </p:nvSpPr>
        <p:spPr>
          <a:xfrm>
            <a:off x="7258050" y="3409950"/>
            <a:ext cx="57150" cy="247650"/>
          </a:xfrm>
          <a:prstGeom prst="roundRect">
            <a:avLst>
              <a:gd name="adj" fmla="val 0"/>
            </a:avLst>
          </a:prstGeom>
          <a:solidFill>
            <a:srgbClr val="24A046"/>
          </a:solidFill>
          <a:ln w="6350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Rounded Rectangle 401"/>
          <p:cNvSpPr/>
          <p:nvPr/>
        </p:nvSpPr>
        <p:spPr>
          <a:xfrm>
            <a:off x="8181975" y="3686175"/>
            <a:ext cx="57150" cy="247650"/>
          </a:xfrm>
          <a:prstGeom prst="roundRect">
            <a:avLst>
              <a:gd name="adj" fmla="val 0"/>
            </a:avLst>
          </a:prstGeom>
          <a:solidFill>
            <a:srgbClr val="24A046"/>
          </a:solidFill>
          <a:ln w="6350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Rounded Rectangle 402"/>
          <p:cNvSpPr/>
          <p:nvPr/>
        </p:nvSpPr>
        <p:spPr>
          <a:xfrm>
            <a:off x="9105900" y="1752600"/>
            <a:ext cx="57150" cy="247650"/>
          </a:xfrm>
          <a:prstGeom prst="roundRect">
            <a:avLst>
              <a:gd name="adj" fmla="val 0"/>
            </a:avLst>
          </a:prstGeom>
          <a:solidFill>
            <a:srgbClr val="24A046"/>
          </a:solidFill>
          <a:ln w="6350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Rounded Rectangle 403"/>
          <p:cNvSpPr/>
          <p:nvPr/>
        </p:nvSpPr>
        <p:spPr>
          <a:xfrm>
            <a:off x="10029825" y="2028825"/>
            <a:ext cx="57150" cy="247650"/>
          </a:xfrm>
          <a:prstGeom prst="roundRect">
            <a:avLst>
              <a:gd name="adj" fmla="val 0"/>
            </a:avLst>
          </a:prstGeom>
          <a:solidFill>
            <a:srgbClr val="24A046"/>
          </a:solidFill>
          <a:ln w="6350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Rounded Rectangle 404"/>
          <p:cNvSpPr/>
          <p:nvPr/>
        </p:nvSpPr>
        <p:spPr>
          <a:xfrm>
            <a:off x="10953750" y="2305050"/>
            <a:ext cx="57150" cy="247650"/>
          </a:xfrm>
          <a:prstGeom prst="roundRect">
            <a:avLst>
              <a:gd name="adj" fmla="val 0"/>
            </a:avLst>
          </a:prstGeom>
          <a:solidFill>
            <a:srgbClr val="24A046"/>
          </a:solidFill>
          <a:ln w="6350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Rounded Rectangle 405"/>
          <p:cNvSpPr/>
          <p:nvPr/>
        </p:nvSpPr>
        <p:spPr>
          <a:xfrm>
            <a:off x="7019925" y="2581275"/>
            <a:ext cx="57150" cy="247650"/>
          </a:xfrm>
          <a:prstGeom prst="roundRect">
            <a:avLst>
              <a:gd name="adj" fmla="val 0"/>
            </a:avLst>
          </a:prstGeom>
          <a:solidFill>
            <a:srgbClr val="24A046"/>
          </a:solidFill>
          <a:ln w="6350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Rounded Rectangle 406"/>
          <p:cNvSpPr/>
          <p:nvPr/>
        </p:nvSpPr>
        <p:spPr>
          <a:xfrm>
            <a:off x="7943850" y="2857500"/>
            <a:ext cx="57150" cy="247650"/>
          </a:xfrm>
          <a:prstGeom prst="roundRect">
            <a:avLst>
              <a:gd name="adj" fmla="val 0"/>
            </a:avLst>
          </a:prstGeom>
          <a:solidFill>
            <a:srgbClr val="24A046"/>
          </a:solidFill>
          <a:ln w="6350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Rounded Rectangle 407"/>
          <p:cNvSpPr/>
          <p:nvPr/>
        </p:nvSpPr>
        <p:spPr>
          <a:xfrm>
            <a:off x="8867775" y="3133725"/>
            <a:ext cx="57150" cy="247650"/>
          </a:xfrm>
          <a:prstGeom prst="roundRect">
            <a:avLst>
              <a:gd name="adj" fmla="val 0"/>
            </a:avLst>
          </a:prstGeom>
          <a:solidFill>
            <a:srgbClr val="24A046"/>
          </a:solidFill>
          <a:ln w="6350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Rounded Rectangle 408"/>
          <p:cNvSpPr/>
          <p:nvPr/>
        </p:nvSpPr>
        <p:spPr>
          <a:xfrm>
            <a:off x="9791700" y="3409950"/>
            <a:ext cx="57150" cy="247650"/>
          </a:xfrm>
          <a:prstGeom prst="roundRect">
            <a:avLst>
              <a:gd name="adj" fmla="val 0"/>
            </a:avLst>
          </a:prstGeom>
          <a:solidFill>
            <a:srgbClr val="24A046"/>
          </a:solidFill>
          <a:ln w="6350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Rounded Rectangle 409"/>
          <p:cNvSpPr/>
          <p:nvPr/>
        </p:nvSpPr>
        <p:spPr>
          <a:xfrm>
            <a:off x="10715625" y="3686175"/>
            <a:ext cx="57150" cy="247650"/>
          </a:xfrm>
          <a:prstGeom prst="roundRect">
            <a:avLst>
              <a:gd name="adj" fmla="val 0"/>
            </a:avLst>
          </a:prstGeom>
          <a:solidFill>
            <a:srgbClr val="24A046"/>
          </a:solidFill>
          <a:ln w="6350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Rounded Rectangle 410"/>
          <p:cNvSpPr/>
          <p:nvPr/>
        </p:nvSpPr>
        <p:spPr>
          <a:xfrm>
            <a:off x="6781800" y="1752600"/>
            <a:ext cx="57150" cy="247650"/>
          </a:xfrm>
          <a:prstGeom prst="roundRect">
            <a:avLst>
              <a:gd name="adj" fmla="val 0"/>
            </a:avLst>
          </a:prstGeom>
          <a:solidFill>
            <a:srgbClr val="24A046"/>
          </a:solidFill>
          <a:ln w="6350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Rounded Rectangle 411"/>
          <p:cNvSpPr/>
          <p:nvPr/>
        </p:nvSpPr>
        <p:spPr>
          <a:xfrm>
            <a:off x="7705725" y="2028825"/>
            <a:ext cx="57150" cy="247650"/>
          </a:xfrm>
          <a:prstGeom prst="roundRect">
            <a:avLst>
              <a:gd name="adj" fmla="val 0"/>
            </a:avLst>
          </a:prstGeom>
          <a:solidFill>
            <a:srgbClr val="24A046"/>
          </a:solidFill>
          <a:ln w="6350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Rounded Rectangle 412"/>
          <p:cNvSpPr/>
          <p:nvPr/>
        </p:nvSpPr>
        <p:spPr>
          <a:xfrm>
            <a:off x="8629650" y="2305050"/>
            <a:ext cx="57150" cy="247650"/>
          </a:xfrm>
          <a:prstGeom prst="roundRect">
            <a:avLst>
              <a:gd name="adj" fmla="val 0"/>
            </a:avLst>
          </a:prstGeom>
          <a:solidFill>
            <a:srgbClr val="24A046"/>
          </a:solidFill>
          <a:ln w="6350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Rounded Rectangle 413"/>
          <p:cNvSpPr/>
          <p:nvPr/>
        </p:nvSpPr>
        <p:spPr>
          <a:xfrm>
            <a:off x="9553575" y="2581275"/>
            <a:ext cx="57150" cy="247650"/>
          </a:xfrm>
          <a:prstGeom prst="roundRect">
            <a:avLst>
              <a:gd name="adj" fmla="val 0"/>
            </a:avLst>
          </a:prstGeom>
          <a:solidFill>
            <a:srgbClr val="24A046"/>
          </a:solidFill>
          <a:ln w="6350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Rounded Rectangle 414"/>
          <p:cNvSpPr/>
          <p:nvPr/>
        </p:nvSpPr>
        <p:spPr>
          <a:xfrm>
            <a:off x="10477500" y="2857500"/>
            <a:ext cx="57150" cy="247650"/>
          </a:xfrm>
          <a:prstGeom prst="roundRect">
            <a:avLst>
              <a:gd name="adj" fmla="val 0"/>
            </a:avLst>
          </a:prstGeom>
          <a:solidFill>
            <a:srgbClr val="24A046"/>
          </a:solidFill>
          <a:ln w="6350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Rounded Rectangle 415"/>
          <p:cNvSpPr/>
          <p:nvPr/>
        </p:nvSpPr>
        <p:spPr>
          <a:xfrm>
            <a:off x="11401425" y="3133725"/>
            <a:ext cx="57150" cy="247650"/>
          </a:xfrm>
          <a:prstGeom prst="roundRect">
            <a:avLst>
              <a:gd name="adj" fmla="val 0"/>
            </a:avLst>
          </a:prstGeom>
          <a:solidFill>
            <a:srgbClr val="24A046"/>
          </a:solidFill>
          <a:ln w="6350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Rounded Rectangle 416"/>
          <p:cNvSpPr/>
          <p:nvPr/>
        </p:nvSpPr>
        <p:spPr>
          <a:xfrm>
            <a:off x="7467600" y="3409950"/>
            <a:ext cx="57150" cy="247650"/>
          </a:xfrm>
          <a:prstGeom prst="roundRect">
            <a:avLst>
              <a:gd name="adj" fmla="val 0"/>
            </a:avLst>
          </a:prstGeom>
          <a:solidFill>
            <a:srgbClr val="24A046"/>
          </a:solidFill>
          <a:ln w="6350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Rounded Rectangle 417"/>
          <p:cNvSpPr/>
          <p:nvPr/>
        </p:nvSpPr>
        <p:spPr>
          <a:xfrm>
            <a:off x="8391525" y="3686175"/>
            <a:ext cx="57150" cy="247650"/>
          </a:xfrm>
          <a:prstGeom prst="roundRect">
            <a:avLst>
              <a:gd name="adj" fmla="val 0"/>
            </a:avLst>
          </a:prstGeom>
          <a:solidFill>
            <a:srgbClr val="24A046"/>
          </a:solidFill>
          <a:ln w="6350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TextBox 418"/>
          <p:cNvSpPr txBox="1"/>
          <p:nvPr/>
        </p:nvSpPr>
        <p:spPr>
          <a:xfrm>
            <a:off x="6410325" y="4286250"/>
            <a:ext cx="51816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6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24 of 384,006,168 rows are read</a:t>
            </a:r>
          </a:p>
        </p:txBody>
      </p:sp>
      <p:sp>
        <p:nvSpPr>
          <p:cNvPr id="420" name="TextBox 419"/>
          <p:cNvSpPr txBox="1"/>
          <p:nvPr/>
        </p:nvSpPr>
        <p:spPr>
          <a:xfrm>
            <a:off x="6410325" y="4610100"/>
            <a:ext cx="51816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the lookup itself: 24 × 256 bytes of FP8 values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What Engram may free up (the paper's view)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Grey: input.  Pink: composing the phrase.  Green: context and reasoning.  Yellow: N-gram lookup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9575" y="1066800"/>
            <a:ext cx="55626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Without Engram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9575" y="1352550"/>
            <a:ext cx="5562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early layers build the phrase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9575" y="1676400"/>
            <a:ext cx="5562600" cy="4000500"/>
          </a:xfrm>
          <a:prstGeom prst="roundRect">
            <a:avLst>
              <a:gd name="adj" fmla="val 4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9825" y="1066800"/>
            <a:ext cx="55626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With Engram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9825" y="1352550"/>
            <a:ext cx="5562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the lookup helps build it early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9825" y="1676400"/>
            <a:ext cx="5562600" cy="4000500"/>
          </a:xfrm>
          <a:prstGeom prst="roundRect">
            <a:avLst>
              <a:gd name="adj" fmla="val 4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90575" y="1866900"/>
            <a:ext cx="4800600" cy="4191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tokens "Alexander the Great"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190875" y="2286000"/>
            <a:ext cx="0" cy="1714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90575" y="2457450"/>
            <a:ext cx="4800600" cy="361950"/>
          </a:xfrm>
          <a:prstGeom prst="roundRect">
            <a:avLst>
              <a:gd name="adj" fmla="val 10000"/>
            </a:avLst>
          </a:prstGeom>
          <a:solidFill>
            <a:srgbClr val="501E2E"/>
          </a:solidFill>
          <a:ln w="15875">
            <a:solidFill>
              <a:srgbClr val="FF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compose the phrase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0575" y="2895600"/>
            <a:ext cx="4800600" cy="361950"/>
          </a:xfrm>
          <a:prstGeom prst="roundRect">
            <a:avLst>
              <a:gd name="adj" fmla="val 10000"/>
            </a:avLst>
          </a:prstGeom>
          <a:solidFill>
            <a:srgbClr val="501E2E"/>
          </a:solidFill>
          <a:ln w="15875">
            <a:solidFill>
              <a:srgbClr val="FF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compose the phrase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0575" y="3333750"/>
            <a:ext cx="4800600" cy="361950"/>
          </a:xfrm>
          <a:prstGeom prst="roundRect">
            <a:avLst>
              <a:gd name="adj" fmla="val 10000"/>
            </a:avLst>
          </a:prstGeom>
          <a:solidFill>
            <a:srgbClr val="501E2E"/>
          </a:solidFill>
          <a:ln w="15875">
            <a:solidFill>
              <a:srgbClr val="FF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compose the phrase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0575" y="3771900"/>
            <a:ext cx="4800600" cy="3619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context / reasoning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0575" y="4210050"/>
            <a:ext cx="4800600" cy="3619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context / reasoning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575" y="4648200"/>
            <a:ext cx="4800600" cy="3619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context / reasoning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00825" y="1866900"/>
            <a:ext cx="4800600" cy="4191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tokens "Alexander the Great"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829800" y="2286000"/>
            <a:ext cx="0" cy="1714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258175" y="2457450"/>
            <a:ext cx="3143250" cy="361950"/>
          </a:xfrm>
          <a:prstGeom prst="roundRect">
            <a:avLst>
              <a:gd name="adj" fmla="val 10000"/>
            </a:avLst>
          </a:prstGeom>
          <a:solidFill>
            <a:srgbClr val="501E2E"/>
          </a:solidFill>
          <a:ln w="15875">
            <a:solidFill>
              <a:srgbClr val="FF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compose the phrase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58175" y="2895600"/>
            <a:ext cx="3143250" cy="361950"/>
          </a:xfrm>
          <a:prstGeom prst="roundRect">
            <a:avLst>
              <a:gd name="adj" fmla="val 10000"/>
            </a:avLst>
          </a:prstGeom>
          <a:solidFill>
            <a:srgbClr val="501E2E"/>
          </a:solidFill>
          <a:ln w="15875">
            <a:solidFill>
              <a:srgbClr val="FF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compose the phrase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58175" y="3333750"/>
            <a:ext cx="3143250" cy="3619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context / reasoning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58175" y="3771900"/>
            <a:ext cx="3143250" cy="3619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context / reasoning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58175" y="4210050"/>
            <a:ext cx="3143250" cy="3619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context / reasoning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58175" y="4648200"/>
            <a:ext cx="3143250" cy="3619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context / reasoning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00825" y="2895600"/>
            <a:ext cx="1428750" cy="36195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N-gram lookup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315200" y="2286000"/>
            <a:ext cx="0" cy="609600"/>
          </a:xfrm>
          <a:prstGeom prst="line">
            <a:avLst/>
          </a:prstGeom>
          <a:ln w="2540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8029575" y="3076575"/>
            <a:ext cx="228600" cy="0"/>
          </a:xfrm>
          <a:prstGeom prst="line">
            <a:avLst/>
          </a:prstGeom>
          <a:ln w="3810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90575" y="5219700"/>
            <a:ext cx="48006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6 layers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58175" y="5219700"/>
            <a:ext cx="3143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same 6 layers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9575" y="5753100"/>
            <a:ext cx="113728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illustrative: layer counts and roles are not measured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Longer N-grams narrow the meaning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Grey: tokens.  Yellow: position t.  Blue: token embedding.  Green: Engram lookup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24475" y="1428750"/>
            <a:ext cx="114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800" b="1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524000" y="1752600"/>
            <a:ext cx="1143000" cy="5334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Only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90825" y="1752600"/>
            <a:ext cx="1143000" cy="5334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Alexander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57650" y="1752600"/>
            <a:ext cx="1143000" cy="5334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the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24475" y="1752600"/>
            <a:ext cx="1143000" cy="53340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Great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91300" y="1752600"/>
            <a:ext cx="1143000" cy="5334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could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58125" y="1752600"/>
            <a:ext cx="1143000" cy="5334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tame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24950" y="1752600"/>
            <a:ext cx="1143000" cy="5334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the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391775" y="1752600"/>
            <a:ext cx="1143000" cy="5334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horse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81800" y="2381250"/>
            <a:ext cx="3810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what it can point 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9575" y="2762250"/>
            <a:ext cx="104775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1-gram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24475" y="2762250"/>
            <a:ext cx="1143000" cy="5334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Great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524625" y="3028950"/>
            <a:ext cx="200025" cy="0"/>
          </a:xfrm>
          <a:prstGeom prst="line">
            <a:avLst/>
          </a:prstGeom>
          <a:ln w="25400">
            <a:solidFill>
              <a:srgbClr val="96969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781800" y="2762250"/>
            <a:ext cx="38100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many uses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9575" y="3524250"/>
            <a:ext cx="104775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2-gram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57650" y="3524250"/>
            <a:ext cx="2409825" cy="533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the Great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24625" y="3790950"/>
            <a:ext cx="200025" cy="0"/>
          </a:xfrm>
          <a:prstGeom prst="line">
            <a:avLst/>
          </a:prstGeom>
          <a:ln w="25400">
            <a:solidFill>
              <a:srgbClr val="96969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781800" y="3524250"/>
            <a:ext cx="38100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fewer things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9575" y="4286250"/>
            <a:ext cx="104775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3-gram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90825" y="4286250"/>
            <a:ext cx="3676650" cy="533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Alexander the Great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524625" y="4552950"/>
            <a:ext cx="200025" cy="0"/>
          </a:xfrm>
          <a:prstGeom prst="line">
            <a:avLst/>
          </a:prstGeom>
          <a:ln w="25400">
            <a:solidFill>
              <a:srgbClr val="96969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781800" y="4286250"/>
            <a:ext cx="38100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usually one person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9575" y="5334000"/>
            <a:ext cx="113728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1 word = 1 token (illustrative)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What the table holds (V4.1-Flash, one layer)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Pink: row ids.  Yellow: table rows (learned weights).  Grey: hidden state.  Green: GPU compute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71500" y="1238250"/>
            <a:ext cx="2857500" cy="533400"/>
          </a:xfrm>
          <a:prstGeom prst="roundRect">
            <a:avLst>
              <a:gd name="adj" fmla="val 10000"/>
            </a:avLst>
          </a:prstGeom>
          <a:solidFill>
            <a:srgbClr val="501E2E"/>
          </a:solidFill>
          <a:ln w="15875">
            <a:solidFill>
              <a:srgbClr val="FF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24 row ids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(2/3/4-grams × 8 hashes)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000250" y="1771650"/>
            <a:ext cx="0" cy="2667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571500" y="2038350"/>
            <a:ext cx="2857500" cy="3429000"/>
          </a:xfrm>
          <a:prstGeom prst="roundRect">
            <a:avLst>
              <a:gd name="adj" fmla="val 2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1500" y="2114550"/>
            <a:ext cx="2857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table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384,006,168 rows × 256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2857500"/>
            <a:ext cx="2667000" cy="66675"/>
          </a:xfrm>
          <a:prstGeom prst="roundRect">
            <a:avLst>
              <a:gd name="adj" fmla="val 0"/>
            </a:avLst>
          </a:prstGeom>
          <a:solidFill>
            <a:srgbClr val="FBD332"/>
          </a:solidFill>
          <a:ln w="6350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6750" y="3352800"/>
            <a:ext cx="2667000" cy="66675"/>
          </a:xfrm>
          <a:prstGeom prst="roundRect">
            <a:avLst>
              <a:gd name="adj" fmla="val 0"/>
            </a:avLst>
          </a:prstGeom>
          <a:solidFill>
            <a:srgbClr val="FBD332"/>
          </a:solidFill>
          <a:ln w="6350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66750" y="4095750"/>
            <a:ext cx="2667000" cy="66675"/>
          </a:xfrm>
          <a:prstGeom prst="roundRect">
            <a:avLst>
              <a:gd name="adj" fmla="val 0"/>
            </a:avLst>
          </a:prstGeom>
          <a:solidFill>
            <a:srgbClr val="FBD332"/>
          </a:solidFill>
          <a:ln w="6350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6750" y="4810125"/>
            <a:ext cx="2667000" cy="66675"/>
          </a:xfrm>
          <a:prstGeom prst="roundRect">
            <a:avLst>
              <a:gd name="adj" fmla="val 0"/>
            </a:avLst>
          </a:prstGeom>
          <a:solidFill>
            <a:srgbClr val="FBD332"/>
          </a:solidFill>
          <a:ln w="6350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1500" y="5048250"/>
            <a:ext cx="285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24 rows read per token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95750" y="3486150"/>
            <a:ext cx="2286000" cy="533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e_t: 24 rows joined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429000" y="3752850"/>
            <a:ext cx="666750" cy="0"/>
          </a:xfrm>
          <a:prstGeom prst="line">
            <a:avLst/>
          </a:prstGeom>
          <a:ln w="3810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048500" y="1428750"/>
            <a:ext cx="2190750" cy="5334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h_t (context so far)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48500" y="2533650"/>
            <a:ext cx="2190750" cy="533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k_t = W_K e_t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48500" y="4438650"/>
            <a:ext cx="2190750" cy="533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v_t = W_V e_t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6381750" y="2800350"/>
            <a:ext cx="666750" cy="8191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381750" y="3886200"/>
            <a:ext cx="666750" cy="8191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715500" y="1981200"/>
            <a:ext cx="2095500" cy="533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gate α_t ∈ (0, 1)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σ(norm h · norm k / √d)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239250" y="1695450"/>
            <a:ext cx="476250" cy="4762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9239250" y="2343150"/>
            <a:ext cx="476250" cy="4572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9715500" y="4438650"/>
            <a:ext cx="2095500" cy="5334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h_t + α_t · v_t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239250" y="1600200"/>
            <a:ext cx="2781300" cy="0"/>
          </a:xfrm>
          <a:prstGeom prst="line">
            <a:avLst/>
          </a:prstGeom>
          <a:ln w="25400">
            <a:solidFill>
              <a:srgbClr val="9696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2020550" y="1600200"/>
            <a:ext cx="0" cy="3105150"/>
          </a:xfrm>
          <a:prstGeom prst="line">
            <a:avLst/>
          </a:prstGeom>
          <a:ln w="25400">
            <a:solidFill>
              <a:srgbClr val="9696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11830050" y="4705350"/>
            <a:ext cx="190500" cy="0"/>
          </a:xfrm>
          <a:prstGeom prst="line">
            <a:avLst/>
          </a:prstGeom>
          <a:ln w="25400">
            <a:solidFill>
              <a:srgbClr val="96969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0763250" y="2514600"/>
            <a:ext cx="0" cy="19240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9239250" y="4705350"/>
            <a:ext cx="476250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409575" y="5753100"/>
            <a:ext cx="113728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rows start random and are trained with the rest of the model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An LLM predicts the next token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Grey: data.  Green: GPU compute.  Yellow: learned weights.  Pink: training only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9575" y="1619250"/>
            <a:ext cx="1619250" cy="104775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text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"Alexander the"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028825" y="2143125"/>
            <a:ext cx="304800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333625" y="1619250"/>
            <a:ext cx="1619250" cy="104775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token ids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1, 2, 3 ...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52875" y="2143125"/>
            <a:ext cx="304800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257675" y="1619250"/>
            <a:ext cx="1619250" cy="104775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embedding table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one row per id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876925" y="2143125"/>
            <a:ext cx="304800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181725" y="1619250"/>
            <a:ext cx="1619250" cy="10477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layers 0, 1, 2 ...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Attention + FFN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add to residual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800975" y="2143125"/>
            <a:ext cx="304800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105775" y="1619250"/>
            <a:ext cx="1619250" cy="10477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probabilities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of the next token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725025" y="2143125"/>
            <a:ext cx="304800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10029825" y="1619250"/>
            <a:ext cx="1619250" cy="104775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"Great"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most likely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86175" y="2857500"/>
            <a:ext cx="76200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hidden state: a list of numbers per position, rewritten by each layer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9575" y="4286250"/>
            <a:ext cx="11372850" cy="1143000"/>
          </a:xfrm>
          <a:prstGeom prst="roundRect">
            <a:avLst>
              <a:gd name="adj" fmla="val 4000"/>
            </a:avLst>
          </a:prstGeom>
          <a:solidFill>
            <a:srgbClr val="501E2E"/>
          </a:solidFill>
          <a:ln w="15875">
            <a:solidFill>
              <a:srgbClr val="FF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0075" y="4400550"/>
            <a:ext cx="109918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training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0075" y="4762500"/>
            <a:ext cx="1099185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compare the probabilities with the true next token  -&gt;  loss  -&gt;  update weights using gradients to reduce it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Eight hashes per n-gram soften collisions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Pink: hash heads.  Yellow: table rows.  Grey: another n-gram.  Rows shown are illustrative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71500" y="1428750"/>
            <a:ext cx="2857500" cy="533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"Alexander the Great"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1500" y="4476750"/>
            <a:ext cx="2857500" cy="5334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"Peter the Great" (example)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0" y="1238250"/>
            <a:ext cx="4953000" cy="4000500"/>
          </a:xfrm>
          <a:prstGeom prst="roundRect">
            <a:avLst>
              <a:gd name="adj" fmla="val 2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67500" y="1314450"/>
            <a:ext cx="49530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table rows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39000" y="1695450"/>
            <a:ext cx="3810000" cy="3048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2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row 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39000" y="2114550"/>
            <a:ext cx="3810000" cy="3048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2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row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39000" y="2533650"/>
            <a:ext cx="3810000" cy="3048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2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row 17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39000" y="2952750"/>
            <a:ext cx="3810000" cy="3048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2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row 24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39000" y="3371850"/>
            <a:ext cx="3810000" cy="3048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2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row 31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39000" y="3790950"/>
            <a:ext cx="3810000" cy="3048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2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row 38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39000" y="4210050"/>
            <a:ext cx="3810000" cy="3048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2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row 45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39000" y="4629150"/>
            <a:ext cx="3810000" cy="3048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2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row 52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429000" y="1695450"/>
            <a:ext cx="3810000" cy="152400"/>
          </a:xfrm>
          <a:prstGeom prst="line">
            <a:avLst/>
          </a:prstGeom>
          <a:ln w="15875">
            <a:solidFill>
              <a:srgbClr val="FF78A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429000" y="1695450"/>
            <a:ext cx="3810000" cy="571500"/>
          </a:xfrm>
          <a:prstGeom prst="line">
            <a:avLst/>
          </a:prstGeom>
          <a:ln w="15875">
            <a:solidFill>
              <a:srgbClr val="FF78A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429000" y="1695450"/>
            <a:ext cx="3810000" cy="990600"/>
          </a:xfrm>
          <a:prstGeom prst="line">
            <a:avLst/>
          </a:prstGeom>
          <a:ln w="15875">
            <a:solidFill>
              <a:srgbClr val="FF78A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429000" y="1695450"/>
            <a:ext cx="3810000" cy="1409700"/>
          </a:xfrm>
          <a:prstGeom prst="line">
            <a:avLst/>
          </a:prstGeom>
          <a:ln w="15875">
            <a:solidFill>
              <a:srgbClr val="FF78A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429000" y="1695450"/>
            <a:ext cx="3810000" cy="1828800"/>
          </a:xfrm>
          <a:prstGeom prst="line">
            <a:avLst/>
          </a:prstGeom>
          <a:ln w="15875">
            <a:solidFill>
              <a:srgbClr val="FF78A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429000" y="1695450"/>
            <a:ext cx="3810000" cy="2247900"/>
          </a:xfrm>
          <a:prstGeom prst="line">
            <a:avLst/>
          </a:prstGeom>
          <a:ln w="15875">
            <a:solidFill>
              <a:srgbClr val="FF78A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429000" y="1695450"/>
            <a:ext cx="3810000" cy="2667000"/>
          </a:xfrm>
          <a:prstGeom prst="line">
            <a:avLst/>
          </a:prstGeom>
          <a:ln w="15875">
            <a:solidFill>
              <a:srgbClr val="FF78A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3429000" y="1695450"/>
            <a:ext cx="3810000" cy="3086100"/>
          </a:xfrm>
          <a:prstGeom prst="line">
            <a:avLst/>
          </a:prstGeom>
          <a:ln w="15875">
            <a:solidFill>
              <a:srgbClr val="FF78A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3429000" y="3105150"/>
            <a:ext cx="3810000" cy="1638300"/>
          </a:xfrm>
          <a:prstGeom prst="line">
            <a:avLst/>
          </a:prstGeom>
          <a:ln w="31750">
            <a:solidFill>
              <a:srgbClr val="96969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71500" y="5105400"/>
            <a:ext cx="5715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one head collides: the same row as another n-gram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9575" y="5619750"/>
            <a:ext cx="113728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the 8 rows are joined, so a shared row is only one part of what is read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Which layer gets the Engram table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Green: a layer.  Yellow: where Engram is added.  Layers counted from 1, as in the paper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9575" y="106680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one table: layer 2 is best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66825" y="1524000"/>
            <a:ext cx="1905000" cy="295275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1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layer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66825" y="1857375"/>
            <a:ext cx="1905000" cy="295275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1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layer 2  + Engram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66825" y="2190750"/>
            <a:ext cx="1905000" cy="295275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1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layer 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66825" y="2524125"/>
            <a:ext cx="1905000" cy="295275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1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layer 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66825" y="2857500"/>
            <a:ext cx="1905000" cy="295275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1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layer 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66825" y="3190875"/>
            <a:ext cx="1905000" cy="295275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1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layer 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66825" y="3524250"/>
            <a:ext cx="1905000" cy="295275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1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layer 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66825" y="3857625"/>
            <a:ext cx="1905000" cy="295275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1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layer 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66825" y="4191000"/>
            <a:ext cx="1905000" cy="295275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1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layer 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66825" y="4524375"/>
            <a:ext cx="1905000" cy="295275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1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layer 10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66825" y="4857750"/>
            <a:ext cx="1905000" cy="295275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1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layer 11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66825" y="5191125"/>
            <a:ext cx="1905000" cy="295275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1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layer 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38625" y="106680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split in two: layers 2 and 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95875" y="1524000"/>
            <a:ext cx="1905000" cy="295275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1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layer 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95875" y="1857375"/>
            <a:ext cx="1905000" cy="295275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1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layer 2  + Engram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95875" y="2190750"/>
            <a:ext cx="1905000" cy="295275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1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layer 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95875" y="2524125"/>
            <a:ext cx="1905000" cy="295275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1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layer 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95875" y="2857500"/>
            <a:ext cx="1905000" cy="295275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1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layer 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95875" y="3190875"/>
            <a:ext cx="1905000" cy="295275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1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layer 6  + Engram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95875" y="3524250"/>
            <a:ext cx="1905000" cy="295275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1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layer 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95875" y="3857625"/>
            <a:ext cx="1905000" cy="295275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1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layer 8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95875" y="4191000"/>
            <a:ext cx="1905000" cy="295275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1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layer 9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95875" y="4524375"/>
            <a:ext cx="1905000" cy="295275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1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layer 10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95875" y="4857750"/>
            <a:ext cx="1905000" cy="295275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1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layer 11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95875" y="5191125"/>
            <a:ext cx="1905000" cy="295275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1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layer 12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67675" y="106680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Engram-27B, V4.1-Flash: 2 and 15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24925" y="1524000"/>
            <a:ext cx="1905000" cy="295275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1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layer 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24925" y="1857375"/>
            <a:ext cx="1905000" cy="295275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1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layer 2  + Engram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924925" y="2190750"/>
            <a:ext cx="1905000" cy="295275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1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layer 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24925" y="2524125"/>
            <a:ext cx="1905000" cy="295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...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24925" y="2857500"/>
            <a:ext cx="1905000" cy="295275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1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layer 14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924925" y="3190875"/>
            <a:ext cx="1905000" cy="295275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1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layer 15  + Engram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24925" y="3524250"/>
            <a:ext cx="1905000" cy="295275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1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layer 16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24925" y="3857625"/>
            <a:ext cx="1905000" cy="295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...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09575" y="5715000"/>
            <a:ext cx="113728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12-layer 3B MoE with a 1.6B Engram (paper 6.2): validation loss 1.770 for layer 2, 1.768 when split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WS Confidential Dark">
  <a:themeElements>
    <a:clrScheme name="AWS 2024">
      <a:dk1>
        <a:srgbClr val="000000"/>
      </a:dk1>
      <a:lt1>
        <a:srgbClr val="FFFFFF"/>
      </a:lt1>
      <a:dk2>
        <a:srgbClr val="161D26"/>
      </a:dk2>
      <a:lt2>
        <a:srgbClr val="F3F3F7"/>
      </a:lt2>
      <a:accent1>
        <a:srgbClr val="41B3FF"/>
      </a:accent1>
      <a:accent2>
        <a:srgbClr val="AD5CFF"/>
      </a:accent2>
      <a:accent3>
        <a:srgbClr val="00E500"/>
      </a:accent3>
      <a:accent4>
        <a:srgbClr val="FF5C85"/>
      </a:accent4>
      <a:accent5>
        <a:srgbClr val="FF693C"/>
      </a:accent5>
      <a:accent6>
        <a:srgbClr val="FBD332"/>
      </a:accent6>
      <a:hlink>
        <a:srgbClr val="41B1E8"/>
      </a:hlink>
      <a:folHlink>
        <a:srgbClr val="41B1E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>
            <a:lumMod val="75000"/>
          </a:schemeClr>
        </a:solidFill>
        <a:ln>
          <a:noFill/>
        </a:ln>
      </a:spPr>
      <a:bodyPr rtlCol="0" anchor="ctr"/>
      <a:lstStyle>
        <a:defPPr algn="ctr">
          <a:defRPr kumimoji="1" smtClean="0">
            <a:latin typeface="Amazon Ember Display" panose="020F0603020204020204" pitchFamily="34" charset="0"/>
            <a:ea typeface="メイリオ" panose="020B0604030504040204" pitchFamily="34" charset="-128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rtlCol="0">
        <a:spAutoFit/>
      </a:bodyPr>
      <a:lstStyle>
        <a:defPPr algn="l">
          <a:defRPr kumimoji="1" smtClean="0">
            <a:latin typeface="Amazon Ember Display" panose="020F0603020204020204" pitchFamily="34" charset="0"/>
            <a:ea typeface="メイリオ" panose="020B0604030504040204" pitchFamily="34" charset="-128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ne Brand 2022 Dark">
      <a:dk1>
        <a:srgbClr val="000000"/>
      </a:dk1>
      <a:lt1>
        <a:sysClr val="window" lastClr="FFFFFF"/>
      </a:lt1>
      <a:dk2>
        <a:srgbClr val="232F3E"/>
      </a:dk2>
      <a:lt2>
        <a:srgbClr val="F1F3F3"/>
      </a:lt2>
      <a:accent1>
        <a:srgbClr val="FF8500"/>
      </a:accent1>
      <a:accent2>
        <a:srgbClr val="7C59ED"/>
      </a:accent2>
      <a:accent3>
        <a:srgbClr val="38EF7D"/>
      </a:accent3>
      <a:accent4>
        <a:srgbClr val="F46DBA"/>
      </a:accent4>
      <a:accent5>
        <a:srgbClr val="9FFCEA"/>
      </a:accent5>
      <a:accent6>
        <a:srgbClr val="FBD8BF"/>
      </a:accent6>
      <a:hlink>
        <a:srgbClr val="41B1E8"/>
      </a:hlink>
      <a:folHlink>
        <a:srgbClr val="41B1E8"/>
      </a:folHlink>
    </a:clrScheme>
    <a:fontScheme name="Ember Heavy and Normal">
      <a:majorFont>
        <a:latin typeface="Amazon Ember Heavy"/>
        <a:ea typeface=""/>
        <a:cs typeface=""/>
      </a:majorFont>
      <a:minorFont>
        <a:latin typeface="Amazon Emb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ne Brand 2022 Dark">
      <a:dk1>
        <a:srgbClr val="000000"/>
      </a:dk1>
      <a:lt1>
        <a:sysClr val="window" lastClr="FFFFFF"/>
      </a:lt1>
      <a:dk2>
        <a:srgbClr val="232F3E"/>
      </a:dk2>
      <a:lt2>
        <a:srgbClr val="F1F3F3"/>
      </a:lt2>
      <a:accent1>
        <a:srgbClr val="FF8500"/>
      </a:accent1>
      <a:accent2>
        <a:srgbClr val="7C59ED"/>
      </a:accent2>
      <a:accent3>
        <a:srgbClr val="38EF7D"/>
      </a:accent3>
      <a:accent4>
        <a:srgbClr val="F46DBA"/>
      </a:accent4>
      <a:accent5>
        <a:srgbClr val="9FFCEA"/>
      </a:accent5>
      <a:accent6>
        <a:srgbClr val="FBD8BF"/>
      </a:accent6>
      <a:hlink>
        <a:srgbClr val="41B1E8"/>
      </a:hlink>
      <a:folHlink>
        <a:srgbClr val="41B1E8"/>
      </a:folHlink>
    </a:clrScheme>
    <a:fontScheme name="Ember Heavy and Normal">
      <a:majorFont>
        <a:latin typeface="Amazon Ember Heavy"/>
        <a:ea typeface=""/>
        <a:cs typeface=""/>
      </a:majorFont>
      <a:minorFont>
        <a:latin typeface="Amazon Emb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31027CB-BA99-4849-AD2B-D501A617C772}">
  <we:reference id="wa200001625" version="1.0.0.8" store="en-US" storeType="OMEX"/>
  <we:alternateReferences>
    <we:reference id="wa200001625" version="1.0.0.8" store="wa200001625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103425</TotalTime>
  <Words>1507</Words>
  <Application>Microsoft Macintosh PowerPoint</Application>
  <PresentationFormat>Widescreen</PresentationFormat>
  <Paragraphs>93</Paragraphs>
  <Slides>11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Meiryo</vt:lpstr>
      <vt:lpstr>システムフォント（レギュラー）</vt:lpstr>
      <vt:lpstr>Amazon Ember</vt:lpstr>
      <vt:lpstr>Amazon Ember Display</vt:lpstr>
      <vt:lpstr>Amazon Ember Mono</vt:lpstr>
      <vt:lpstr>Arial</vt:lpstr>
      <vt:lpstr>AWS Confidential Dark</vt:lpstr>
      <vt:lpstr>PFN 様向けの取り組み状況</vt:lpstr>
      <vt:lpstr>PowerPoint Presentation</vt:lpstr>
      <vt:lpstr>PowerPoint Presentation</vt:lpstr>
      <vt:lpstr>PLaMo3 on Trainium</vt:lpstr>
      <vt:lpstr>PowerPoint Presentation</vt:lpstr>
      <vt:lpstr>PowerPoint Presentation</vt:lpstr>
      <vt:lpstr>Native PyTorch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This template includes</dc:title>
  <dc:creator>Microsoft Office User</dc:creator>
  <cp:lastModifiedBy>Akazawa, Toshinobu</cp:lastModifiedBy>
  <cp:revision>1088</cp:revision>
  <cp:lastPrinted>2026-06-30T17:34:27Z</cp:lastPrinted>
  <dcterms:created xsi:type="dcterms:W3CDTF">2022-07-18T16:28:56Z</dcterms:created>
  <dcterms:modified xsi:type="dcterms:W3CDTF">2026-06-30T17:42:46Z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9e68092-05df-4271-8e3e-b2a4c82ba797_Enabled">
    <vt:lpwstr>true</vt:lpwstr>
  </property>
  <property fmtid="{D5CDD505-2E9C-101B-9397-08002B2CF9AE}" pid="3" name="MSIP_Label_19e68092-05df-4271-8e3e-b2a4c82ba797_SetDate">
    <vt:lpwstr>2025-07-23T09:55:06Z</vt:lpwstr>
  </property>
  <property fmtid="{D5CDD505-2E9C-101B-9397-08002B2CF9AE}" pid="4" name="MSIP_Label_19e68092-05df-4271-8e3e-b2a4c82ba797_Method">
    <vt:lpwstr>Standard</vt:lpwstr>
  </property>
  <property fmtid="{D5CDD505-2E9C-101B-9397-08002B2CF9AE}" pid="5" name="MSIP_Label_19e68092-05df-4271-8e3e-b2a4c82ba797_Name">
    <vt:lpwstr>Amazon Confidential</vt:lpwstr>
  </property>
  <property fmtid="{D5CDD505-2E9C-101B-9397-08002B2CF9AE}" pid="6" name="MSIP_Label_19e68092-05df-4271-8e3e-b2a4c82ba797_SiteId">
    <vt:lpwstr>5280104a-472d-4538-9ccf-1e1d0efe8b1b</vt:lpwstr>
  </property>
  <property fmtid="{D5CDD505-2E9C-101B-9397-08002B2CF9AE}" pid="7" name="MSIP_Label_19e68092-05df-4271-8e3e-b2a4c82ba797_ActionId">
    <vt:lpwstr>72dc440f-c268-47a9-b913-f18389bbf79d</vt:lpwstr>
  </property>
  <property fmtid="{D5CDD505-2E9C-101B-9397-08002B2CF9AE}" pid="8" name="MSIP_Label_19e68092-05df-4271-8e3e-b2a4c82ba797_ContentBits">
    <vt:lpwstr>0</vt:lpwstr>
  </property>
  <property fmtid="{D5CDD505-2E9C-101B-9397-08002B2CF9AE}" pid="9" name="MSIP_Label_19e68092-05df-4271-8e3e-b2a4c82ba797_Tag">
    <vt:lpwstr>50, 3, 0, 1</vt:lpwstr>
  </property>
</Properties>
</file>