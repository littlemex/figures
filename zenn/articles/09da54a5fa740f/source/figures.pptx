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32" r:id="rId1"/>
  </p:sldMasterIdLst>
  <p:notesMasterIdLst>
    <p:notesMasterId r:id="rId13"/>
  </p:notesMasterIdLst>
  <p:handoutMasterIdLst>
    <p:handoutMasterId r:id="rId14"/>
  </p:handoutMasterIdLst>
  <p:sldIdLst>
    <p:sldId id="256" r:id="rId9"/>
    <p:sldId id="257" r:id="rId10"/>
    <p:sldId id="258" r:id="rId11"/>
    <p:sldId id="259" r:id="rId12"/>
    <p:sldId id="260" r:id="rId8"/>
    <p:sldId id="261" r:id="rId7"/>
    <p:sldId id="262" r:id="rId6"/>
    <p:sldId id="263" r:id="rId5"/>
    <p:sldId id="264" r:id="rId4"/>
    <p:sldId id="265" r:id="rId3"/>
    <p:sldId id="266" r:id="rId2"/>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9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A15E724-AFC9-A4C0-CAB9-D6EC0C560360}" name="Khan, Kamran" initials="KK" userId="S::kjkhan@amazon.com::8c16a378-efd2-4586-a4a5-f0725abc41b4" providerId="AD"/>
  <p188:author id="{485EC9B9-D043-2072-5CDA-0E18DA86FA5A}" name="Lakhotia, Esha" initials="LE" userId="S::elakhoti@amazon.com::458df9ec-1ecb-4c08-9ab9-581bf4e2578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E8F4"/>
    <a:srgbClr val="7F1EE7"/>
    <a:srgbClr val="000000"/>
    <a:srgbClr val="1D262F"/>
    <a:srgbClr val="1A0033"/>
    <a:srgbClr val="FFFFFF"/>
    <a:srgbClr val="FCFCFD"/>
    <a:srgbClr val="0000A3"/>
    <a:srgbClr val="B81EE7"/>
    <a:srgbClr val="5400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12C8C85-51F0-491E-9774-3900AFEF0F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77" autoAdjust="0"/>
    <p:restoredTop sz="79852" autoAdjust="0"/>
  </p:normalViewPr>
  <p:slideViewPr>
    <p:cSldViewPr snapToGrid="0">
      <p:cViewPr varScale="1">
        <p:scale>
          <a:sx n="132" d="100"/>
          <a:sy n="132" d="100"/>
        </p:scale>
        <p:origin x="1152" y="176"/>
      </p:cViewPr>
      <p:guideLst>
        <p:guide orient="horz" pos="1296"/>
        <p:guide pos="3840"/>
      </p:guideLst>
    </p:cSldViewPr>
  </p:slideViewPr>
  <p:outlineViewPr>
    <p:cViewPr>
      <p:scale>
        <a:sx n="33" d="100"/>
        <a:sy n="33" d="100"/>
      </p:scale>
      <p:origin x="0" y="-44888"/>
    </p:cViewPr>
  </p:outlineViewPr>
  <p:notesTextViewPr>
    <p:cViewPr>
      <p:scale>
        <a:sx n="1" d="1"/>
        <a:sy n="1" d="1"/>
      </p:scale>
      <p:origin x="0" y="0"/>
    </p:cViewPr>
  </p:notesTextViewPr>
  <p:sorterViewPr>
    <p:cViewPr>
      <p:scale>
        <a:sx n="1" d="1"/>
        <a:sy n="1" d="1"/>
      </p:scale>
      <p:origin x="0" y="0"/>
    </p:cViewPr>
  </p:sorterViewPr>
  <p:notesViewPr>
    <p:cSldViewPr snapToGrid="0" showGuides="1">
      <p:cViewPr varScale="1">
        <p:scale>
          <a:sx n="109" d="100"/>
          <a:sy n="109" d="100"/>
        </p:scale>
        <p:origin x="4040" y="17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8/10/relationships/authors" Target="authors.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30B3F9-42E9-426B-B3D2-D6012D7491A2}"/>
              </a:ext>
            </a:extLst>
          </p:cNvPr>
          <p:cNvSpPr>
            <a:spLocks noGrp="1"/>
          </p:cNvSpPr>
          <p:nvPr>
            <p:ph type="sldNum" sz="quarter" idx="3"/>
          </p:nvPr>
        </p:nvSpPr>
        <p:spPr>
          <a:xfrm>
            <a:off x="1943100" y="8685213"/>
            <a:ext cx="2971800" cy="458787"/>
          </a:xfrm>
          <a:prstGeom prst="rect">
            <a:avLst/>
          </a:prstGeom>
        </p:spPr>
        <p:txBody>
          <a:bodyPr vert="horz" lIns="91440" tIns="45720" rIns="91440" bIns="45720" rtlCol="0" anchor="b"/>
          <a:lstStyle>
            <a:lvl1pPr algn="r">
              <a:defRPr sz="1200"/>
            </a:lvl1pPr>
          </a:lstStyle>
          <a:p>
            <a:pPr algn="ctr"/>
            <a:fld id="{C71F7584-9745-40DA-BD49-9A41A97B2D2E}" type="slidenum">
              <a:rPr lang="en-US" sz="1000" smtClean="0">
                <a:latin typeface="Amazon Ember Display" panose="020F0603020204020204" pitchFamily="34" charset="0"/>
              </a:rPr>
              <a:pPr algn="ctr"/>
              <a:t>‹#›</a:t>
            </a:fld>
            <a:endParaRPr lang="en-US" sz="1000" dirty="0">
              <a:latin typeface="Amazon Ember Display" panose="020F0603020204020204" pitchFamily="34" charset="0"/>
            </a:endParaRPr>
          </a:p>
        </p:txBody>
      </p:sp>
    </p:spTree>
    <p:extLst>
      <p:ext uri="{BB962C8B-B14F-4D97-AF65-F5344CB8AC3E}">
        <p14:creationId xmlns:p14="http://schemas.microsoft.com/office/powerpoint/2010/main" val="129253005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8150" y="457200"/>
            <a:ext cx="5981700" cy="3364706"/>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419100" y="4197679"/>
            <a:ext cx="6000750" cy="4328803"/>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1943100" y="8685213"/>
            <a:ext cx="2971800" cy="458787"/>
          </a:xfrm>
          <a:prstGeom prst="rect">
            <a:avLst/>
          </a:prstGeom>
        </p:spPr>
        <p:txBody>
          <a:bodyPr vert="horz" lIns="91440" tIns="45720" rIns="91440" bIns="45720" rtlCol="0" anchor="b"/>
          <a:lstStyle>
            <a:lvl1pPr algn="ctr">
              <a:defRPr sz="1000" b="0" i="0">
                <a:latin typeface="Amazon Ember Display" panose="020F0603020204020204" pitchFamily="34" charset="0"/>
              </a:defRPr>
            </a:lvl1pPr>
          </a:lstStyle>
          <a:p>
            <a:fld id="{A3D89E5F-BEEF-42A1-A57B-E5A736D51194}" type="slidenum">
              <a:rPr lang="en-US" smtClean="0"/>
              <a:pPr/>
              <a:t>‹#›</a:t>
            </a:fld>
            <a:endParaRPr lang="en-US" dirty="0"/>
          </a:p>
        </p:txBody>
      </p:sp>
    </p:spTree>
    <p:extLst>
      <p:ext uri="{BB962C8B-B14F-4D97-AF65-F5344CB8AC3E}">
        <p14:creationId xmlns:p14="http://schemas.microsoft.com/office/powerpoint/2010/main" val="2644871954"/>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300"/>
      </a:spcAft>
      <a:defRPr sz="1200" b="0" i="0" kern="1200">
        <a:solidFill>
          <a:schemeClr val="tx1"/>
        </a:solidFill>
        <a:latin typeface="Amazon Ember Display" panose="020F0603020204020204" pitchFamily="34" charset="0"/>
        <a:ea typeface="+mn-ea"/>
        <a:cs typeface="+mn-cs"/>
      </a:defRPr>
    </a:lvl1pPr>
    <a:lvl2pPr marL="225425" indent="-106363"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2pPr>
    <a:lvl3pPr marL="463550" indent="-119063"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3pPr>
    <a:lvl4pPr marL="747713" indent="-119063"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4pPr>
    <a:lvl5pPr marL="973138" indent="-117475" algn="l" defTabSz="914400" rtl="0" eaLnBrk="1" latinLnBrk="0" hangingPunct="1">
      <a:spcAft>
        <a:spcPts val="300"/>
      </a:spcAft>
      <a:buFont typeface="Arial" panose="020B0604020202020204" pitchFamily="34" charset="0"/>
      <a:buChar char="•"/>
      <a:defRPr sz="1200" b="0" i="0" kern="1200">
        <a:solidFill>
          <a:schemeClr val="tx1"/>
        </a:solidFill>
        <a:latin typeface="Amazon Ember Display" panose="020F06030202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2160" userDrawn="1">
          <p15:clr>
            <a:srgbClr val="F26B43"/>
          </p15:clr>
        </p15:guide>
        <p15:guide id="2" orient="horz" pos="2880" userDrawn="1">
          <p15:clr>
            <a:srgbClr val="F26B43"/>
          </p15:clr>
        </p15:guide>
        <p15:guide id="3" pos="264" userDrawn="1">
          <p15:clr>
            <a:srgbClr val="F26B43"/>
          </p15:clr>
        </p15:guide>
        <p15:guide id="4" pos="4056" userDrawn="1">
          <p15:clr>
            <a:srgbClr val="F26B43"/>
          </p15:clr>
        </p15:guide>
        <p15:guide id="5" orient="horz" pos="288" userDrawn="1">
          <p15:clr>
            <a:srgbClr val="F26B43"/>
          </p15:clr>
        </p15:guide>
        <p15:guide id="6" orient="horz" pos="264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本日いただいた 2 つのご相談について、AWS の立場から構成案をまとめました。</a:t>
            </a:r>
          </a:p>
          <a:p>
            <a:r>
              <a:t>MCP は、AI エージェントが外部のサービスを呼び出すための共通の約束事です。Devin に限らず、MCP を使うどの AI エージェントにも当てはまる形でまとめています。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結論です。MCP で使う SaaS の鍵は AgentCore Identity が預かり、入口を Gateway の 1 本にして、利用者は Entra ID で本人確認します。ご質問の Agent Registry は MCP サーバーの目録で、鍵は預かりません。</a:t>
            </a:r>
          </a:p>
          <a:p>
            <a:r>
              <a:t>監査ログは、GitHub は S3 へ直接送れるので AppFabric は要りません。検索は S3 と Athena の定型 SQL を定期実行する形から始めます。freee は取り方の確認が先です。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この資料は、特定の AI エージェントによらない MCP の管理を扱います。Devin のほか、Claude Code や Kiro、ほかの Coding Agent でも、MCP の接続先を AWS の Gateway にそろえれば同じ形で管理できます。</a:t>
            </a:r>
          </a:p>
          <a:p>
            <a:r>
              <a:t>それぞれの AI エージェントで接続先をどう制限するかは、その AI エージェントの提供元にご確認ください。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今の状態です。利用者ひとりひとりが自分で鍵を発行し、自分の AI エージェントに登録しています。</a:t>
            </a:r>
          </a:p>
          <a:p>
            <a:r>
              <a:t>この形では、鍵を止める、入れ替える、使われ方を追う、の 3 つがどれも利用者まかせになります。目指すのは、利用者が SaaS の鍵を持たない形です。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目指す形です。利用者の AI エージェントは鍵を持たず、MCP の接続先を Gateway の 1 本にします。SaaS の鍵は AgentCore Identity だけが持ちます。</a:t>
            </a:r>
          </a:p>
          <a:p>
            <a:r>
              <a:t>利用者は Entra ID でサインインし、その証明だけで Gateway を使います。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この構成を、会社のビルの受付にたとえます。Entra ID へのサインインが社員証、Gateway 用のトークンが機密エリアの通行証、Gateway がその受付です。</a:t>
            </a:r>
          </a:p>
          <a:p>
            <a:r>
              <a:t>社員の名簿と、通行証をもらえるアプリの名簿は、お客様が Entra ID で管理します。通行証を出すのは Entra ID です。</a:t>
            </a:r>
          </a:p>
          <a:p>
            <a:r>
              <a:t>受付で通行証を照合し、入ってよい部屋かを決め、金庫の鍵を貸し出し、出入りを記録するのが AWS の部品です。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エージェントにできないといけないことは 6 つの流れです。利用者をサインイン画面に案内し、Entra ID が出した通行証を受け取り、Gateway を呼ぶたびに見せ、期限が来たらもらい直します。</a:t>
            </a:r>
          </a:p>
          <a:p>
            <a:r>
              <a:t>止まりやすい場所は 3 つです。1 つ目は、AI エージェントが自分を Entra ID のアプリの名簿に自動で登録できないことです。Entra ID の名簿は管理者が前もって登録する方式なので、自分で登録する方式しか持たない AI エージェントは、サインイン画面に進めません。</a:t>
            </a:r>
          </a:p>
          <a:p>
            <a:r>
              <a:t>2 つ目は期限の前に通行証を更新できないこと、3 つ目は通行証の宛先が Gateway の照合条件と合わないことです。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前のページのたとえを、実際の仕様に戻します。MCP の認可は、OAuth の決まりを組み合わせたものです。</a:t>
            </a:r>
          </a:p>
          <a:p>
            <a:r>
              <a:t>AI エージェントが自分をアプリの名簿に載せる方法は 3 つあります。前もって管理者が登録する事前登録、アプリの情報を URL で示す Client ID Metadata Documents、その場で登録する Dynamic Client Registration です。AI エージェントと Entra ID のどちらもが対応する方法が 1 つもないと、A の場所で止まります。</a:t>
            </a:r>
          </a:p>
          <a:p>
            <a:r>
              <a:t>Entra ID とお使いの AI エージェントがどの方法に対応するかは、それぞれの提供元の資料でご確認ください。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部品の役割です。入口の Gateway、鍵を預かる Identity、誰が何を呼べるかを決める Policy の 3 つが AWS の部品です。Entra ID のアプリ登録はお客様の設定です。</a:t>
            </a:r>
          </a:p>
          <a:p>
            <a:r>
              <a:t>Agent Registry は、承認した MCP サーバーを全社で探せるようにする目録です。鍵は預からないので、今回の目的には任意の部品です。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推奨する構成です。どの AI エージェントも、MCP の接続先は Gateway の 1 本だけにします。</a:t>
            </a:r>
          </a:p>
          <a:p>
            <a:r>
              <a:t>Gateway は来た人を Entra ID のトークンで確かめ、Policy でその人が呼んでよいツールかを判定します。そのうえで Identity から鍵を受け取り、GitHub などへ中継します。Gateway への呼び出しは CloudTrail に 1 件ずつ記録できます。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Registry は、社内の案内板のようなものです。管理者が Gateway につないだ MCP サーバーなどをレコードとして登録し、承認する人が承認すると、利用者や AI エージェントが検索できるようになります。</a:t>
            </a:r>
          </a:p>
          <a:p>
            <a:r>
              <a:t>登録した MCP サーバーの URL から中身を自動で取り込むこともでき、そのときに要る鍵は Identity から受け取ります。承認を頼まれると EventBridge で通知が出ます。</a:t>
            </a:r>
          </a:p>
          <a:p>
            <a:r>
              <a:t>利用者は案内板で使える MCP サーバーを見つけますが、実際の呼び出しは Gateway を通ります。Registry は鍵を預からず、呼び出しも中継しません。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回の呼び出しの流れです。利用者が Entra ID でサインインし、AI エージェントはそのトークンを付けて Gateway を呼びます。</a:t>
            </a:r>
          </a:p>
          <a:p>
            <a:r>
              <a:t>Gateway は本人と権限を確かめ、Identity から鍵を受け取って SaaS を呼び、結果を返します。SaaS の鍵が利用者の手元に渡る場面はありません。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に鍵を登録する単位を credential provider と呼びます。登録は、SaaS に作ったアプリや鍵 1 つにつき 1 つです。今回は社内でのご利用なので、まずは SaaS ごとに 1 つから始められます。本番と検証を分けるときなどは、その数だけ足します。</a:t>
            </a:r>
          </a:p>
          <a:p>
            <a:r>
              <a:t>複数の会社に提供するサービスで、会社ごとに別の OAuth アプリや鍵が要る場合は、会社ごとに分けます。</a:t>
            </a:r>
          </a:p>
          <a:p>
            <a:r>
              <a:t>利用者ごとの OAuth を使う場合も、登録は SaaS ごとに 1 つです。利用者が同意して得たトークンは token vault に保管されます。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鍵の預け方は 2 通りです。GitHub のように OAuth に対応する SaaS は、会社が承認したアプリを使い、利用者ごとのトークンを Identity に預けます。本人の権限で操作されるので、SaaS 側の記録で本人を見分けやすくなります。記録のされ方は各 SaaS にご確認ください。</a:t>
            </a:r>
          </a:p>
          <a:p>
            <a:r>
              <a:t>API キーしかない SaaS は、会社の鍵を預けます。入れ替えは Secrets Manager の仕組みで定期的に動かせますが、SaaS で鍵を発行して無効にする処理は SaaS ごとに作る必要があります。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Gateway を用意しても、個人の鍵で SaaS に直接つなげる抜け道が残っていては意味がありません。</a:t>
            </a:r>
          </a:p>
          <a:p>
            <a:r>
              <a:t>AI エージェント側では管理機能で MCP の接続先を Gateway だけに絞り、SaaS 側では個人で発行した鍵を制限します。AI エージェントごとの設定方法は、それぞれの提供元にご確認ください。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いちばん大事なのは 1 つ目です。お使いの AI エージェントが Entra ID のトークンを取得し、更新しながら Gateway を呼べるかで、この構成が成り立つかが決まります。</a:t>
            </a:r>
          </a:p>
          <a:p>
            <a:r>
              <a:t>AI エージェントが接続用のアプリを自動で登録する方式を前提にしている場合は、つながらないことがあります。お使いの AI エージェントの対応は提供元にご確認ください。その場合は、自動登録に対応した認証の仕組みを Entra ID の前に足す案があります。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実際に試して止まったときは、止まった場所で原因を切り分けます。</a:t>
            </a:r>
          </a:p>
          <a:p>
            <a:r>
              <a:t>サインイン画面が出なければ、AI エージェントが自分を Entra ID のアプリの名簿に自動で登録できていないことが原因の候補です。サインインできたのに Gateway が通さなければ、通行証の宛先や権限の書き方のずれで、設定で直ることが多いです。トークンの期限のころに止まるなら、AI エージェントが通行証をもらい直せていません。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の直し方は 2 通りです。</a:t>
            </a:r>
          </a:p>
          <a:p>
            <a:r>
              <a:t>1 つ目は、管理者が前もって Entra ID に AI エージェントを登録し、もらった client ID を AI エージェントに設定する方法です。AI エージェントに client ID の設定欄があれば、いちばん簡単です。</a:t>
            </a:r>
          </a:p>
          <a:p>
            <a:r>
              <a:t>2 つ目は、自動登録を受け付ける認可サーバーを窓口として手前に置き、利用者のサインインは Entra ID に任せる方法です。Gateway は窓口が出すトークンを照合します。窓口を運用する手間と、登録を乱用されないための備えが要ります。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方法 1 は、AI エージェントに client ID を入れる欄がある場合の直し方です。</a:t>
            </a:r>
          </a:p>
          <a:p>
            <a:r>
              <a:t>管理者が Entra ID に AI エージェント用のアプリを登録し、もらった client ID を AI エージェントに入れます。AI エージェントが自分で名簿に登録する必要がなくなるので、サインイン画面に進めます。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方法 2 は、AI エージェントが自動登録しかできない場合の直し方です。AWS の公式サンプルでは、API Gateway と Lambda で作った中継サーバーを Gateway の手前に置きます。</a:t>
            </a:r>
          </a:p>
          <a:p>
            <a:r>
              <a:t>中継サーバーは、AI エージェントの自動登録の依頼に、管理者が前もって Entra ID に登録した client ID を返します。トークンを出すのは Entra ID のままなので、Gateway の照合の設定は変えずに済みます。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は、サインインはできたのに Gateway が通さない場合です。通行証の中身と Gateway の照合条件がずれています。</a:t>
            </a:r>
          </a:p>
          <a:p>
            <a:r>
              <a:t>まずトークンの中身を読み、発行元、宛先、権限の値を控えます。そのうえで Entra ID のアプリを v2.0 のトークンを出す設定にし、API と scope を作ります。Gateway の側は、discovery URL、許可する宛先、許可する権限をその値に合わせます。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は、最初は動くのにトークンの期限のころに止まる場合です。AI エージェントが期限前にトークンを更新できていません。</a:t>
            </a:r>
          </a:p>
          <a:p>
            <a:r>
              <a:t>止まった時刻とトークンの期限を比べて確かめたら、AI エージェントの提供元にリフレッシュトークンでの更新に対応しているかを確かめます。Entra ID の側では、リフレッシュトークンを出せるように offline_access を許可します。</a:t>
            </a:r>
          </a:p>
          <a:p>
            <a:r>
              <a:t>AI エージェントが更新に対応していなければ、その AI エージェントを Gateway の対象から外すか、期限ごとに再サインインする運用にするかをお決めください。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直す前は、AI エージェントが自分を Entra ID のアプリの名簿に登録しようとして、受け付けられずに止まります。</a:t>
            </a:r>
          </a:p>
          <a:p>
            <a:r>
              <a:t>直した後は、管理者が前もってアプリの名簿に AI エージェントを載せ、もらった client ID を AI エージェントに設定します。AI エージェントはサインインして Gateway を呼べるようになります。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方法 2 では、API Gateway と Lambda で作った中継サーバーを Gateway の手前に置きます。中継サーバーは、AI エージェントの自動登録の依頼に、管理者が前もって登録した client ID を返します。</a:t>
            </a:r>
          </a:p>
          <a:p>
            <a:r>
              <a:t>AI エージェントはその client ID で Entra ID にサインインし、中継サーバーを通して Gateway を呼びます。トークンを出すのは Entra ID のままです。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直す前は、通行証の宛先が別のアプリになっていて、Gateway の条件と合わずに 401 で止まります。</a:t>
            </a:r>
          </a:p>
          <a:p>
            <a:r>
              <a:t>直した後は、Entra ID のアプリで Gateway 用の scope を公開し、AI エージェントがその scope を頼むようにします。通行証の宛先と権限が Gateway の条件とそろうので、200 が返ります。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直す前は、通行証の期限が来ると、AI エージェントが新しい通行証を持たないまま Gateway を呼び、止まります。</a:t>
            </a:r>
          </a:p>
          <a:p>
            <a:r>
              <a:t>直した後は、AI エージェントが期限の前にリフレッシュトークンで Entra ID から新しい通行証をもらい、そのまま Gateway を呼び続けます。これは AI エージェントの作りによるので、提供元にご確認ください。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AppFabric は freee に対応していません。GitHub には対応していますが、利用者 1 人あたり月 3 ドルかかり、200 人なら月 600 ドルです。</a:t>
            </a:r>
          </a:p>
          <a:p>
            <a:r>
              <a:t>GitHub Enterprise Cloud には監査ログを S3 へ直接送る機能があるので、GitHub と freee の 2 つだけなら、こちらを第一候補にします。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freee は、公開されている開発者向けの資料に監査ログを取る API が見当たりません。ここに並べた 4 つを freee 社にご確認ください。</a:t>
            </a:r>
          </a:p>
          <a:p>
            <a:r>
              <a:t>書き出ししかなければ、人が定期的に S3 へ置く手順にします。取れなければ、見張らないことを受け入れるかをお客様にご判断いただきます。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S3 に集めて、Athena の定型 SQL を定期的に実行する形をおすすめします。Gateway の呼び出しの記録も同じ場所に集めます。</a:t>
            </a:r>
          </a:p>
          <a:p>
            <a:r>
              <a:t>EventBridge Scheduler だけでは SQL の完了を待って判定するところまでつながらないので、最初から Step Functions を入れます。緑の枠の中は、お客様が作って持ち続ける部分です。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ログを集めるだけでは、消された、止まった、重なった、の 3 つに気づけません。</a:t>
            </a:r>
          </a:p>
          <a:p>
            <a:r>
              <a:t>ログは専用のアカウントに置いて決めた期間は消せないようにし、最後に成功した時刻を見張り、ログの ID で重なりを除いてから数えます。</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見張る操作の例です。リポジトリの公開や削除、権限の変更、2 段階認証の解除などは、操作の名前で絞り込めば見つけられます。</a:t>
            </a:r>
          </a:p>
          <a:p>
            <a:r>
              <a:t>clone の量は、普段の量を基準にして比べます。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主な料金は使った量に応じて決まります。たとえばツールを月に 100 万回呼ぶと、呼び出しの料金は 5 ドル、Policy の判定は 25 ドルです。</a:t>
            </a:r>
          </a:p>
          <a:p>
            <a:r>
              <a:t>利用者の数、呼び出しの回数、ログの量、保管期間をいただければ、月額を試算します。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ご判断いただきたいことは 4 つです。まず、MCP の接続先を Gateway にそろえる案で検証を始めるかをお決めください。</a:t>
            </a:r>
          </a:p>
          <a:p>
            <a:r>
              <a:t>次の一歩は、お使いのツールで Gateway につながるかを試すことです。ここが通れば、GitHub の登録と監査ログの設定に進みます。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ide 1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DF3A4-5795-4C3E-A626-E8705501F605}"/>
              </a:ext>
            </a:extLst>
          </p:cNvPr>
          <p:cNvSpPr>
            <a:spLocks noGrp="1"/>
          </p:cNvSpPr>
          <p:nvPr>
            <p:ph type="ctrTitle" hasCustomPrompt="1"/>
          </p:nvPr>
        </p:nvSpPr>
        <p:spPr>
          <a:xfrm>
            <a:off x="477246" y="3418321"/>
            <a:ext cx="6460999" cy="923330"/>
          </a:xfrm>
          <a:prstGeom prst="rect">
            <a:avLst/>
          </a:prstGeom>
        </p:spPr>
        <p:txBody>
          <a:bodyPr wrap="square" anchor="t" anchorCtr="0"/>
          <a:lstStyle>
            <a:lvl1pPr algn="l">
              <a:defRPr sz="60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Enter title</a:t>
            </a:r>
          </a:p>
        </p:txBody>
      </p:sp>
      <p:sp>
        <p:nvSpPr>
          <p:cNvPr id="3" name="Subtitle 2">
            <a:extLst>
              <a:ext uri="{FF2B5EF4-FFF2-40B4-BE49-F238E27FC236}">
                <a16:creationId xmlns:a16="http://schemas.microsoft.com/office/drawing/2014/main" id="{FDAD1914-560C-4D5C-AA3F-8A993D908EC6}"/>
              </a:ext>
            </a:extLst>
          </p:cNvPr>
          <p:cNvSpPr>
            <a:spLocks noGrp="1"/>
          </p:cNvSpPr>
          <p:nvPr>
            <p:ph type="subTitle" idx="1" hasCustomPrompt="1"/>
          </p:nvPr>
        </p:nvSpPr>
        <p:spPr>
          <a:xfrm>
            <a:off x="609598" y="4366830"/>
            <a:ext cx="6460998" cy="584775"/>
          </a:xfrm>
          <a:prstGeom prst="rect">
            <a:avLst/>
          </a:prstGeom>
        </p:spPr>
        <p:txBody>
          <a:bodyPr wrap="square"/>
          <a:lstStyle>
            <a:lvl1pPr marL="0" indent="0" algn="l">
              <a:spcAft>
                <a:spcPts val="0"/>
              </a:spcAft>
              <a:buFont typeface="Arial" panose="020B0604020202020204" pitchFamily="34" charset="0"/>
              <a:buNone/>
              <a:defRPr sz="32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Enter subtitle</a:t>
            </a:r>
          </a:p>
        </p:txBody>
      </p:sp>
      <p:sp>
        <p:nvSpPr>
          <p:cNvPr id="10" name="Text Placeholder 9">
            <a:extLst>
              <a:ext uri="{FF2B5EF4-FFF2-40B4-BE49-F238E27FC236}">
                <a16:creationId xmlns:a16="http://schemas.microsoft.com/office/drawing/2014/main" id="{8235E33B-41A5-4ACB-9AE6-2F3E7CAA4429}"/>
              </a:ext>
            </a:extLst>
          </p:cNvPr>
          <p:cNvSpPr>
            <a:spLocks noGrp="1"/>
          </p:cNvSpPr>
          <p:nvPr>
            <p:ph type="body" sz="quarter" idx="11" hasCustomPrompt="1"/>
          </p:nvPr>
        </p:nvSpPr>
        <p:spPr>
          <a:xfrm>
            <a:off x="609598" y="5261981"/>
            <a:ext cx="3797302" cy="400110"/>
          </a:xfrm>
          <a:prstGeom prst="rect">
            <a:avLst/>
          </a:prstGeom>
        </p:spPr>
        <p:txBody>
          <a:bodyPr wrap="square"/>
          <a:lstStyle>
            <a:lvl1pPr marL="0" indent="0">
              <a:spcAft>
                <a:spcPts val="0"/>
              </a:spcAft>
              <a:buNone/>
              <a:defRPr sz="2000" b="1" i="0" cap="none" spc="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name (pronouns)</a:t>
            </a:r>
          </a:p>
        </p:txBody>
      </p:sp>
      <p:sp>
        <p:nvSpPr>
          <p:cNvPr id="8" name="Text Placeholder 7">
            <a:extLst>
              <a:ext uri="{FF2B5EF4-FFF2-40B4-BE49-F238E27FC236}">
                <a16:creationId xmlns:a16="http://schemas.microsoft.com/office/drawing/2014/main" id="{B54CE4ED-4096-479A-AA41-A2286E854BFC}"/>
              </a:ext>
            </a:extLst>
          </p:cNvPr>
          <p:cNvSpPr>
            <a:spLocks noGrp="1"/>
          </p:cNvSpPr>
          <p:nvPr>
            <p:ph type="body" sz="quarter" idx="10" hasCustomPrompt="1"/>
          </p:nvPr>
        </p:nvSpPr>
        <p:spPr>
          <a:xfrm>
            <a:off x="609598" y="332014"/>
            <a:ext cx="6477002" cy="230832"/>
          </a:xfrm>
          <a:prstGeom prst="rect">
            <a:avLst/>
          </a:prstGeom>
        </p:spPr>
        <p:txBody>
          <a:bodyPr wrap="square"/>
          <a:lstStyle>
            <a:lvl1pPr marL="0" indent="0">
              <a:spcAft>
                <a:spcPts val="0"/>
              </a:spcAft>
              <a:buNone/>
              <a:defRPr sz="1000" b="0" i="0" cap="all" spc="300" baseline="0">
                <a:solidFill>
                  <a:schemeClr val="tx2"/>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session ID if required</a:t>
            </a:r>
          </a:p>
        </p:txBody>
      </p:sp>
      <p:sp>
        <p:nvSpPr>
          <p:cNvPr id="12" name="Text Placeholder 11">
            <a:extLst>
              <a:ext uri="{FF2B5EF4-FFF2-40B4-BE49-F238E27FC236}">
                <a16:creationId xmlns:a16="http://schemas.microsoft.com/office/drawing/2014/main" id="{E7D4CE88-F816-4273-A6C0-5D3F9D2E0519}"/>
              </a:ext>
            </a:extLst>
          </p:cNvPr>
          <p:cNvSpPr>
            <a:spLocks noGrp="1"/>
          </p:cNvSpPr>
          <p:nvPr>
            <p:ph type="body" sz="quarter" idx="12" hasCustomPrompt="1"/>
          </p:nvPr>
        </p:nvSpPr>
        <p:spPr>
          <a:xfrm>
            <a:off x="609598" y="5674769"/>
            <a:ext cx="3797302" cy="584775"/>
          </a:xfrm>
          <a:prstGeom prst="rect">
            <a:avLst/>
          </a:prstGeom>
        </p:spPr>
        <p:txBody>
          <a:bodyPr wrap="square"/>
          <a:lstStyle>
            <a:lvl1pPr marL="0" indent="0">
              <a:spcAft>
                <a:spcPts val="300"/>
              </a:spcAft>
              <a:buNone/>
              <a:defRPr sz="1600" b="0"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Speaker job title</a:t>
            </a:r>
            <a:br>
              <a:rPr lang="en-US" dirty="0"/>
            </a:br>
            <a:r>
              <a:rPr lang="en-US" dirty="0"/>
              <a:t>Speaker company</a:t>
            </a:r>
          </a:p>
        </p:txBody>
      </p:sp>
    </p:spTree>
    <p:extLst>
      <p:ext uri="{BB962C8B-B14F-4D97-AF65-F5344CB8AC3E}">
        <p14:creationId xmlns:p14="http://schemas.microsoft.com/office/powerpoint/2010/main" val="311644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1750401-572B-4B45-BF07-5D528B05F88A}"/>
              </a:ext>
            </a:extLst>
          </p:cNvPr>
          <p:cNvSpPr>
            <a:spLocks noGrp="1"/>
          </p:cNvSpPr>
          <p:nvPr>
            <p:ph type="body" sz="quarter" idx="10" hasCustomPrompt="1"/>
          </p:nvPr>
        </p:nvSpPr>
        <p:spPr>
          <a:xfrm>
            <a:off x="609600" y="1377715"/>
            <a:ext cx="11247438" cy="3549690"/>
          </a:xfrm>
          <a:prstGeom prst="rect">
            <a:avLst/>
          </a:prstGeom>
        </p:spPr>
        <p:txBody>
          <a:bodyPr/>
          <a:lstStyle>
            <a:lvl1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1pPr>
            <a:lvl2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2pPr>
            <a:lvl3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3pPr>
            <a:lvl4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4pPr>
            <a:lvl5pPr marL="0" indent="0">
              <a:spcAft>
                <a:spcPts val="3000"/>
              </a:spcAft>
              <a:buNone/>
              <a:defRPr sz="2400" b="0" i="0" baseline="0">
                <a:latin typeface="Amazon Ember Display" panose="020F0603020204020204" pitchFamily="34" charset="0"/>
                <a:ea typeface="メイリオ" panose="020B0604030504040204" pitchFamily="34" charset="-128"/>
                <a:cs typeface="Amazon Ember Display" panose="020F0603020204020204" pitchFamily="34" charset="0"/>
              </a:defRPr>
            </a:lvl5pPr>
          </a:lstStyle>
          <a:p>
            <a:pPr lvl="0"/>
            <a:r>
              <a:rPr lang="en-US" dirty="0"/>
              <a:t>Enter high-level agenda items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タイトル 5">
            <a:extLst>
              <a:ext uri="{FF2B5EF4-FFF2-40B4-BE49-F238E27FC236}">
                <a16:creationId xmlns:a16="http://schemas.microsoft.com/office/drawing/2014/main" id="{64188B27-D1F7-5699-25C7-360C2A3C7433}"/>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129358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071E41DC-3AB2-33CA-0E29-26E2B01642FD}"/>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2021467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Gradient 2">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9C0C633D-6533-7A81-CB54-487A1ECE781B}"/>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58284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66213DF-CEC6-4F46-9CD4-5ED4A416AF59}"/>
              </a:ext>
            </a:extLst>
          </p:cNvPr>
          <p:cNvSpPr>
            <a:spLocks noGrp="1"/>
          </p:cNvSpPr>
          <p:nvPr>
            <p:ph type="body" sz="quarter" idx="10" hasCustomPrompt="1"/>
          </p:nvPr>
        </p:nvSpPr>
        <p:spPr>
          <a:xfrm>
            <a:off x="407987" y="908050"/>
            <a:ext cx="11449049" cy="369332"/>
          </a:xfrm>
          <a:prstGeom prst="rect">
            <a:avLst/>
          </a:prstGeom>
        </p:spPr>
        <p:txBody>
          <a:bodyPr/>
          <a:lstStyle>
            <a:lvl1pPr marL="0" indent="0">
              <a:buNone/>
              <a:defRPr sz="1800" b="0" i="0" cap="none" spc="0" baseline="0">
                <a:latin typeface="Amazon Ember Display" panose="020F0603020204020204" pitchFamily="34" charset="0"/>
                <a:ea typeface="メイリオ" panose="020B0604030504040204" pitchFamily="34" charset="-128"/>
                <a:cs typeface="Amazon Ember Display" panose="020F0603020204020204" pitchFamily="34" charset="0"/>
              </a:defRPr>
            </a:lvl1pPr>
          </a:lstStyle>
          <a:p>
            <a:pPr lvl="0"/>
            <a:r>
              <a:rPr lang="en-US" dirty="0"/>
              <a:t>Enter subtitle</a:t>
            </a:r>
          </a:p>
        </p:txBody>
      </p:sp>
      <p:sp>
        <p:nvSpPr>
          <p:cNvPr id="7" name="タイトル 6">
            <a:extLst>
              <a:ext uri="{FF2B5EF4-FFF2-40B4-BE49-F238E27FC236}">
                <a16:creationId xmlns:a16="http://schemas.microsoft.com/office/drawing/2014/main" id="{ADA10BAA-117E-4979-BFDE-E8E27E25E879}"/>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922509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840">
          <p15:clr>
            <a:srgbClr val="9FCC3B"/>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298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C31057A0-1AB3-C59E-241E-58D9A94D4DFF}"/>
              </a:ext>
            </a:extLst>
          </p:cNvPr>
          <p:cNvSpPr>
            <a:spLocks noGrp="1"/>
          </p:cNvSpPr>
          <p:nvPr>
            <p:ph type="title"/>
          </p:nvPr>
        </p:nvSpPr>
        <p:spPr/>
        <p:txBody>
          <a:bodyPr/>
          <a:lstStyle/>
          <a:p>
            <a:r>
              <a:rPr kumimoji="1" lang="ja-JP" altLang="en-US"/>
              <a:t>マスター タイトルの書式設定</a:t>
            </a:r>
          </a:p>
        </p:txBody>
      </p:sp>
      <p:sp>
        <p:nvSpPr>
          <p:cNvPr id="12" name="Text Placeholder 2">
            <a:extLst>
              <a:ext uri="{FF2B5EF4-FFF2-40B4-BE49-F238E27FC236}">
                <a16:creationId xmlns:a16="http://schemas.microsoft.com/office/drawing/2014/main" id="{19982E9C-19F2-6D70-0138-2D7C09EA29A5}"/>
              </a:ext>
            </a:extLst>
          </p:cNvPr>
          <p:cNvSpPr>
            <a:spLocks noGrp="1"/>
          </p:cNvSpPr>
          <p:nvPr>
            <p:ph idx="1"/>
          </p:nvPr>
        </p:nvSpPr>
        <p:spPr>
          <a:xfrm>
            <a:off x="407987" y="1376363"/>
            <a:ext cx="11449049" cy="2062103"/>
          </a:xfrm>
          <a:prstGeom prst="rect">
            <a:avLst/>
          </a:prstGeom>
        </p:spPr>
        <p:txBody>
          <a:bodyPr vert="horz" wrap="square" lIns="0" tIns="45720" rIns="0" bIns="45720" rtlCol="0">
            <a:spAutoFit/>
          </a:bodyPr>
          <a:lstStyle>
            <a:lvl1pPr marL="0" indent="0">
              <a:buNone/>
              <a:defRPr/>
            </a:lvl1pPr>
            <a:lvl2pPr marL="280800" indent="0">
              <a:buNone/>
              <a:defRPr/>
            </a:lvl2pPr>
            <a:lvl3pPr marL="622800" indent="0">
              <a:buNone/>
              <a:defRPr/>
            </a:lvl3pPr>
            <a:lvl4pPr marL="795600" indent="0">
              <a:buNone/>
              <a:defRPr/>
            </a:lvl4pPr>
            <a:lvl5pPr marL="968400"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10861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Bulleted Conten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686EE66B-2848-D944-6D93-4D6603CDCBE1}"/>
              </a:ext>
            </a:extLst>
          </p:cNvPr>
          <p:cNvSpPr>
            <a:spLocks noGrp="1"/>
          </p:cNvSpPr>
          <p:nvPr>
            <p:ph idx="1"/>
          </p:nvPr>
        </p:nvSpPr>
        <p:spPr>
          <a:xfrm>
            <a:off x="407987" y="1376363"/>
            <a:ext cx="11449049" cy="2062103"/>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タイトル 7">
            <a:extLst>
              <a:ext uri="{FF2B5EF4-FFF2-40B4-BE49-F238E27FC236}">
                <a16:creationId xmlns:a16="http://schemas.microsoft.com/office/drawing/2014/main" id="{EC2E6AE7-4E53-3437-B370-670CC07AFEA1}"/>
              </a:ext>
            </a:extLst>
          </p:cNvPr>
          <p:cNvSpPr>
            <a:spLocks noGrp="1"/>
          </p:cNvSpPr>
          <p:nvPr>
            <p:ph type="title"/>
          </p:nvPr>
        </p:nvSpPr>
        <p:spPr/>
        <p:txBody>
          <a:bodyPr/>
          <a:lstStyle/>
          <a:p>
            <a:r>
              <a:rPr kumimoji="1" lang="ja-JP" altLang="en-US"/>
              <a:t>マスター タイトルの書式設定</a:t>
            </a:r>
          </a:p>
        </p:txBody>
      </p:sp>
    </p:spTree>
    <p:extLst>
      <p:ext uri="{BB962C8B-B14F-4D97-AF65-F5344CB8AC3E}">
        <p14:creationId xmlns:p14="http://schemas.microsoft.com/office/powerpoint/2010/main" val="578817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Option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5E6F-C631-449B-B22F-53FD20C9E896}"/>
              </a:ext>
            </a:extLst>
          </p:cNvPr>
          <p:cNvSpPr>
            <a:spLocks noGrp="1"/>
          </p:cNvSpPr>
          <p:nvPr>
            <p:ph type="title" hasCustomPrompt="1"/>
          </p:nvPr>
        </p:nvSpPr>
        <p:spPr>
          <a:xfrm>
            <a:off x="609600" y="2718036"/>
            <a:ext cx="7823200" cy="1421928"/>
          </a:xfrm>
          <a:prstGeom prst="rect">
            <a:avLst/>
          </a:prstGeom>
        </p:spPr>
        <p:txBody>
          <a:bodyPr anchor="ctr" anchorCtr="0"/>
          <a:lstStyle>
            <a:lvl1pPr>
              <a:defRPr sz="4800" b="1" i="0" baseline="0">
                <a:solidFill>
                  <a:schemeClr val="tx2"/>
                </a:solidFill>
                <a:latin typeface="Amazon Ember Display" panose="020F0603020204020204" pitchFamily="34" charset="0"/>
                <a:ea typeface="メイリオ" panose="020B0604030504040204" pitchFamily="34" charset="-128"/>
                <a:cs typeface="Amazon Ember Display" panose="020F0603020204020204" pitchFamily="34" charset="0"/>
              </a:defRPr>
            </a:lvl1pPr>
          </a:lstStyle>
          <a:p>
            <a:r>
              <a:rPr lang="en-US" dirty="0"/>
              <a:t>Section layout: Enter section name here</a:t>
            </a:r>
          </a:p>
        </p:txBody>
      </p:sp>
    </p:spTree>
    <p:extLst>
      <p:ext uri="{BB962C8B-B14F-4D97-AF65-F5344CB8AC3E}">
        <p14:creationId xmlns:p14="http://schemas.microsoft.com/office/powerpoint/2010/main" val="3490127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1FFA190-394C-4586-A84A-BA2A67703000}"/>
              </a:ext>
            </a:extLst>
          </p:cNvPr>
          <p:cNvSpPr>
            <a:spLocks noGrp="1"/>
          </p:cNvSpPr>
          <p:nvPr>
            <p:ph type="body" sz="quarter" idx="10" hasCustomPrompt="1"/>
          </p:nvPr>
        </p:nvSpPr>
        <p:spPr>
          <a:xfrm>
            <a:off x="6191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10" name="Text Placeholder 9">
            <a:extLst>
              <a:ext uri="{FF2B5EF4-FFF2-40B4-BE49-F238E27FC236}">
                <a16:creationId xmlns:a16="http://schemas.microsoft.com/office/drawing/2014/main" id="{B682D70F-F9C4-4C4C-A916-589EA4438C2E}"/>
              </a:ext>
            </a:extLst>
          </p:cNvPr>
          <p:cNvSpPr>
            <a:spLocks noGrp="1"/>
          </p:cNvSpPr>
          <p:nvPr>
            <p:ph type="body" sz="quarter" idx="11" hasCustomPrompt="1"/>
          </p:nvPr>
        </p:nvSpPr>
        <p:spPr>
          <a:xfrm>
            <a:off x="6191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11" name="Text Placeholder 7">
            <a:extLst>
              <a:ext uri="{FF2B5EF4-FFF2-40B4-BE49-F238E27FC236}">
                <a16:creationId xmlns:a16="http://schemas.microsoft.com/office/drawing/2014/main" id="{393A1250-E885-4935-B98D-9C62E4E51F4E}"/>
              </a:ext>
            </a:extLst>
          </p:cNvPr>
          <p:cNvSpPr>
            <a:spLocks noGrp="1"/>
          </p:cNvSpPr>
          <p:nvPr>
            <p:ph type="body" sz="quarter" idx="12" hasCustomPrompt="1"/>
          </p:nvPr>
        </p:nvSpPr>
        <p:spPr>
          <a:xfrm>
            <a:off x="27146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12" name="Text Placeholder 9">
            <a:extLst>
              <a:ext uri="{FF2B5EF4-FFF2-40B4-BE49-F238E27FC236}">
                <a16:creationId xmlns:a16="http://schemas.microsoft.com/office/drawing/2014/main" id="{DF7E9957-AB07-4CE6-BD9E-3631EF6ED53B}"/>
              </a:ext>
            </a:extLst>
          </p:cNvPr>
          <p:cNvSpPr>
            <a:spLocks noGrp="1"/>
          </p:cNvSpPr>
          <p:nvPr>
            <p:ph type="body" sz="quarter" idx="13" hasCustomPrompt="1"/>
          </p:nvPr>
        </p:nvSpPr>
        <p:spPr>
          <a:xfrm>
            <a:off x="27146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13" name="Text Placeholder 7">
            <a:extLst>
              <a:ext uri="{FF2B5EF4-FFF2-40B4-BE49-F238E27FC236}">
                <a16:creationId xmlns:a16="http://schemas.microsoft.com/office/drawing/2014/main" id="{E064B62F-5416-46A2-BBC6-945C362C63DE}"/>
              </a:ext>
            </a:extLst>
          </p:cNvPr>
          <p:cNvSpPr>
            <a:spLocks noGrp="1"/>
          </p:cNvSpPr>
          <p:nvPr>
            <p:ph type="body" sz="quarter" idx="14" hasCustomPrompt="1"/>
          </p:nvPr>
        </p:nvSpPr>
        <p:spPr>
          <a:xfrm>
            <a:off x="4810125" y="3621643"/>
            <a:ext cx="1994088" cy="369332"/>
          </a:xfrm>
          <a:prstGeom prst="rect">
            <a:avLst/>
          </a:prstGeom>
        </p:spPr>
        <p:txBody>
          <a:bodyPr anchor="b" anchorCtr="0"/>
          <a:lstStyle>
            <a:lvl1pPr marL="0" indent="0">
              <a:buNone/>
              <a:defRPr sz="20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name</a:t>
            </a:r>
          </a:p>
        </p:txBody>
      </p:sp>
      <p:sp>
        <p:nvSpPr>
          <p:cNvPr id="14" name="Text Placeholder 9">
            <a:extLst>
              <a:ext uri="{FF2B5EF4-FFF2-40B4-BE49-F238E27FC236}">
                <a16:creationId xmlns:a16="http://schemas.microsoft.com/office/drawing/2014/main" id="{4BBE44B1-E140-4E35-AF0B-41A3CDA5CA27}"/>
              </a:ext>
            </a:extLst>
          </p:cNvPr>
          <p:cNvSpPr>
            <a:spLocks noGrp="1"/>
          </p:cNvSpPr>
          <p:nvPr>
            <p:ph type="body" sz="quarter" idx="15" hasCustomPrompt="1"/>
          </p:nvPr>
        </p:nvSpPr>
        <p:spPr>
          <a:xfrm>
            <a:off x="4810125" y="3990975"/>
            <a:ext cx="1994088" cy="535531"/>
          </a:xfrm>
          <a:prstGeom prst="rect">
            <a:avLst/>
          </a:prstGeom>
        </p:spPr>
        <p:txBody>
          <a:bodyPr/>
          <a:lstStyle>
            <a:lvl1pPr marL="0" indent="0">
              <a:spcAft>
                <a:spcPts val="600"/>
              </a:spcAft>
              <a:buNone/>
              <a:defRPr sz="1600" b="0" i="0">
                <a:solidFill>
                  <a:schemeClr val="tx2"/>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pPr lvl="0"/>
            <a:r>
              <a:rPr lang="en-US" dirty="0"/>
              <a:t>Speaker contact info (email or socials)</a:t>
            </a:r>
          </a:p>
        </p:txBody>
      </p:sp>
      <p:sp>
        <p:nvSpPr>
          <p:cNvPr id="16" name="TextBox 15">
            <a:extLst>
              <a:ext uri="{FF2B5EF4-FFF2-40B4-BE49-F238E27FC236}">
                <a16:creationId xmlns:a16="http://schemas.microsoft.com/office/drawing/2014/main" id="{82BEBFA3-8C5E-448A-B03D-8DAAEBB407B0}"/>
              </a:ext>
            </a:extLst>
          </p:cNvPr>
          <p:cNvSpPr txBox="1"/>
          <p:nvPr userDrawn="1"/>
        </p:nvSpPr>
        <p:spPr>
          <a:xfrm>
            <a:off x="609599" y="2461211"/>
            <a:ext cx="6867525" cy="923330"/>
          </a:xfrm>
          <a:prstGeom prst="rect">
            <a:avLst/>
          </a:prstGeom>
          <a:noFill/>
        </p:spPr>
        <p:txBody>
          <a:bodyPr wrap="square" lIns="0" rtlCol="0">
            <a:noAutofit/>
          </a:bodyPr>
          <a:lstStyle/>
          <a:p>
            <a:r>
              <a:rPr lang="en-US" sz="4800" b="0" i="0" dirty="0">
                <a:solidFill>
                  <a:schemeClr val="tx2"/>
                </a:solidFill>
                <a:latin typeface="Amazon Ember Display" panose="020F0603020204020204" pitchFamily="34" charset="0"/>
              </a:rPr>
              <a:t>Thank you!</a:t>
            </a:r>
          </a:p>
        </p:txBody>
      </p:sp>
    </p:spTree>
    <p:extLst>
      <p:ext uri="{BB962C8B-B14F-4D97-AF65-F5344CB8AC3E}">
        <p14:creationId xmlns:p14="http://schemas.microsoft.com/office/powerpoint/2010/main" val="15804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 Id="rId1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Title Placeholder 19">
            <a:extLst>
              <a:ext uri="{FF2B5EF4-FFF2-40B4-BE49-F238E27FC236}">
                <a16:creationId xmlns:a16="http://schemas.microsoft.com/office/drawing/2014/main" id="{6BA9B5C3-6371-84F6-B7DD-E715A774767A}"/>
              </a:ext>
            </a:extLst>
          </p:cNvPr>
          <p:cNvSpPr>
            <a:spLocks noGrp="1"/>
          </p:cNvSpPr>
          <p:nvPr>
            <p:ph type="title"/>
          </p:nvPr>
        </p:nvSpPr>
        <p:spPr>
          <a:xfrm>
            <a:off x="407988" y="301169"/>
            <a:ext cx="11449050" cy="60688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87F0757-0A35-2523-9D3C-4010D62C72C6}"/>
              </a:ext>
            </a:extLst>
          </p:cNvPr>
          <p:cNvSpPr>
            <a:spLocks noGrp="1"/>
          </p:cNvSpPr>
          <p:nvPr>
            <p:ph type="body" idx="1"/>
          </p:nvPr>
        </p:nvSpPr>
        <p:spPr>
          <a:xfrm>
            <a:off x="407987" y="1376363"/>
            <a:ext cx="11449049" cy="2062103"/>
          </a:xfrm>
          <a:prstGeom prst="rect">
            <a:avLst/>
          </a:prstGeom>
        </p:spPr>
        <p:txBody>
          <a:bodyPr vert="horz" wrap="square"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4748558"/>
      </p:ext>
    </p:extLst>
  </p:cSld>
  <p:clrMap bg1="dk1" tx1="lt1" bg2="dk2" tx2="lt2" accent1="accent1" accent2="accent2" accent3="accent3" accent4="accent4" accent5="accent5" accent6="accent6" hlink="hlink" folHlink="folHlink"/>
  <p:sldLayoutIdLst>
    <p:sldLayoutId id="2147483733" r:id="rId1"/>
    <p:sldLayoutId id="2147483739" r:id="rId2"/>
    <p:sldLayoutId id="2147483742" r:id="rId3"/>
    <p:sldLayoutId id="2147483744" r:id="rId4"/>
    <p:sldLayoutId id="2147483746" r:id="rId5"/>
    <p:sldLayoutId id="2147483747" r:id="rId6"/>
    <p:sldLayoutId id="2147483748" r:id="rId7"/>
    <p:sldLayoutId id="2147483749" r:id="rId8"/>
    <p:sldLayoutId id="2147483772" r:id="rId9"/>
    <p:sldLayoutId id="2147483780" r:id="rId10"/>
  </p:sldLayoutIdLst>
  <p:hf hdr="0" ftr="0" dt="0"/>
  <p:txStyles>
    <p:titleStyle>
      <a:lvl1pPr algn="l" defTabSz="914400" rtl="0" eaLnBrk="1" latinLnBrk="0" hangingPunct="1">
        <a:lnSpc>
          <a:spcPct val="90000"/>
        </a:lnSpc>
        <a:spcBef>
          <a:spcPct val="0"/>
        </a:spcBef>
        <a:buNone/>
        <a:defRPr sz="4000" b="1"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1pPr>
    </p:titleStyle>
    <p:bodyStyle>
      <a:lvl1pPr marL="349200" indent="-349200" algn="l" defTabSz="914400" rtl="0" eaLnBrk="1" latinLnBrk="0" hangingPunct="1">
        <a:lnSpc>
          <a:spcPct val="100000"/>
        </a:lnSpc>
        <a:spcBef>
          <a:spcPts val="0"/>
        </a:spcBef>
        <a:spcAft>
          <a:spcPts val="600"/>
        </a:spcAft>
        <a:buFont typeface="Arial" panose="020B0604020202020204" pitchFamily="34" charset="0"/>
        <a:buChar char="•"/>
        <a:defRPr sz="24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1pPr>
      <a:lvl2pPr marL="630000" indent="-349200" algn="l" defTabSz="914400" rtl="0" eaLnBrk="1" latinLnBrk="0" hangingPunct="1">
        <a:lnSpc>
          <a:spcPct val="100000"/>
        </a:lnSpc>
        <a:spcBef>
          <a:spcPts val="0"/>
        </a:spcBef>
        <a:spcAft>
          <a:spcPts val="600"/>
        </a:spcAft>
        <a:buFont typeface="システムフォント（レギュラー）"/>
        <a:buChar char="-"/>
        <a:defRPr sz="24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2pPr>
      <a:lvl3pPr marL="972000" indent="-349200" algn="l" defTabSz="914400" rtl="0" eaLnBrk="1" latinLnBrk="0" hangingPunct="1">
        <a:lnSpc>
          <a:spcPct val="100000"/>
        </a:lnSpc>
        <a:spcBef>
          <a:spcPts val="0"/>
        </a:spcBef>
        <a:spcAft>
          <a:spcPts val="600"/>
        </a:spcAft>
        <a:buFont typeface="システムフォント（レギュラー）"/>
        <a:buChar char="&gt;"/>
        <a:defRPr sz="20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3pPr>
      <a:lvl4pPr marL="1144800" indent="-349200" algn="l" defTabSz="914400" rtl="0" eaLnBrk="1" latinLnBrk="0" hangingPunct="1">
        <a:lnSpc>
          <a:spcPct val="100000"/>
        </a:lnSpc>
        <a:spcBef>
          <a:spcPts val="0"/>
        </a:spcBef>
        <a:spcAft>
          <a:spcPts val="600"/>
        </a:spcAft>
        <a:buFont typeface="Arial" panose="020B0604020202020204" pitchFamily="34" charset="0"/>
        <a:buChar char="•"/>
        <a:defRPr sz="18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4pPr>
      <a:lvl5pPr marL="1317600" indent="-349200" algn="l" defTabSz="914400" rtl="0" eaLnBrk="1" latinLnBrk="0" hangingPunct="1">
        <a:lnSpc>
          <a:spcPct val="100000"/>
        </a:lnSpc>
        <a:spcBef>
          <a:spcPts val="0"/>
        </a:spcBef>
        <a:spcAft>
          <a:spcPts val="600"/>
        </a:spcAft>
        <a:buFont typeface="Arial" panose="020B0604020202020204" pitchFamily="34" charset="0"/>
        <a:buChar char="•"/>
        <a:defRPr sz="1800" b="0" i="0" kern="1200" baseline="0">
          <a:solidFill>
            <a:schemeClr val="tx1"/>
          </a:solidFill>
          <a:latin typeface="Amazon Ember Display" panose="020F0603020204020204" pitchFamily="34" charset="0"/>
          <a:ea typeface="メイリオ" panose="020B0604030504040204" pitchFamily="34" charset="-128"/>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userDrawn="1">
          <p15:clr>
            <a:srgbClr val="F26B43"/>
          </p15:clr>
        </p15:guide>
        <p15:guide id="3" pos="257" userDrawn="1">
          <p15:clr>
            <a:srgbClr val="F26B43"/>
          </p15:clr>
        </p15:guide>
        <p15:guide id="4" pos="7469" userDrawn="1">
          <p15:clr>
            <a:srgbClr val="F26B43"/>
          </p15:clr>
        </p15:guide>
        <p15:guide id="5" orient="horz" pos="187" userDrawn="1">
          <p15:clr>
            <a:srgbClr val="F26B43"/>
          </p15:clr>
        </p15:guide>
        <p15:guide id="6" orient="horz" pos="572" userDrawn="1">
          <p15:clr>
            <a:srgbClr val="F26B43"/>
          </p15:clr>
        </p15:guide>
        <p15:guide id="7" orient="horz" pos="86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www.rfc-editor.org/rfc/rfc9728" TargetMode="External"/><Relationship Id="rId3" Type="http://schemas.openxmlformats.org/officeDocument/2006/relationships/hyperlink" Target="https://www.rfc-editor.org/rfc/rfc8414" TargetMode="External"/><Relationship Id="rId4" Type="http://schemas.openxmlformats.org/officeDocument/2006/relationships/hyperlink" Target="https://datatracker.ietf.org/doc/draft-ietf-oauth-client-id-metadata-document/" TargetMode="External"/><Relationship Id="rId5" Type="http://schemas.openxmlformats.org/officeDocument/2006/relationships/hyperlink" Target="https://www.rfc-editor.org/rfc/rfc7591" TargetMode="External"/><Relationship Id="rId6" Type="http://schemas.openxmlformats.org/officeDocument/2006/relationships/hyperlink" Target="https://datatracker.ietf.org/doc/draft-ietf-oauth-v2-1/" TargetMode="External"/><Relationship Id="rId7" Type="http://schemas.openxmlformats.org/officeDocument/2006/relationships/hyperlink" Target="https://www.rfc-editor.org/rfc/rfc7636" TargetMode="External"/><Relationship Id="rId8" Type="http://schemas.openxmlformats.org/officeDocument/2006/relationships/hyperlink" Target="https://www.rfc-editor.org/rfc/rfc8707" TargetMode="External"/><Relationship Id="rId9" Type="http://schemas.openxmlformats.org/officeDocument/2006/relationships/hyperlink" Target="https://www.rfc-editor.org/rfc/rfc6750" TargetMode="External"/><Relationship Id="rId10" Type="http://schemas.openxmlformats.org/officeDocument/2006/relationships/hyperlink" Target="https://docs.aws.amazon.com/bedrock-agentcore/latest/devguide/inbound-jwt-authorizer.html" TargetMode="Externa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ocs.aws.amazon.com/bedrock-agentcore/latest/devguide/inbound-jwt-authorizer.html" TargetMode="External"/><Relationship Id="rId3" Type="http://schemas.openxmlformats.org/officeDocument/2006/relationships/hyperlink" Target="https://docs.aws.amazon.com/bedrock-agentcore/latest/devguide/resource-providers.html" TargetMode="External"/><Relationship Id="rId4" Type="http://schemas.openxmlformats.org/officeDocument/2006/relationships/hyperlink" Target="https://docs.aws.amazon.com/bedrock-agentcore/latest/devguide/policy.html" TargetMode="External"/><Relationship Id="rId5" Type="http://schemas.openxmlformats.org/officeDocument/2006/relationships/hyperlink" Target="https://docs.aws.amazon.com/bedrock-agentcore/latest/devguide/registry.html" TargetMode="Externa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aws.amazon.com/bedrock/agentcore/pricing/" TargetMode="External"/><Relationship Id="rId3" Type="http://schemas.openxmlformats.org/officeDocument/2006/relationships/hyperlink" Target="https://aws.amazon.com/cloudtrail/pricing/" TargetMode="External"/><Relationship Id="rId4" Type="http://schemas.openxmlformats.org/officeDocument/2006/relationships/hyperlink" Target="https://aws.amazon.com/athena/pricing/" TargetMode="External"/><Relationship Id="rId5" Type="http://schemas.openxmlformats.org/officeDocument/2006/relationships/hyperlink" Target="https://aws.amazon.com/secrets-manager/pricing/" TargetMode="External"/><Relationship Id="rId6" Type="http://schemas.openxmlformats.org/officeDocument/2006/relationships/hyperlink" Target="https://aws.amazon.com/appfabric/pricing/" TargetMode="Externa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itle 1"/>
          <p:cNvSpPr>
            <a:spLocks noGrp="1"/>
          </p:cNvSpPr>
          <p:nvPr>
            <p:ph type="ctrTitle"/>
          </p:nvPr>
        </p:nvSpPr>
        <p:spPr/>
        <p:txBody>
          <a:bodyPr wrap="square"/>
          <a:lstStyle/>
          <a:p>
            <a:r>
              <a:rPr sz="2600"/>
              <a:t>AI エージェントの MCP 接続と SaaS の鍵を AWS で中央管理し、SaaS の監査ログを検索する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SUMMARY</a:t>
            </a:r>
          </a:p>
        </p:txBody>
      </p:sp>
      <p:sp>
        <p:nvSpPr>
          <p:cNvPr id="3" name="TextBox 2"/>
          <p:cNvSpPr txBox="1"/>
          <p:nvPr/>
        </p:nvSpPr>
        <p:spPr>
          <a:xfrm>
            <a:off x="409575" y="476250"/>
            <a:ext cx="11449050" cy="539750"/>
          </a:xfrm>
          <a:prstGeom prst="rect">
            <a:avLst/>
          </a:prstGeom>
          <a:noFill/>
        </p:spPr>
        <p:txBody>
          <a:bodyPr wrap="square" lIns="0" rIns="0" tIns="0" bIns="0" anchor="ctr">
            <a:spAutoFit/>
          </a:bodyPr>
          <a:lstStyle/>
          <a:p>
            <a:pPr algn="l">
              <a:lnSpc>
                <a:spcPct val="122000"/>
              </a:lnSpc>
            </a:pPr>
            <a:r>
              <a:rPr sz="3400" b="1">
                <a:solidFill>
                  <a:srgbClr val="FFFFFF"/>
                </a:solidFill>
                <a:latin typeface="Amazon Ember"/>
                <a:ea typeface="メイリオ"/>
                <a:cs typeface="メイリオ"/>
              </a:rPr>
              <a:t>2 つのご相談への答え</a:t>
            </a:r>
          </a:p>
        </p:txBody>
      </p:sp>
      <p:sp>
        <p:nvSpPr>
          <p:cNvPr id="4" name="Rectangle 3"/>
          <p:cNvSpPr/>
          <p:nvPr/>
        </p:nvSpPr>
        <p:spPr>
          <a:xfrm>
            <a:off x="409575" y="107315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3144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7" name="Rounded Rectangle 6"/>
          <p:cNvSpPr/>
          <p:nvPr/>
        </p:nvSpPr>
        <p:spPr>
          <a:xfrm>
            <a:off x="2209800" y="13144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57450"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9" name="Rounded Rectangle 8"/>
          <p:cNvSpPr/>
          <p:nvPr/>
        </p:nvSpPr>
        <p:spPr>
          <a:xfrm>
            <a:off x="4333875" y="13144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5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1" name="Rounded Rectangle 10"/>
          <p:cNvSpPr/>
          <p:nvPr/>
        </p:nvSpPr>
        <p:spPr>
          <a:xfrm>
            <a:off x="5810250" y="13144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57900"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3" name="Rounded Rectangle 12"/>
          <p:cNvSpPr/>
          <p:nvPr/>
        </p:nvSpPr>
        <p:spPr>
          <a:xfrm>
            <a:off x="409575" y="1619250"/>
            <a:ext cx="5524500" cy="3333750"/>
          </a:xfrm>
          <a:prstGeom prst="roundRect">
            <a:avLst>
              <a:gd name="adj" fmla="val 4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175" y="1733550"/>
            <a:ext cx="5143500" cy="381000"/>
          </a:xfrm>
          <a:prstGeom prst="rect">
            <a:avLst/>
          </a:prstGeom>
          <a:noFill/>
        </p:spPr>
        <p:txBody>
          <a:bodyPr wrap="square" lIns="0" rIns="0" tIns="0" bIns="0" anchor="ctr">
            <a:spAutoFit/>
          </a:bodyPr>
          <a:lstStyle/>
          <a:p>
            <a:pPr algn="l">
              <a:lnSpc>
                <a:spcPct val="122000"/>
              </a:lnSpc>
            </a:pPr>
            <a:r>
              <a:rPr sz="2100" b="1">
                <a:solidFill>
                  <a:srgbClr val="2896F0"/>
                </a:solidFill>
                <a:latin typeface="Amazon Ember"/>
                <a:ea typeface="メイリオ"/>
                <a:cs typeface="メイリオ"/>
              </a:rPr>
              <a:t>1. MCP で使う SaaS の鍵の中央管理</a:t>
            </a:r>
          </a:p>
        </p:txBody>
      </p:sp>
      <p:sp>
        <p:nvSpPr>
          <p:cNvPr id="15" name="Rounded Rectangle 14"/>
          <p:cNvSpPr/>
          <p:nvPr/>
        </p:nvSpPr>
        <p:spPr>
          <a:xfrm>
            <a:off x="638175" y="2247900"/>
            <a:ext cx="5067300" cy="5334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鍵は AgentCore Identity が預かる</a:t>
            </a:r>
          </a:p>
        </p:txBody>
      </p:sp>
      <p:sp>
        <p:nvSpPr>
          <p:cNvPr id="16" name="Rounded Rectangle 15"/>
          <p:cNvSpPr/>
          <p:nvPr/>
        </p:nvSpPr>
        <p:spPr>
          <a:xfrm>
            <a:off x="638175" y="2914650"/>
            <a:ext cx="5067300" cy="5334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入口は AgentCore Gateway の 1 本</a:t>
            </a:r>
          </a:p>
        </p:txBody>
      </p:sp>
      <p:sp>
        <p:nvSpPr>
          <p:cNvPr id="17" name="Rounded Rectangle 16"/>
          <p:cNvSpPr/>
          <p:nvPr/>
        </p:nvSpPr>
        <p:spPr>
          <a:xfrm>
            <a:off x="638175" y="3581400"/>
            <a:ext cx="5067300" cy="5334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利用者は Entra ID で本人確認</a:t>
            </a:r>
          </a:p>
        </p:txBody>
      </p:sp>
      <p:sp>
        <p:nvSpPr>
          <p:cNvPr id="18" name="Rounded Rectangle 17"/>
          <p:cNvSpPr/>
          <p:nvPr/>
        </p:nvSpPr>
        <p:spPr>
          <a:xfrm>
            <a:off x="638175" y="4248150"/>
            <a:ext cx="5067300" cy="5334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Agent Registry は目録で、鍵は預からない</a:t>
            </a:r>
          </a:p>
        </p:txBody>
      </p:sp>
      <p:sp>
        <p:nvSpPr>
          <p:cNvPr id="19" name="Rounded Rectangle 18"/>
          <p:cNvSpPr/>
          <p:nvPr/>
        </p:nvSpPr>
        <p:spPr>
          <a:xfrm>
            <a:off x="6257925" y="1619250"/>
            <a:ext cx="5524500" cy="3333750"/>
          </a:xfrm>
          <a:prstGeom prst="roundRect">
            <a:avLst>
              <a:gd name="adj" fmla="val 4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6525" y="1733550"/>
            <a:ext cx="5143500" cy="381000"/>
          </a:xfrm>
          <a:prstGeom prst="rect">
            <a:avLst/>
          </a:prstGeom>
          <a:noFill/>
        </p:spPr>
        <p:txBody>
          <a:bodyPr wrap="square" lIns="0" rIns="0" tIns="0" bIns="0" anchor="ctr">
            <a:spAutoFit/>
          </a:bodyPr>
          <a:lstStyle/>
          <a:p>
            <a:pPr algn="l">
              <a:lnSpc>
                <a:spcPct val="122000"/>
              </a:lnSpc>
            </a:pPr>
            <a:r>
              <a:rPr sz="2100" b="1">
                <a:solidFill>
                  <a:srgbClr val="2896F0"/>
                </a:solidFill>
                <a:latin typeface="Amazon Ember"/>
                <a:ea typeface="メイリオ"/>
                <a:cs typeface="メイリオ"/>
              </a:rPr>
              <a:t>2. GitHub と freee の監査ログ</a:t>
            </a:r>
          </a:p>
        </p:txBody>
      </p:sp>
      <p:sp>
        <p:nvSpPr>
          <p:cNvPr id="21" name="Rounded Rectangle 20"/>
          <p:cNvSpPr/>
          <p:nvPr/>
        </p:nvSpPr>
        <p:spPr>
          <a:xfrm>
            <a:off x="6486525" y="2247900"/>
            <a:ext cx="5067300" cy="5334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GitHub Enterprise Cloud なら S3 へ直接送る</a:t>
            </a:r>
          </a:p>
        </p:txBody>
      </p:sp>
      <p:sp>
        <p:nvSpPr>
          <p:cNvPr id="22" name="Rounded Rectangle 21"/>
          <p:cNvSpPr/>
          <p:nvPr/>
        </p:nvSpPr>
        <p:spPr>
          <a:xfrm>
            <a:off x="6486525" y="2914650"/>
            <a:ext cx="5067300" cy="5334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S3 と Athena の定型 SQL を定期実行</a:t>
            </a:r>
          </a:p>
        </p:txBody>
      </p:sp>
      <p:sp>
        <p:nvSpPr>
          <p:cNvPr id="23" name="Rounded Rectangle 22"/>
          <p:cNvSpPr/>
          <p:nvPr/>
        </p:nvSpPr>
        <p:spPr>
          <a:xfrm>
            <a:off x="6486525" y="3581400"/>
            <a:ext cx="5067300" cy="5334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AppFabric は freee に対応していない</a:t>
            </a:r>
          </a:p>
        </p:txBody>
      </p:sp>
      <p:sp>
        <p:nvSpPr>
          <p:cNvPr id="24" name="Rounded Rectangle 23"/>
          <p:cNvSpPr/>
          <p:nvPr/>
        </p:nvSpPr>
        <p:spPr>
          <a:xfrm>
            <a:off x="6486525" y="4248150"/>
            <a:ext cx="5067300" cy="5334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freee は監査ログの取り方を確認する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SCOPE</a:t>
            </a:r>
          </a:p>
        </p:txBody>
      </p:sp>
      <p:sp>
        <p:nvSpPr>
          <p:cNvPr id="3" name="TextBox 2"/>
          <p:cNvSpPr txBox="1"/>
          <p:nvPr/>
        </p:nvSpPr>
        <p:spPr>
          <a:xfrm>
            <a:off x="409575" y="476250"/>
            <a:ext cx="11449050" cy="444500"/>
          </a:xfrm>
          <a:prstGeom prst="rect">
            <a:avLst/>
          </a:prstGeom>
          <a:noFill/>
        </p:spPr>
        <p:txBody>
          <a:bodyPr wrap="square" lIns="0" rIns="0" tIns="0" bIns="0" anchor="ctr">
            <a:spAutoFit/>
          </a:bodyPr>
          <a:lstStyle/>
          <a:p>
            <a:pPr algn="l">
              <a:lnSpc>
                <a:spcPct val="122000"/>
              </a:lnSpc>
            </a:pPr>
            <a:r>
              <a:rPr sz="2800" b="1">
                <a:solidFill>
                  <a:srgbClr val="FFFFFF"/>
                </a:solidFill>
                <a:latin typeface="Amazon Ember"/>
                <a:ea typeface="メイリオ"/>
                <a:cs typeface="メイリオ"/>
              </a:rPr>
              <a:t>この資料は、どの AI エージェントにもよらない MCP の管理を扱う</a:t>
            </a:r>
          </a:p>
        </p:txBody>
      </p:sp>
      <p:sp>
        <p:nvSpPr>
          <p:cNvPr id="4" name="TextBox 3"/>
          <p:cNvSpPr txBox="1"/>
          <p:nvPr/>
        </p:nvSpPr>
        <p:spPr>
          <a:xfrm>
            <a:off x="409575" y="977900"/>
            <a:ext cx="11449050" cy="278892"/>
          </a:xfrm>
          <a:prstGeom prst="rect">
            <a:avLst/>
          </a:prstGeom>
          <a:noFill/>
        </p:spPr>
        <p:txBody>
          <a:bodyPr wrap="square" lIns="0" rIns="0" tIns="0" bIns="0" anchor="ctr">
            <a:spAutoFit/>
          </a:bodyPr>
          <a:lstStyle/>
          <a:p>
            <a:pPr algn="l">
              <a:lnSpc>
                <a:spcPct val="122000"/>
              </a:lnSpc>
            </a:pPr>
            <a:r>
              <a:rPr sz="1800" b="0">
                <a:solidFill>
                  <a:srgbClr val="8C8C8C"/>
                </a:solidFill>
                <a:latin typeface="Amazon Ember"/>
                <a:ea typeface="メイリオ"/>
                <a:cs typeface="メイリオ"/>
              </a:rPr>
              <a:t>各 AI エージェントの設定は、その AI エージェントの提供元にご確認ください</a:t>
            </a:r>
          </a:p>
        </p:txBody>
      </p:sp>
      <p:sp>
        <p:nvSpPr>
          <p:cNvPr id="5" name="Rectangle 4"/>
          <p:cNvSpPr/>
          <p:nvPr/>
        </p:nvSpPr>
        <p:spPr>
          <a:xfrm>
            <a:off x="409575" y="1332992"/>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9575" y="1571625"/>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7225" y="15144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8" name="Rounded Rectangle 7"/>
          <p:cNvSpPr/>
          <p:nvPr/>
        </p:nvSpPr>
        <p:spPr>
          <a:xfrm>
            <a:off x="2209800" y="1571625"/>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57450" y="15144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10" name="Rounded Rectangle 9"/>
          <p:cNvSpPr/>
          <p:nvPr/>
        </p:nvSpPr>
        <p:spPr>
          <a:xfrm>
            <a:off x="4333875" y="1571625"/>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525" y="15144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2" name="Rounded Rectangle 11"/>
          <p:cNvSpPr/>
          <p:nvPr/>
        </p:nvSpPr>
        <p:spPr>
          <a:xfrm>
            <a:off x="5810250" y="1571625"/>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7900" y="15144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4" name="TextBox 13"/>
          <p:cNvSpPr txBox="1"/>
          <p:nvPr/>
        </p:nvSpPr>
        <p:spPr>
          <a:xfrm>
            <a:off x="409575" y="1876425"/>
            <a:ext cx="3562350" cy="3810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MCP を使う AI エージェント</a:t>
            </a:r>
          </a:p>
        </p:txBody>
      </p:sp>
      <p:sp>
        <p:nvSpPr>
          <p:cNvPr id="15" name="Rounded Rectangle 14"/>
          <p:cNvSpPr/>
          <p:nvPr/>
        </p:nvSpPr>
        <p:spPr>
          <a:xfrm>
            <a:off x="600075" y="2352675"/>
            <a:ext cx="3181350" cy="5143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Devin</a:t>
            </a:r>
          </a:p>
        </p:txBody>
      </p:sp>
      <p:sp>
        <p:nvSpPr>
          <p:cNvPr id="16" name="Rounded Rectangle 15"/>
          <p:cNvSpPr/>
          <p:nvPr/>
        </p:nvSpPr>
        <p:spPr>
          <a:xfrm>
            <a:off x="600075" y="2981325"/>
            <a:ext cx="3181350" cy="5143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Claude Code</a:t>
            </a:r>
          </a:p>
        </p:txBody>
      </p:sp>
      <p:sp>
        <p:nvSpPr>
          <p:cNvPr id="17" name="Rounded Rectangle 16"/>
          <p:cNvSpPr/>
          <p:nvPr/>
        </p:nvSpPr>
        <p:spPr>
          <a:xfrm>
            <a:off x="600075" y="3609975"/>
            <a:ext cx="3181350" cy="5143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Kiro</a:t>
            </a:r>
          </a:p>
        </p:txBody>
      </p:sp>
      <p:sp>
        <p:nvSpPr>
          <p:cNvPr id="18" name="Rounded Rectangle 17"/>
          <p:cNvSpPr/>
          <p:nvPr/>
        </p:nvSpPr>
        <p:spPr>
          <a:xfrm>
            <a:off x="600075" y="4238625"/>
            <a:ext cx="3181350" cy="5143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社内のエージェント</a:t>
            </a:r>
          </a:p>
        </p:txBody>
      </p:sp>
      <p:sp>
        <p:nvSpPr>
          <p:cNvPr id="19" name="TextBox 18"/>
          <p:cNvSpPr txBox="1"/>
          <p:nvPr/>
        </p:nvSpPr>
        <p:spPr>
          <a:xfrm>
            <a:off x="409575" y="4924425"/>
            <a:ext cx="3562350" cy="323850"/>
          </a:xfrm>
          <a:prstGeom prst="rect">
            <a:avLst/>
          </a:prstGeom>
          <a:noFill/>
        </p:spPr>
        <p:txBody>
          <a:bodyPr wrap="square" lIns="0" rIns="0" tIns="0" bIns="0" anchor="ctr">
            <a:spAutoFit/>
          </a:bodyPr>
          <a:lstStyle/>
          <a:p>
            <a:pPr algn="ctr">
              <a:lnSpc>
                <a:spcPct val="122000"/>
              </a:lnSpc>
            </a:pPr>
            <a:r>
              <a:rPr sz="1700" b="0">
                <a:solidFill>
                  <a:srgbClr val="A0A0A8"/>
                </a:solidFill>
                <a:latin typeface="Amazon Ember"/>
                <a:ea typeface="メイリオ"/>
                <a:cs typeface="メイリオ"/>
              </a:rPr>
              <a:t>設定は各社にご確認</a:t>
            </a:r>
          </a:p>
        </p:txBody>
      </p:sp>
      <p:sp>
        <p:nvSpPr>
          <p:cNvPr id="20" name="TextBox 19"/>
          <p:cNvSpPr txBox="1"/>
          <p:nvPr/>
        </p:nvSpPr>
        <p:spPr>
          <a:xfrm>
            <a:off x="4314825" y="1876425"/>
            <a:ext cx="3562350" cy="3810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AWS で用意する入口</a:t>
            </a:r>
          </a:p>
        </p:txBody>
      </p:sp>
      <p:sp>
        <p:nvSpPr>
          <p:cNvPr id="21" name="Rounded Rectangle 20"/>
          <p:cNvSpPr/>
          <p:nvPr/>
        </p:nvSpPr>
        <p:spPr>
          <a:xfrm>
            <a:off x="4505325" y="2352675"/>
            <a:ext cx="3181350" cy="5143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AgentCore Gateway</a:t>
            </a:r>
          </a:p>
        </p:txBody>
      </p:sp>
      <p:sp>
        <p:nvSpPr>
          <p:cNvPr id="22" name="Rounded Rectangle 21"/>
          <p:cNvSpPr/>
          <p:nvPr/>
        </p:nvSpPr>
        <p:spPr>
          <a:xfrm>
            <a:off x="4505325" y="2981325"/>
            <a:ext cx="3181350" cy="5143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AgentCore Identity</a:t>
            </a:r>
          </a:p>
        </p:txBody>
      </p:sp>
      <p:sp>
        <p:nvSpPr>
          <p:cNvPr id="23" name="Rounded Rectangle 22"/>
          <p:cNvSpPr/>
          <p:nvPr/>
        </p:nvSpPr>
        <p:spPr>
          <a:xfrm>
            <a:off x="4505325" y="3609975"/>
            <a:ext cx="3181350" cy="5143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Policy in AgentCore</a:t>
            </a:r>
          </a:p>
        </p:txBody>
      </p:sp>
      <p:sp>
        <p:nvSpPr>
          <p:cNvPr id="24" name="TextBox 23"/>
          <p:cNvSpPr txBox="1"/>
          <p:nvPr/>
        </p:nvSpPr>
        <p:spPr>
          <a:xfrm>
            <a:off x="4314825" y="4924425"/>
            <a:ext cx="3562350" cy="323850"/>
          </a:xfrm>
          <a:prstGeom prst="rect">
            <a:avLst/>
          </a:prstGeom>
          <a:noFill/>
        </p:spPr>
        <p:txBody>
          <a:bodyPr wrap="square" lIns="0" rIns="0" tIns="0" bIns="0" anchor="ctr">
            <a:spAutoFit/>
          </a:bodyPr>
          <a:lstStyle/>
          <a:p>
            <a:pPr algn="ctr">
              <a:lnSpc>
                <a:spcPct val="122000"/>
              </a:lnSpc>
            </a:pPr>
            <a:r>
              <a:rPr sz="1700" b="0">
                <a:solidFill>
                  <a:srgbClr val="A0A0A8"/>
                </a:solidFill>
                <a:latin typeface="Amazon Ember"/>
                <a:ea typeface="メイリオ"/>
                <a:cs typeface="メイリオ"/>
              </a:rPr>
              <a:t>この資料の主題</a:t>
            </a:r>
          </a:p>
        </p:txBody>
      </p:sp>
      <p:sp>
        <p:nvSpPr>
          <p:cNvPr id="25" name="TextBox 24"/>
          <p:cNvSpPr txBox="1"/>
          <p:nvPr/>
        </p:nvSpPr>
        <p:spPr>
          <a:xfrm>
            <a:off x="8220075" y="1876425"/>
            <a:ext cx="3562350" cy="3810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使われる SaaS</a:t>
            </a:r>
          </a:p>
        </p:txBody>
      </p:sp>
      <p:sp>
        <p:nvSpPr>
          <p:cNvPr id="26" name="Rounded Rectangle 25"/>
          <p:cNvSpPr/>
          <p:nvPr/>
        </p:nvSpPr>
        <p:spPr>
          <a:xfrm>
            <a:off x="8410575" y="2352675"/>
            <a:ext cx="3181350" cy="5143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GitHub</a:t>
            </a:r>
          </a:p>
        </p:txBody>
      </p:sp>
      <p:sp>
        <p:nvSpPr>
          <p:cNvPr id="27" name="Rounded Rectangle 26"/>
          <p:cNvSpPr/>
          <p:nvPr/>
        </p:nvSpPr>
        <p:spPr>
          <a:xfrm>
            <a:off x="8410575" y="2981325"/>
            <a:ext cx="3181350" cy="5143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freee</a:t>
            </a:r>
          </a:p>
        </p:txBody>
      </p:sp>
      <p:sp>
        <p:nvSpPr>
          <p:cNvPr id="28" name="Rounded Rectangle 27"/>
          <p:cNvSpPr/>
          <p:nvPr/>
        </p:nvSpPr>
        <p:spPr>
          <a:xfrm>
            <a:off x="8410575" y="3609975"/>
            <a:ext cx="3181350" cy="5143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その他の SaaS</a:t>
            </a:r>
          </a:p>
        </p:txBody>
      </p:sp>
      <p:sp>
        <p:nvSpPr>
          <p:cNvPr id="29" name="TextBox 28"/>
          <p:cNvSpPr txBox="1"/>
          <p:nvPr/>
        </p:nvSpPr>
        <p:spPr>
          <a:xfrm>
            <a:off x="8220075" y="4924425"/>
            <a:ext cx="3562350" cy="323850"/>
          </a:xfrm>
          <a:prstGeom prst="rect">
            <a:avLst/>
          </a:prstGeom>
          <a:noFill/>
        </p:spPr>
        <p:txBody>
          <a:bodyPr wrap="square" lIns="0" rIns="0" tIns="0" bIns="0" anchor="ctr">
            <a:spAutoFit/>
          </a:bodyPr>
          <a:lstStyle/>
          <a:p>
            <a:pPr algn="ctr">
              <a:lnSpc>
                <a:spcPct val="122000"/>
              </a:lnSpc>
            </a:pPr>
            <a:r>
              <a:rPr sz="1700" b="0">
                <a:solidFill>
                  <a:srgbClr val="A0A0A8"/>
                </a:solidFill>
                <a:latin typeface="Amazon Ember"/>
                <a:ea typeface="メイリオ"/>
                <a:cs typeface="メイリオ"/>
              </a:rPr>
              <a:t>SaaS 側の制限も使う</a:t>
            </a:r>
          </a:p>
        </p:txBody>
      </p:sp>
      <p:cxnSp>
        <p:nvCxnSpPr>
          <p:cNvPr id="30" name="Connector 29"/>
          <p:cNvCxnSpPr/>
          <p:nvPr/>
        </p:nvCxnSpPr>
        <p:spPr>
          <a:xfrm>
            <a:off x="4010025" y="3305175"/>
            <a:ext cx="304800" cy="0"/>
          </a:xfrm>
          <a:prstGeom prst="line">
            <a:avLst/>
          </a:prstGeom>
          <a:ln w="381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915275" y="3305175"/>
            <a:ext cx="304800" cy="0"/>
          </a:xfrm>
          <a:prstGeom prst="line">
            <a:avLst/>
          </a:prstGeom>
          <a:ln w="381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PROBLEM</a:t>
            </a:r>
          </a:p>
        </p:txBody>
      </p:sp>
      <p:sp>
        <p:nvSpPr>
          <p:cNvPr id="3" name="TextBox 2"/>
          <p:cNvSpPr txBox="1"/>
          <p:nvPr/>
        </p:nvSpPr>
        <p:spPr>
          <a:xfrm>
            <a:off x="409575" y="476250"/>
            <a:ext cx="11449050" cy="539750"/>
          </a:xfrm>
          <a:prstGeom prst="rect">
            <a:avLst/>
          </a:prstGeom>
          <a:noFill/>
        </p:spPr>
        <p:txBody>
          <a:bodyPr wrap="square" lIns="0" rIns="0" tIns="0" bIns="0" anchor="ctr">
            <a:spAutoFit/>
          </a:bodyPr>
          <a:lstStyle/>
          <a:p>
            <a:pPr algn="l">
              <a:lnSpc>
                <a:spcPct val="122000"/>
              </a:lnSpc>
            </a:pPr>
            <a:r>
              <a:rPr sz="3400" b="1">
                <a:solidFill>
                  <a:srgbClr val="FFFFFF"/>
                </a:solidFill>
                <a:latin typeface="Amazon Ember"/>
                <a:ea typeface="メイリオ"/>
                <a:cs typeface="メイリオ"/>
              </a:rPr>
              <a:t>今は、鍵が利用者ひとりひとりの手元に散らばっている</a:t>
            </a:r>
          </a:p>
        </p:txBody>
      </p:sp>
      <p:sp>
        <p:nvSpPr>
          <p:cNvPr id="4" name="Rectangle 3"/>
          <p:cNvSpPr/>
          <p:nvPr/>
        </p:nvSpPr>
        <p:spPr>
          <a:xfrm>
            <a:off x="409575" y="107315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314450"/>
            <a:ext cx="171450" cy="171450"/>
          </a:xfrm>
          <a:prstGeom prst="roundRect">
            <a:avLst>
              <a:gd name="adj" fmla="val 20000"/>
            </a:avLst>
          </a:prstGeom>
          <a:solidFill>
            <a:srgbClr val="DC3C5A"/>
          </a:solidFill>
          <a:ln w="1270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今の問題</a:t>
            </a:r>
          </a:p>
        </p:txBody>
      </p:sp>
      <p:sp>
        <p:nvSpPr>
          <p:cNvPr id="7" name="Rounded Rectangle 6"/>
          <p:cNvSpPr/>
          <p:nvPr/>
        </p:nvSpPr>
        <p:spPr>
          <a:xfrm>
            <a:off x="1724025" y="13144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7167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9" name="Rounded Rectangle 8"/>
          <p:cNvSpPr/>
          <p:nvPr/>
        </p:nvSpPr>
        <p:spPr>
          <a:xfrm>
            <a:off x="409575" y="1619250"/>
            <a:ext cx="28575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利用者 A の</a:t>
            </a:r>
          </a:p>
          <a:p>
            <a:pPr algn="ctr">
              <a:lnSpc>
                <a:spcPct val="122000"/>
              </a:lnSpc>
            </a:pPr>
            <a:r>
              <a:rPr sz="1600" b="1">
                <a:solidFill>
                  <a:srgbClr val="F5F5F8"/>
                </a:solidFill>
                <a:latin typeface="Amazon Ember"/>
                <a:ea typeface="メイリオ"/>
                <a:cs typeface="メイリオ"/>
              </a:rPr>
              <a:t>AI エージェント</a:t>
            </a:r>
          </a:p>
        </p:txBody>
      </p:sp>
      <p:sp>
        <p:nvSpPr>
          <p:cNvPr id="10" name="Rounded Rectangle 9"/>
          <p:cNvSpPr/>
          <p:nvPr/>
        </p:nvSpPr>
        <p:spPr>
          <a:xfrm>
            <a:off x="409575" y="2419350"/>
            <a:ext cx="28575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利用者 B の</a:t>
            </a:r>
          </a:p>
          <a:p>
            <a:pPr algn="ctr">
              <a:lnSpc>
                <a:spcPct val="122000"/>
              </a:lnSpc>
            </a:pPr>
            <a:r>
              <a:rPr sz="1600" b="1">
                <a:solidFill>
                  <a:srgbClr val="F5F5F8"/>
                </a:solidFill>
                <a:latin typeface="Amazon Ember"/>
                <a:ea typeface="メイリオ"/>
                <a:cs typeface="メイリオ"/>
              </a:rPr>
              <a:t>AI エージェント</a:t>
            </a:r>
          </a:p>
        </p:txBody>
      </p:sp>
      <p:sp>
        <p:nvSpPr>
          <p:cNvPr id="11" name="Rounded Rectangle 10"/>
          <p:cNvSpPr/>
          <p:nvPr/>
        </p:nvSpPr>
        <p:spPr>
          <a:xfrm>
            <a:off x="409575" y="3219450"/>
            <a:ext cx="28575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利用者 C の</a:t>
            </a:r>
          </a:p>
          <a:p>
            <a:pPr algn="ctr">
              <a:lnSpc>
                <a:spcPct val="122000"/>
              </a:lnSpc>
            </a:pPr>
            <a:r>
              <a:rPr sz="1600" b="1">
                <a:solidFill>
                  <a:srgbClr val="F5F5F8"/>
                </a:solidFill>
                <a:latin typeface="Amazon Ember"/>
                <a:ea typeface="メイリオ"/>
                <a:cs typeface="メイリオ"/>
              </a:rPr>
              <a:t>AI エージェント</a:t>
            </a:r>
          </a:p>
        </p:txBody>
      </p:sp>
      <p:sp>
        <p:nvSpPr>
          <p:cNvPr id="12" name="Rounded Rectangle 11"/>
          <p:cNvSpPr/>
          <p:nvPr/>
        </p:nvSpPr>
        <p:spPr>
          <a:xfrm>
            <a:off x="3648075" y="1619250"/>
            <a:ext cx="1905000" cy="6096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自分の鍵</a:t>
            </a:r>
          </a:p>
        </p:txBody>
      </p:sp>
      <p:sp>
        <p:nvSpPr>
          <p:cNvPr id="13" name="Rounded Rectangle 12"/>
          <p:cNvSpPr/>
          <p:nvPr/>
        </p:nvSpPr>
        <p:spPr>
          <a:xfrm>
            <a:off x="3648075" y="2419350"/>
            <a:ext cx="1905000" cy="6096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自分の鍵</a:t>
            </a:r>
          </a:p>
        </p:txBody>
      </p:sp>
      <p:sp>
        <p:nvSpPr>
          <p:cNvPr id="14" name="Rounded Rectangle 13"/>
          <p:cNvSpPr/>
          <p:nvPr/>
        </p:nvSpPr>
        <p:spPr>
          <a:xfrm>
            <a:off x="3648075" y="3219450"/>
            <a:ext cx="1905000" cy="6096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自分の鍵</a:t>
            </a:r>
          </a:p>
        </p:txBody>
      </p:sp>
      <p:sp>
        <p:nvSpPr>
          <p:cNvPr id="15" name="Rounded Rectangle 14"/>
          <p:cNvSpPr/>
          <p:nvPr/>
        </p:nvSpPr>
        <p:spPr>
          <a:xfrm>
            <a:off x="7077075" y="1905000"/>
            <a:ext cx="24765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GitHub</a:t>
            </a:r>
          </a:p>
        </p:txBody>
      </p:sp>
      <p:sp>
        <p:nvSpPr>
          <p:cNvPr id="16" name="Rounded Rectangle 15"/>
          <p:cNvSpPr/>
          <p:nvPr/>
        </p:nvSpPr>
        <p:spPr>
          <a:xfrm>
            <a:off x="7077075" y="2952750"/>
            <a:ext cx="24765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その他の SaaS</a:t>
            </a:r>
          </a:p>
        </p:txBody>
      </p:sp>
      <p:cxnSp>
        <p:nvCxnSpPr>
          <p:cNvPr id="17" name="Connector 16"/>
          <p:cNvCxnSpPr>
            <a:stCxn id="9" idx="3"/>
            <a:endCxn id="12" idx="1"/>
          </p:cNvCxnSpPr>
          <p:nvPr/>
        </p:nvCxnSpPr>
        <p:spPr>
          <a:xfrm flipV="1">
            <a:off x="3267075" y="1924050"/>
            <a:ext cx="381000" cy="0"/>
          </a:xfrm>
          <a:prstGeom prst="line">
            <a:avLst/>
          </a:prstGeom>
          <a:ln w="25400">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a:stCxn id="12" idx="3"/>
            <a:endCxn id="15" idx="1"/>
          </p:cNvCxnSpPr>
          <p:nvPr/>
        </p:nvCxnSpPr>
        <p:spPr>
          <a:xfrm>
            <a:off x="5553075" y="1924050"/>
            <a:ext cx="1524000" cy="285750"/>
          </a:xfrm>
          <a:prstGeom prst="line">
            <a:avLst/>
          </a:prstGeom>
          <a:ln w="15875">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a:stCxn id="12" idx="3"/>
            <a:endCxn id="16" idx="1"/>
          </p:cNvCxnSpPr>
          <p:nvPr/>
        </p:nvCxnSpPr>
        <p:spPr>
          <a:xfrm>
            <a:off x="5553075" y="1924050"/>
            <a:ext cx="1524000" cy="1333500"/>
          </a:xfrm>
          <a:prstGeom prst="line">
            <a:avLst/>
          </a:prstGeom>
          <a:ln w="15875">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a:stCxn id="10" idx="3"/>
            <a:endCxn id="13" idx="1"/>
          </p:cNvCxnSpPr>
          <p:nvPr/>
        </p:nvCxnSpPr>
        <p:spPr>
          <a:xfrm flipV="1">
            <a:off x="3267075" y="2724150"/>
            <a:ext cx="381000" cy="0"/>
          </a:xfrm>
          <a:prstGeom prst="line">
            <a:avLst/>
          </a:prstGeom>
          <a:ln w="25400">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a:stCxn id="13" idx="3"/>
            <a:endCxn id="15" idx="1"/>
          </p:cNvCxnSpPr>
          <p:nvPr/>
        </p:nvCxnSpPr>
        <p:spPr>
          <a:xfrm flipV="1">
            <a:off x="5553075" y="2209800"/>
            <a:ext cx="1524000" cy="514350"/>
          </a:xfrm>
          <a:prstGeom prst="line">
            <a:avLst/>
          </a:prstGeom>
          <a:ln w="15875">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a:stCxn id="13" idx="3"/>
            <a:endCxn id="16" idx="1"/>
          </p:cNvCxnSpPr>
          <p:nvPr/>
        </p:nvCxnSpPr>
        <p:spPr>
          <a:xfrm>
            <a:off x="5553075" y="2724150"/>
            <a:ext cx="1524000" cy="533400"/>
          </a:xfrm>
          <a:prstGeom prst="line">
            <a:avLst/>
          </a:prstGeom>
          <a:ln w="15875">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a:stCxn id="11" idx="3"/>
            <a:endCxn id="14" idx="1"/>
          </p:cNvCxnSpPr>
          <p:nvPr/>
        </p:nvCxnSpPr>
        <p:spPr>
          <a:xfrm flipV="1">
            <a:off x="3267075" y="3524250"/>
            <a:ext cx="381000" cy="0"/>
          </a:xfrm>
          <a:prstGeom prst="line">
            <a:avLst/>
          </a:prstGeom>
          <a:ln w="25400">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a:stCxn id="14" idx="3"/>
            <a:endCxn id="15" idx="1"/>
          </p:cNvCxnSpPr>
          <p:nvPr/>
        </p:nvCxnSpPr>
        <p:spPr>
          <a:xfrm flipV="1">
            <a:off x="5553075" y="2209800"/>
            <a:ext cx="1524000" cy="1314450"/>
          </a:xfrm>
          <a:prstGeom prst="line">
            <a:avLst/>
          </a:prstGeom>
          <a:ln w="15875">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a:stCxn id="14" idx="3"/>
            <a:endCxn id="16" idx="1"/>
          </p:cNvCxnSpPr>
          <p:nvPr/>
        </p:nvCxnSpPr>
        <p:spPr>
          <a:xfrm flipV="1">
            <a:off x="5553075" y="3257550"/>
            <a:ext cx="1524000" cy="266700"/>
          </a:xfrm>
          <a:prstGeom prst="line">
            <a:avLst/>
          </a:prstGeom>
          <a:ln w="15875">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839325" y="1619250"/>
            <a:ext cx="2000250" cy="2286000"/>
          </a:xfrm>
          <a:prstGeom prst="rect">
            <a:avLst/>
          </a:prstGeom>
          <a:noFill/>
        </p:spPr>
        <p:txBody>
          <a:bodyPr wrap="square" lIns="0" rIns="0" tIns="0" bIns="0" anchor="ctr">
            <a:spAutoFit/>
          </a:bodyPr>
          <a:lstStyle/>
          <a:p>
            <a:pPr algn="l">
              <a:lnSpc>
                <a:spcPct val="122000"/>
              </a:lnSpc>
            </a:pPr>
            <a:r>
              <a:rPr sz="2200" b="1">
                <a:solidFill>
                  <a:srgbClr val="DC3C5A"/>
                </a:solidFill>
                <a:latin typeface="Amazon Ember"/>
                <a:ea typeface="メイリオ"/>
                <a:cs typeface="メイリオ"/>
              </a:rPr>
              <a:t>鍵の数だけ</a:t>
            </a:r>
          </a:p>
          <a:p>
            <a:pPr algn="l">
              <a:lnSpc>
                <a:spcPct val="122000"/>
              </a:lnSpc>
            </a:pPr>
            <a:r>
              <a:rPr sz="2200" b="1">
                <a:solidFill>
                  <a:srgbClr val="DC3C5A"/>
                </a:solidFill>
                <a:latin typeface="Amazon Ember"/>
                <a:ea typeface="メイリオ"/>
                <a:cs typeface="メイリオ"/>
              </a:rPr>
              <a:t>管理の穴が</a:t>
            </a:r>
          </a:p>
          <a:p>
            <a:pPr algn="l">
              <a:lnSpc>
                <a:spcPct val="122000"/>
              </a:lnSpc>
            </a:pPr>
            <a:r>
              <a:rPr sz="2200" b="1">
                <a:solidFill>
                  <a:srgbClr val="DC3C5A"/>
                </a:solidFill>
                <a:latin typeface="Amazon Ember"/>
                <a:ea typeface="メイリオ"/>
                <a:cs typeface="メイリオ"/>
              </a:rPr>
              <a:t>増える</a:t>
            </a:r>
          </a:p>
        </p:txBody>
      </p:sp>
      <p:sp>
        <p:nvSpPr>
          <p:cNvPr id="27" name="Rounded Rectangle 26"/>
          <p:cNvSpPr/>
          <p:nvPr/>
        </p:nvSpPr>
        <p:spPr>
          <a:xfrm>
            <a:off x="409575" y="4191000"/>
            <a:ext cx="3619500" cy="1143000"/>
          </a:xfrm>
          <a:prstGeom prst="roundRect">
            <a:avLst>
              <a:gd name="adj" fmla="val 6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0075" y="4286250"/>
            <a:ext cx="3238500" cy="342900"/>
          </a:xfrm>
          <a:prstGeom prst="rect">
            <a:avLst/>
          </a:prstGeom>
          <a:noFill/>
        </p:spPr>
        <p:txBody>
          <a:bodyPr wrap="square" lIns="0" rIns="0" tIns="0" bIns="0" anchor="ctr">
            <a:spAutoFit/>
          </a:bodyPr>
          <a:lstStyle/>
          <a:p>
            <a:pPr algn="l">
              <a:lnSpc>
                <a:spcPct val="122000"/>
              </a:lnSpc>
            </a:pPr>
            <a:r>
              <a:rPr sz="2000" b="1">
                <a:solidFill>
                  <a:srgbClr val="DC3C5A"/>
                </a:solidFill>
                <a:latin typeface="Amazon Ember"/>
                <a:ea typeface="メイリオ"/>
                <a:cs typeface="メイリオ"/>
              </a:rPr>
              <a:t>止められない</a:t>
            </a:r>
          </a:p>
        </p:txBody>
      </p:sp>
      <p:sp>
        <p:nvSpPr>
          <p:cNvPr id="29" name="TextBox 28"/>
          <p:cNvSpPr txBox="1"/>
          <p:nvPr/>
        </p:nvSpPr>
        <p:spPr>
          <a:xfrm>
            <a:off x="600075" y="4648200"/>
            <a:ext cx="3238500" cy="609600"/>
          </a:xfrm>
          <a:prstGeom prst="rect">
            <a:avLst/>
          </a:prstGeom>
          <a:noFill/>
        </p:spPr>
        <p:txBody>
          <a:bodyPr wrap="square" lIns="0" rIns="0" tIns="0" bIns="0" anchor="ctr">
            <a:spAutoFit/>
          </a:bodyPr>
          <a:lstStyle/>
          <a:p>
            <a:pPr algn="l">
              <a:lnSpc>
                <a:spcPct val="122000"/>
              </a:lnSpc>
            </a:pPr>
            <a:r>
              <a:rPr sz="1700" b="0">
                <a:solidFill>
                  <a:srgbClr val="F5F5F8"/>
                </a:solidFill>
                <a:latin typeface="Amazon Ember"/>
                <a:ea typeface="メイリオ"/>
                <a:cs typeface="メイリオ"/>
              </a:rPr>
              <a:t>退職や漏えいのとき</a:t>
            </a:r>
          </a:p>
          <a:p>
            <a:pPr algn="l">
              <a:lnSpc>
                <a:spcPct val="122000"/>
              </a:lnSpc>
            </a:pPr>
            <a:r>
              <a:rPr sz="1700" b="0">
                <a:solidFill>
                  <a:srgbClr val="F5F5F8"/>
                </a:solidFill>
                <a:latin typeface="Amazon Ember"/>
                <a:ea typeface="メイリオ"/>
                <a:cs typeface="メイリオ"/>
              </a:rPr>
              <a:t>すぐに無効にできない</a:t>
            </a:r>
          </a:p>
        </p:txBody>
      </p:sp>
      <p:sp>
        <p:nvSpPr>
          <p:cNvPr id="30" name="Rounded Rectangle 29"/>
          <p:cNvSpPr/>
          <p:nvPr/>
        </p:nvSpPr>
        <p:spPr>
          <a:xfrm>
            <a:off x="4219575" y="4191000"/>
            <a:ext cx="3619500" cy="1143000"/>
          </a:xfrm>
          <a:prstGeom prst="roundRect">
            <a:avLst>
              <a:gd name="adj" fmla="val 6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10075" y="4286250"/>
            <a:ext cx="3238500" cy="342900"/>
          </a:xfrm>
          <a:prstGeom prst="rect">
            <a:avLst/>
          </a:prstGeom>
          <a:noFill/>
        </p:spPr>
        <p:txBody>
          <a:bodyPr wrap="square" lIns="0" rIns="0" tIns="0" bIns="0" anchor="ctr">
            <a:spAutoFit/>
          </a:bodyPr>
          <a:lstStyle/>
          <a:p>
            <a:pPr algn="l">
              <a:lnSpc>
                <a:spcPct val="122000"/>
              </a:lnSpc>
            </a:pPr>
            <a:r>
              <a:rPr sz="2000" b="1">
                <a:solidFill>
                  <a:srgbClr val="DC3C5A"/>
                </a:solidFill>
                <a:latin typeface="Amazon Ember"/>
                <a:ea typeface="メイリオ"/>
                <a:cs typeface="メイリオ"/>
              </a:rPr>
              <a:t>入れ替えられない</a:t>
            </a:r>
          </a:p>
        </p:txBody>
      </p:sp>
      <p:sp>
        <p:nvSpPr>
          <p:cNvPr id="32" name="TextBox 31"/>
          <p:cNvSpPr txBox="1"/>
          <p:nvPr/>
        </p:nvSpPr>
        <p:spPr>
          <a:xfrm>
            <a:off x="4410075" y="4648200"/>
            <a:ext cx="3238500" cy="609600"/>
          </a:xfrm>
          <a:prstGeom prst="rect">
            <a:avLst/>
          </a:prstGeom>
          <a:noFill/>
        </p:spPr>
        <p:txBody>
          <a:bodyPr wrap="square" lIns="0" rIns="0" tIns="0" bIns="0" anchor="ctr">
            <a:spAutoFit/>
          </a:bodyPr>
          <a:lstStyle/>
          <a:p>
            <a:pPr algn="l">
              <a:lnSpc>
                <a:spcPct val="122000"/>
              </a:lnSpc>
            </a:pPr>
            <a:r>
              <a:rPr sz="1700" b="0">
                <a:solidFill>
                  <a:srgbClr val="F5F5F8"/>
                </a:solidFill>
                <a:latin typeface="Amazon Ember"/>
                <a:ea typeface="メイリオ"/>
                <a:cs typeface="メイリオ"/>
              </a:rPr>
              <a:t>入れ替えを</a:t>
            </a:r>
          </a:p>
          <a:p>
            <a:pPr algn="l">
              <a:lnSpc>
                <a:spcPct val="122000"/>
              </a:lnSpc>
            </a:pPr>
            <a:r>
              <a:rPr sz="1700" b="0">
                <a:solidFill>
                  <a:srgbClr val="F5F5F8"/>
                </a:solidFill>
                <a:latin typeface="Amazon Ember"/>
                <a:ea typeface="メイリオ"/>
                <a:cs typeface="メイリオ"/>
              </a:rPr>
              <a:t>利用者まかせにするしかない</a:t>
            </a:r>
          </a:p>
        </p:txBody>
      </p:sp>
      <p:sp>
        <p:nvSpPr>
          <p:cNvPr id="33" name="Rounded Rectangle 32"/>
          <p:cNvSpPr/>
          <p:nvPr/>
        </p:nvSpPr>
        <p:spPr>
          <a:xfrm>
            <a:off x="8029575" y="4191000"/>
            <a:ext cx="3619500" cy="1143000"/>
          </a:xfrm>
          <a:prstGeom prst="roundRect">
            <a:avLst>
              <a:gd name="adj" fmla="val 6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0075" y="4286250"/>
            <a:ext cx="3238500" cy="342900"/>
          </a:xfrm>
          <a:prstGeom prst="rect">
            <a:avLst/>
          </a:prstGeom>
          <a:noFill/>
        </p:spPr>
        <p:txBody>
          <a:bodyPr wrap="square" lIns="0" rIns="0" tIns="0" bIns="0" anchor="ctr">
            <a:spAutoFit/>
          </a:bodyPr>
          <a:lstStyle/>
          <a:p>
            <a:pPr algn="l">
              <a:lnSpc>
                <a:spcPct val="122000"/>
              </a:lnSpc>
            </a:pPr>
            <a:r>
              <a:rPr sz="2000" b="1">
                <a:solidFill>
                  <a:srgbClr val="DC3C5A"/>
                </a:solidFill>
                <a:latin typeface="Amazon Ember"/>
                <a:ea typeface="メイリオ"/>
                <a:cs typeface="メイリオ"/>
              </a:rPr>
              <a:t>追えない</a:t>
            </a:r>
          </a:p>
        </p:txBody>
      </p:sp>
      <p:sp>
        <p:nvSpPr>
          <p:cNvPr id="35" name="TextBox 34"/>
          <p:cNvSpPr txBox="1"/>
          <p:nvPr/>
        </p:nvSpPr>
        <p:spPr>
          <a:xfrm>
            <a:off x="8220075" y="4648200"/>
            <a:ext cx="3238500" cy="609600"/>
          </a:xfrm>
          <a:prstGeom prst="rect">
            <a:avLst/>
          </a:prstGeom>
          <a:noFill/>
        </p:spPr>
        <p:txBody>
          <a:bodyPr wrap="square" lIns="0" rIns="0" tIns="0" bIns="0" anchor="ctr">
            <a:spAutoFit/>
          </a:bodyPr>
          <a:lstStyle/>
          <a:p>
            <a:pPr algn="l">
              <a:lnSpc>
                <a:spcPct val="122000"/>
              </a:lnSpc>
            </a:pPr>
            <a:r>
              <a:rPr sz="1700" b="0">
                <a:solidFill>
                  <a:srgbClr val="F5F5F8"/>
                </a:solidFill>
                <a:latin typeface="Amazon Ember"/>
                <a:ea typeface="メイリオ"/>
                <a:cs typeface="メイリオ"/>
              </a:rPr>
              <a:t>誰の鍵での操作かを</a:t>
            </a:r>
          </a:p>
          <a:p>
            <a:pPr algn="l">
              <a:lnSpc>
                <a:spcPct val="122000"/>
              </a:lnSpc>
            </a:pPr>
            <a:r>
              <a:rPr sz="1700" b="0">
                <a:solidFill>
                  <a:srgbClr val="F5F5F8"/>
                </a:solidFill>
                <a:latin typeface="Amazon Ember"/>
                <a:ea typeface="メイリオ"/>
                <a:cs typeface="メイリオ"/>
              </a:rPr>
              <a:t>1 か所で確かめられない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TARGET</a:t>
            </a:r>
          </a:p>
        </p:txBody>
      </p:sp>
      <p:sp>
        <p:nvSpPr>
          <p:cNvPr id="3" name="TextBox 2"/>
          <p:cNvSpPr txBox="1"/>
          <p:nvPr/>
        </p:nvSpPr>
        <p:spPr>
          <a:xfrm>
            <a:off x="409575" y="476250"/>
            <a:ext cx="11449050" cy="539750"/>
          </a:xfrm>
          <a:prstGeom prst="rect">
            <a:avLst/>
          </a:prstGeom>
          <a:noFill/>
        </p:spPr>
        <p:txBody>
          <a:bodyPr wrap="square" lIns="0" rIns="0" tIns="0" bIns="0" anchor="ctr">
            <a:spAutoFit/>
          </a:bodyPr>
          <a:lstStyle/>
          <a:p>
            <a:pPr algn="l">
              <a:lnSpc>
                <a:spcPct val="122000"/>
              </a:lnSpc>
            </a:pPr>
            <a:r>
              <a:rPr sz="3400" b="1">
                <a:solidFill>
                  <a:srgbClr val="FFFFFF"/>
                </a:solidFill>
                <a:latin typeface="Amazon Ember"/>
                <a:ea typeface="メイリオ"/>
                <a:cs typeface="メイリオ"/>
              </a:rPr>
              <a:t>目指す形: 利用者は鍵を持たず、入口を 1 本にする</a:t>
            </a:r>
          </a:p>
        </p:txBody>
      </p:sp>
      <p:sp>
        <p:nvSpPr>
          <p:cNvPr id="4" name="Rectangle 3"/>
          <p:cNvSpPr/>
          <p:nvPr/>
        </p:nvSpPr>
        <p:spPr>
          <a:xfrm>
            <a:off x="409575" y="107315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3144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7" name="Rounded Rectangle 6"/>
          <p:cNvSpPr/>
          <p:nvPr/>
        </p:nvSpPr>
        <p:spPr>
          <a:xfrm>
            <a:off x="2209800" y="13144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57450"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9" name="Rounded Rectangle 8"/>
          <p:cNvSpPr/>
          <p:nvPr/>
        </p:nvSpPr>
        <p:spPr>
          <a:xfrm>
            <a:off x="4333875" y="13144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5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1" name="Rounded Rectangle 10"/>
          <p:cNvSpPr/>
          <p:nvPr/>
        </p:nvSpPr>
        <p:spPr>
          <a:xfrm>
            <a:off x="5810250" y="13144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57900"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3" name="TextBox 12"/>
          <p:cNvSpPr txBox="1"/>
          <p:nvPr/>
        </p:nvSpPr>
        <p:spPr>
          <a:xfrm>
            <a:off x="409575" y="1619250"/>
            <a:ext cx="5334000" cy="3429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今</a:t>
            </a:r>
          </a:p>
        </p:txBody>
      </p:sp>
      <p:sp>
        <p:nvSpPr>
          <p:cNvPr id="14" name="TextBox 13"/>
          <p:cNvSpPr txBox="1"/>
          <p:nvPr/>
        </p:nvSpPr>
        <p:spPr>
          <a:xfrm>
            <a:off x="6505575" y="1619250"/>
            <a:ext cx="5334000" cy="3429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これから</a:t>
            </a:r>
          </a:p>
        </p:txBody>
      </p:sp>
      <p:sp>
        <p:nvSpPr>
          <p:cNvPr id="15" name="Rounded Rectangle 14"/>
          <p:cNvSpPr/>
          <p:nvPr/>
        </p:nvSpPr>
        <p:spPr>
          <a:xfrm>
            <a:off x="409575" y="2095500"/>
            <a:ext cx="16192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AI エージェント</a:t>
            </a:r>
          </a:p>
        </p:txBody>
      </p:sp>
      <p:sp>
        <p:nvSpPr>
          <p:cNvPr id="16" name="Rounded Rectangle 15"/>
          <p:cNvSpPr/>
          <p:nvPr/>
        </p:nvSpPr>
        <p:spPr>
          <a:xfrm>
            <a:off x="2314575" y="2095500"/>
            <a:ext cx="1238250" cy="5715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鍵</a:t>
            </a:r>
          </a:p>
        </p:txBody>
      </p:sp>
      <p:cxnSp>
        <p:nvCxnSpPr>
          <p:cNvPr id="17" name="Connector 16"/>
          <p:cNvCxnSpPr>
            <a:stCxn id="15" idx="3"/>
            <a:endCxn id="16" idx="1"/>
          </p:cNvCxnSpPr>
          <p:nvPr/>
        </p:nvCxnSpPr>
        <p:spPr>
          <a:xfrm flipV="1">
            <a:off x="2028825" y="2381250"/>
            <a:ext cx="285750" cy="0"/>
          </a:xfrm>
          <a:prstGeom prst="line">
            <a:avLst/>
          </a:prstGeom>
          <a:ln w="25400">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029075" y="2095500"/>
            <a:ext cx="17145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SaaS</a:t>
            </a:r>
          </a:p>
        </p:txBody>
      </p:sp>
      <p:cxnSp>
        <p:nvCxnSpPr>
          <p:cNvPr id="19" name="Connector 18"/>
          <p:cNvCxnSpPr>
            <a:stCxn id="16" idx="3"/>
            <a:endCxn id="18" idx="1"/>
          </p:cNvCxnSpPr>
          <p:nvPr/>
        </p:nvCxnSpPr>
        <p:spPr>
          <a:xfrm flipV="1">
            <a:off x="3552825" y="2381250"/>
            <a:ext cx="476250" cy="0"/>
          </a:xfrm>
          <a:prstGeom prst="line">
            <a:avLst/>
          </a:prstGeom>
          <a:ln w="25400">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09575" y="2857500"/>
            <a:ext cx="16192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AI エージェント</a:t>
            </a:r>
          </a:p>
        </p:txBody>
      </p:sp>
      <p:sp>
        <p:nvSpPr>
          <p:cNvPr id="21" name="Rounded Rectangle 20"/>
          <p:cNvSpPr/>
          <p:nvPr/>
        </p:nvSpPr>
        <p:spPr>
          <a:xfrm>
            <a:off x="2314575" y="2857500"/>
            <a:ext cx="1238250" cy="5715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鍵</a:t>
            </a:r>
          </a:p>
        </p:txBody>
      </p:sp>
      <p:cxnSp>
        <p:nvCxnSpPr>
          <p:cNvPr id="22" name="Connector 21"/>
          <p:cNvCxnSpPr>
            <a:stCxn id="20" idx="3"/>
            <a:endCxn id="21" idx="1"/>
          </p:cNvCxnSpPr>
          <p:nvPr/>
        </p:nvCxnSpPr>
        <p:spPr>
          <a:xfrm flipV="1">
            <a:off x="2028825" y="3143250"/>
            <a:ext cx="285750" cy="0"/>
          </a:xfrm>
          <a:prstGeom prst="line">
            <a:avLst/>
          </a:prstGeom>
          <a:ln w="25400">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029075" y="2857500"/>
            <a:ext cx="17145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SaaS</a:t>
            </a:r>
          </a:p>
        </p:txBody>
      </p:sp>
      <p:cxnSp>
        <p:nvCxnSpPr>
          <p:cNvPr id="24" name="Connector 23"/>
          <p:cNvCxnSpPr>
            <a:stCxn id="21" idx="3"/>
            <a:endCxn id="23" idx="1"/>
          </p:cNvCxnSpPr>
          <p:nvPr/>
        </p:nvCxnSpPr>
        <p:spPr>
          <a:xfrm flipV="1">
            <a:off x="3552825" y="3143250"/>
            <a:ext cx="476250" cy="0"/>
          </a:xfrm>
          <a:prstGeom prst="line">
            <a:avLst/>
          </a:prstGeom>
          <a:ln w="25400">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09575" y="3619500"/>
            <a:ext cx="16192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AI エージェント</a:t>
            </a:r>
          </a:p>
        </p:txBody>
      </p:sp>
      <p:sp>
        <p:nvSpPr>
          <p:cNvPr id="26" name="Rounded Rectangle 25"/>
          <p:cNvSpPr/>
          <p:nvPr/>
        </p:nvSpPr>
        <p:spPr>
          <a:xfrm>
            <a:off x="2314575" y="3619500"/>
            <a:ext cx="1238250" cy="5715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鍵</a:t>
            </a:r>
          </a:p>
        </p:txBody>
      </p:sp>
      <p:cxnSp>
        <p:nvCxnSpPr>
          <p:cNvPr id="27" name="Connector 26"/>
          <p:cNvCxnSpPr>
            <a:stCxn id="25" idx="3"/>
            <a:endCxn id="26" idx="1"/>
          </p:cNvCxnSpPr>
          <p:nvPr/>
        </p:nvCxnSpPr>
        <p:spPr>
          <a:xfrm flipV="1">
            <a:off x="2028825" y="3905250"/>
            <a:ext cx="285750" cy="0"/>
          </a:xfrm>
          <a:prstGeom prst="line">
            <a:avLst/>
          </a:prstGeom>
          <a:ln w="25400">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029075" y="3619500"/>
            <a:ext cx="17145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SaaS</a:t>
            </a:r>
          </a:p>
        </p:txBody>
      </p:sp>
      <p:cxnSp>
        <p:nvCxnSpPr>
          <p:cNvPr id="29" name="Connector 28"/>
          <p:cNvCxnSpPr>
            <a:stCxn id="26" idx="3"/>
            <a:endCxn id="28" idx="1"/>
          </p:cNvCxnSpPr>
          <p:nvPr/>
        </p:nvCxnSpPr>
        <p:spPr>
          <a:xfrm flipV="1">
            <a:off x="3552825" y="3905250"/>
            <a:ext cx="476250" cy="0"/>
          </a:xfrm>
          <a:prstGeom prst="line">
            <a:avLst/>
          </a:prstGeom>
          <a:ln w="25400">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505575" y="2095500"/>
            <a:ext cx="16192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AI エージェント</a:t>
            </a:r>
          </a:p>
        </p:txBody>
      </p:sp>
      <p:sp>
        <p:nvSpPr>
          <p:cNvPr id="31" name="Rounded Rectangle 30"/>
          <p:cNvSpPr/>
          <p:nvPr/>
        </p:nvSpPr>
        <p:spPr>
          <a:xfrm>
            <a:off x="6505575" y="2857500"/>
            <a:ext cx="16192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AI エージェント</a:t>
            </a:r>
          </a:p>
        </p:txBody>
      </p:sp>
      <p:sp>
        <p:nvSpPr>
          <p:cNvPr id="32" name="Rounded Rectangle 31"/>
          <p:cNvSpPr/>
          <p:nvPr/>
        </p:nvSpPr>
        <p:spPr>
          <a:xfrm>
            <a:off x="6505575" y="3619500"/>
            <a:ext cx="16192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AI エージェント</a:t>
            </a:r>
          </a:p>
        </p:txBody>
      </p:sp>
      <p:sp>
        <p:nvSpPr>
          <p:cNvPr id="33" name="Rounded Rectangle 32"/>
          <p:cNvSpPr/>
          <p:nvPr/>
        </p:nvSpPr>
        <p:spPr>
          <a:xfrm>
            <a:off x="8601075" y="2667000"/>
            <a:ext cx="1619250" cy="7620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Gateway</a:t>
            </a:r>
          </a:p>
        </p:txBody>
      </p:sp>
      <p:sp>
        <p:nvSpPr>
          <p:cNvPr id="34" name="Rounded Rectangle 33"/>
          <p:cNvSpPr/>
          <p:nvPr/>
        </p:nvSpPr>
        <p:spPr>
          <a:xfrm>
            <a:off x="8601075" y="4000500"/>
            <a:ext cx="161925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Identity</a:t>
            </a:r>
          </a:p>
          <a:p>
            <a:pPr algn="ctr">
              <a:lnSpc>
                <a:spcPct val="122000"/>
              </a:lnSpc>
            </a:pPr>
            <a:r>
              <a:rPr sz="1500" b="1">
                <a:solidFill>
                  <a:srgbClr val="F5F5F8"/>
                </a:solidFill>
                <a:latin typeface="Amazon Ember"/>
                <a:ea typeface="メイリオ"/>
                <a:cs typeface="メイリオ"/>
              </a:rPr>
              <a:t>鍵はここだけ</a:t>
            </a:r>
          </a:p>
        </p:txBody>
      </p:sp>
      <p:sp>
        <p:nvSpPr>
          <p:cNvPr id="35" name="Rounded Rectangle 34"/>
          <p:cNvSpPr/>
          <p:nvPr/>
        </p:nvSpPr>
        <p:spPr>
          <a:xfrm>
            <a:off x="10696575" y="2286000"/>
            <a:ext cx="11430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SaaS</a:t>
            </a:r>
          </a:p>
        </p:txBody>
      </p:sp>
      <p:sp>
        <p:nvSpPr>
          <p:cNvPr id="36" name="Rounded Rectangle 35"/>
          <p:cNvSpPr/>
          <p:nvPr/>
        </p:nvSpPr>
        <p:spPr>
          <a:xfrm>
            <a:off x="10696575" y="3429000"/>
            <a:ext cx="11430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SaaS</a:t>
            </a:r>
          </a:p>
        </p:txBody>
      </p:sp>
      <p:cxnSp>
        <p:nvCxnSpPr>
          <p:cNvPr id="37" name="Connector 36"/>
          <p:cNvCxnSpPr>
            <a:stCxn id="30" idx="3"/>
            <a:endCxn id="33" idx="1"/>
          </p:cNvCxnSpPr>
          <p:nvPr/>
        </p:nvCxnSpPr>
        <p:spPr>
          <a:xfrm>
            <a:off x="8124825" y="2381250"/>
            <a:ext cx="476250" cy="66675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a:stCxn id="31" idx="3"/>
            <a:endCxn id="33" idx="1"/>
          </p:cNvCxnSpPr>
          <p:nvPr/>
        </p:nvCxnSpPr>
        <p:spPr>
          <a:xfrm flipV="1">
            <a:off x="8124825" y="3048000"/>
            <a:ext cx="476250" cy="9525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a:stCxn id="32" idx="3"/>
            <a:endCxn id="33" idx="1"/>
          </p:cNvCxnSpPr>
          <p:nvPr/>
        </p:nvCxnSpPr>
        <p:spPr>
          <a:xfrm flipV="1">
            <a:off x="8124825" y="3048000"/>
            <a:ext cx="476250" cy="85725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a:stCxn id="33" idx="3"/>
            <a:endCxn id="35" idx="1"/>
          </p:cNvCxnSpPr>
          <p:nvPr/>
        </p:nvCxnSpPr>
        <p:spPr>
          <a:xfrm flipV="1">
            <a:off x="10220325" y="2571750"/>
            <a:ext cx="476250" cy="47625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a:stCxn id="33" idx="3"/>
            <a:endCxn id="36" idx="1"/>
          </p:cNvCxnSpPr>
          <p:nvPr/>
        </p:nvCxnSpPr>
        <p:spPr>
          <a:xfrm>
            <a:off x="10220325" y="3048000"/>
            <a:ext cx="476250" cy="66675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a:stCxn id="34" idx="0"/>
            <a:endCxn id="33" idx="2"/>
          </p:cNvCxnSpPr>
          <p:nvPr/>
        </p:nvCxnSpPr>
        <p:spPr>
          <a:xfrm flipH="1" flipV="1">
            <a:off x="9410700" y="3429000"/>
            <a:ext cx="0" cy="571500"/>
          </a:xfrm>
          <a:prstGeom prst="line">
            <a:avLst/>
          </a:prstGeom>
          <a:ln w="25400">
            <a:solidFill>
              <a:srgbClr val="2896F0"/>
            </a:solidFill>
            <a:tailEnd type="triangle" w="med" len="med"/>
            <a:headEnd type="triangle" w="med" len="med"/>
          </a:ln>
          <a:effectLst/>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505575" y="4667250"/>
            <a:ext cx="3714750" cy="4762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利用者は Entra ID でサインイン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ROLES</a:t>
            </a:r>
          </a:p>
        </p:txBody>
      </p:sp>
      <p:sp>
        <p:nvSpPr>
          <p:cNvPr id="3" name="TextBox 2"/>
          <p:cNvSpPr txBox="1"/>
          <p:nvPr/>
        </p:nvSpPr>
        <p:spPr>
          <a:xfrm>
            <a:off x="409575" y="476250"/>
            <a:ext cx="11449050" cy="412750"/>
          </a:xfrm>
          <a:prstGeom prst="rect">
            <a:avLst/>
          </a:prstGeom>
          <a:noFill/>
        </p:spPr>
        <p:txBody>
          <a:bodyPr wrap="square" lIns="0" rIns="0" tIns="0" bIns="0" anchor="ctr">
            <a:spAutoFit/>
          </a:bodyPr>
          <a:lstStyle/>
          <a:p>
            <a:pPr algn="l">
              <a:lnSpc>
                <a:spcPct val="122000"/>
              </a:lnSpc>
            </a:pPr>
            <a:r>
              <a:rPr sz="2600" b="1">
                <a:solidFill>
                  <a:srgbClr val="FFFFFF"/>
                </a:solidFill>
                <a:latin typeface="Amazon Ember"/>
                <a:ea typeface="メイリオ"/>
                <a:cs typeface="メイリオ"/>
              </a:rPr>
              <a:t>通行証のたとえ: ビルの受付と同じ仕事を、サービスごとに分けて受け持つ</a:t>
            </a:r>
          </a:p>
        </p:txBody>
      </p:sp>
      <p:sp>
        <p:nvSpPr>
          <p:cNvPr id="4" name="TextBox 3"/>
          <p:cNvSpPr txBox="1"/>
          <p:nvPr/>
        </p:nvSpPr>
        <p:spPr>
          <a:xfrm>
            <a:off x="409575" y="946150"/>
            <a:ext cx="11449050" cy="278892"/>
          </a:xfrm>
          <a:prstGeom prst="rect">
            <a:avLst/>
          </a:prstGeom>
          <a:noFill/>
        </p:spPr>
        <p:txBody>
          <a:bodyPr wrap="square" lIns="0" rIns="0" tIns="0" bIns="0" anchor="ctr">
            <a:spAutoFit/>
          </a:bodyPr>
          <a:lstStyle/>
          <a:p>
            <a:pPr algn="l">
              <a:lnSpc>
                <a:spcPct val="122000"/>
              </a:lnSpc>
            </a:pPr>
            <a:r>
              <a:rPr sz="1800" b="0">
                <a:solidFill>
                  <a:srgbClr val="8C8C8C"/>
                </a:solidFill>
                <a:latin typeface="Amazon Ember"/>
                <a:ea typeface="メイリオ"/>
                <a:cs typeface="メイリオ"/>
              </a:rPr>
              <a:t>社員は AI エージェントを代理人に使い、代理人は機密エリアの通行証を持つ。Gateway はその受付</a:t>
            </a:r>
          </a:p>
        </p:txBody>
      </p:sp>
      <p:sp>
        <p:nvSpPr>
          <p:cNvPr id="5" name="Rectangle 4"/>
          <p:cNvSpPr/>
          <p:nvPr/>
        </p:nvSpPr>
        <p:spPr>
          <a:xfrm>
            <a:off x="409575" y="1301242"/>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9575" y="15430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7225" y="14859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8" name="Rounded Rectangle 7"/>
          <p:cNvSpPr/>
          <p:nvPr/>
        </p:nvSpPr>
        <p:spPr>
          <a:xfrm>
            <a:off x="2209800" y="15430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57450" y="14859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10" name="Rounded Rectangle 9"/>
          <p:cNvSpPr/>
          <p:nvPr/>
        </p:nvSpPr>
        <p:spPr>
          <a:xfrm>
            <a:off x="4333875" y="15430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525" y="14859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2" name="Rounded Rectangle 11"/>
          <p:cNvSpPr/>
          <p:nvPr/>
        </p:nvSpPr>
        <p:spPr>
          <a:xfrm>
            <a:off x="5810250" y="15430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7900" y="14859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4" name="TextBox 13"/>
          <p:cNvSpPr txBox="1"/>
          <p:nvPr/>
        </p:nvSpPr>
        <p:spPr>
          <a:xfrm>
            <a:off x="409575" y="1847850"/>
            <a:ext cx="5334000" cy="304800"/>
          </a:xfrm>
          <a:prstGeom prst="rect">
            <a:avLst/>
          </a:prstGeom>
          <a:noFill/>
        </p:spPr>
        <p:txBody>
          <a:bodyPr wrap="square" lIns="0" rIns="0" tIns="0" bIns="0" anchor="ctr">
            <a:spAutoFit/>
          </a:bodyPr>
          <a:lstStyle/>
          <a:p>
            <a:pPr algn="ctr">
              <a:lnSpc>
                <a:spcPct val="122000"/>
              </a:lnSpc>
            </a:pPr>
            <a:r>
              <a:rPr sz="1800" b="1">
                <a:solidFill>
                  <a:srgbClr val="A0A0A8"/>
                </a:solidFill>
                <a:latin typeface="Amazon Ember"/>
                <a:ea typeface="メイリオ"/>
                <a:cs typeface="メイリオ"/>
              </a:rPr>
              <a:t>ビルの受付でいうと</a:t>
            </a:r>
          </a:p>
        </p:txBody>
      </p:sp>
      <p:sp>
        <p:nvSpPr>
          <p:cNvPr id="15" name="TextBox 14"/>
          <p:cNvSpPr txBox="1"/>
          <p:nvPr/>
        </p:nvSpPr>
        <p:spPr>
          <a:xfrm>
            <a:off x="6696075" y="1847850"/>
            <a:ext cx="5086350" cy="304800"/>
          </a:xfrm>
          <a:prstGeom prst="rect">
            <a:avLst/>
          </a:prstGeom>
          <a:noFill/>
        </p:spPr>
        <p:txBody>
          <a:bodyPr wrap="square" lIns="0" rIns="0" tIns="0" bIns="0" anchor="ctr">
            <a:spAutoFit/>
          </a:bodyPr>
          <a:lstStyle/>
          <a:p>
            <a:pPr algn="ctr">
              <a:lnSpc>
                <a:spcPct val="122000"/>
              </a:lnSpc>
            </a:pPr>
            <a:r>
              <a:rPr sz="1800" b="1">
                <a:solidFill>
                  <a:srgbClr val="A0A0A8"/>
                </a:solidFill>
                <a:latin typeface="Amazon Ember"/>
                <a:ea typeface="メイリオ"/>
                <a:cs typeface="メイリオ"/>
              </a:rPr>
              <a:t>受け持つサービス</a:t>
            </a:r>
          </a:p>
        </p:txBody>
      </p:sp>
      <p:sp>
        <p:nvSpPr>
          <p:cNvPr id="16" name="Rounded Rectangle 15"/>
          <p:cNvSpPr/>
          <p:nvPr/>
        </p:nvSpPr>
        <p:spPr>
          <a:xfrm>
            <a:off x="409575" y="2228850"/>
            <a:ext cx="5334000" cy="41910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0">
                <a:solidFill>
                  <a:srgbClr val="F5F5F8"/>
                </a:solidFill>
                <a:latin typeface="Amazon Ember"/>
                <a:ea typeface="メイリオ"/>
                <a:cs typeface="メイリオ"/>
              </a:rPr>
              <a:t>社員の名簿を持つ</a:t>
            </a:r>
          </a:p>
        </p:txBody>
      </p:sp>
      <p:cxnSp>
        <p:nvCxnSpPr>
          <p:cNvPr id="17" name="Connector 16"/>
          <p:cNvCxnSpPr/>
          <p:nvPr/>
        </p:nvCxnSpPr>
        <p:spPr>
          <a:xfrm>
            <a:off x="5838825" y="2438400"/>
            <a:ext cx="7620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696075" y="2228850"/>
            <a:ext cx="5086350" cy="4191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Entra ID の利用者</a:t>
            </a:r>
          </a:p>
        </p:txBody>
      </p:sp>
      <p:sp>
        <p:nvSpPr>
          <p:cNvPr id="19" name="Rounded Rectangle 18"/>
          <p:cNvSpPr/>
          <p:nvPr/>
        </p:nvSpPr>
        <p:spPr>
          <a:xfrm>
            <a:off x="409575" y="2724150"/>
            <a:ext cx="5334000" cy="41910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0">
                <a:solidFill>
                  <a:srgbClr val="F5F5F8"/>
                </a:solidFill>
                <a:latin typeface="Amazon Ember"/>
                <a:ea typeface="メイリオ"/>
                <a:cs typeface="メイリオ"/>
              </a:rPr>
              <a:t>代理人として認めた AI エージェントの名簿を持つ</a:t>
            </a:r>
          </a:p>
        </p:txBody>
      </p:sp>
      <p:cxnSp>
        <p:nvCxnSpPr>
          <p:cNvPr id="20" name="Connector 19"/>
          <p:cNvCxnSpPr/>
          <p:nvPr/>
        </p:nvCxnSpPr>
        <p:spPr>
          <a:xfrm>
            <a:off x="5838825" y="2933700"/>
            <a:ext cx="7620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696075" y="2724150"/>
            <a:ext cx="5086350" cy="4191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Entra ID のアプリ登録</a:t>
            </a:r>
          </a:p>
        </p:txBody>
      </p:sp>
      <p:sp>
        <p:nvSpPr>
          <p:cNvPr id="22" name="Rounded Rectangle 21"/>
          <p:cNvSpPr/>
          <p:nvPr/>
        </p:nvSpPr>
        <p:spPr>
          <a:xfrm>
            <a:off x="409575" y="3219450"/>
            <a:ext cx="5334000" cy="41910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0">
                <a:solidFill>
                  <a:srgbClr val="F5F5F8"/>
                </a:solidFill>
                <a:latin typeface="Amazon Ember"/>
                <a:ea typeface="メイリオ"/>
                <a:cs typeface="メイリオ"/>
              </a:rPr>
              <a:t>社員証で本人を確かめ、通行証を出す</a:t>
            </a:r>
          </a:p>
        </p:txBody>
      </p:sp>
      <p:cxnSp>
        <p:nvCxnSpPr>
          <p:cNvPr id="23" name="Connector 22"/>
          <p:cNvCxnSpPr/>
          <p:nvPr/>
        </p:nvCxnSpPr>
        <p:spPr>
          <a:xfrm>
            <a:off x="5838825" y="3429000"/>
            <a:ext cx="7620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696075" y="3219450"/>
            <a:ext cx="5086350" cy="4191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Entra ID</a:t>
            </a:r>
          </a:p>
        </p:txBody>
      </p:sp>
      <p:sp>
        <p:nvSpPr>
          <p:cNvPr id="25" name="Rounded Rectangle 24"/>
          <p:cNvSpPr/>
          <p:nvPr/>
        </p:nvSpPr>
        <p:spPr>
          <a:xfrm>
            <a:off x="409575" y="3714750"/>
            <a:ext cx="5334000" cy="41910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0">
                <a:solidFill>
                  <a:srgbClr val="F5F5F8"/>
                </a:solidFill>
                <a:latin typeface="Amazon Ember"/>
                <a:ea typeface="メイリオ"/>
                <a:cs typeface="メイリオ"/>
              </a:rPr>
              <a:t>受付で通行証を照合する</a:t>
            </a:r>
          </a:p>
        </p:txBody>
      </p:sp>
      <p:cxnSp>
        <p:nvCxnSpPr>
          <p:cNvPr id="26" name="Connector 25"/>
          <p:cNvCxnSpPr/>
          <p:nvPr/>
        </p:nvCxnSpPr>
        <p:spPr>
          <a:xfrm>
            <a:off x="5838825" y="3924300"/>
            <a:ext cx="7620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696075" y="3714750"/>
            <a:ext cx="5086350" cy="4191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Gateway の受け付け時の確認</a:t>
            </a:r>
          </a:p>
        </p:txBody>
      </p:sp>
      <p:sp>
        <p:nvSpPr>
          <p:cNvPr id="28" name="Rounded Rectangle 27"/>
          <p:cNvSpPr/>
          <p:nvPr/>
        </p:nvSpPr>
        <p:spPr>
          <a:xfrm>
            <a:off x="409575" y="4210050"/>
            <a:ext cx="5334000" cy="41910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0">
                <a:solidFill>
                  <a:srgbClr val="F5F5F8"/>
                </a:solidFill>
                <a:latin typeface="Amazon Ember"/>
                <a:ea typeface="メイリオ"/>
                <a:cs typeface="メイリオ"/>
              </a:rPr>
              <a:t>入ってよい部屋かを決める</a:t>
            </a:r>
          </a:p>
        </p:txBody>
      </p:sp>
      <p:cxnSp>
        <p:nvCxnSpPr>
          <p:cNvPr id="29" name="Connector 28"/>
          <p:cNvCxnSpPr/>
          <p:nvPr/>
        </p:nvCxnSpPr>
        <p:spPr>
          <a:xfrm>
            <a:off x="5838825" y="4419600"/>
            <a:ext cx="7620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696075" y="4210050"/>
            <a:ext cx="5086350" cy="4191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Policy in AgentCore</a:t>
            </a:r>
          </a:p>
        </p:txBody>
      </p:sp>
      <p:sp>
        <p:nvSpPr>
          <p:cNvPr id="31" name="Rounded Rectangle 30"/>
          <p:cNvSpPr/>
          <p:nvPr/>
        </p:nvSpPr>
        <p:spPr>
          <a:xfrm>
            <a:off x="409575" y="4705350"/>
            <a:ext cx="5334000" cy="41910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0">
                <a:solidFill>
                  <a:srgbClr val="F5F5F8"/>
                </a:solidFill>
                <a:latin typeface="Amazon Ember"/>
                <a:ea typeface="メイリオ"/>
                <a:cs typeface="メイリオ"/>
              </a:rPr>
              <a:t>金庫の鍵を預かり、貸し出す</a:t>
            </a:r>
          </a:p>
        </p:txBody>
      </p:sp>
      <p:cxnSp>
        <p:nvCxnSpPr>
          <p:cNvPr id="32" name="Connector 31"/>
          <p:cNvCxnSpPr/>
          <p:nvPr/>
        </p:nvCxnSpPr>
        <p:spPr>
          <a:xfrm>
            <a:off x="5838825" y="4914900"/>
            <a:ext cx="7620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696075" y="4705350"/>
            <a:ext cx="5086350" cy="4191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AgentCore Identity</a:t>
            </a:r>
          </a:p>
        </p:txBody>
      </p:sp>
      <p:sp>
        <p:nvSpPr>
          <p:cNvPr id="34" name="Rounded Rectangle 33"/>
          <p:cNvSpPr/>
          <p:nvPr/>
        </p:nvSpPr>
        <p:spPr>
          <a:xfrm>
            <a:off x="409575" y="5200650"/>
            <a:ext cx="5334000" cy="41910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0">
                <a:solidFill>
                  <a:srgbClr val="F5F5F8"/>
                </a:solidFill>
                <a:latin typeface="Amazon Ember"/>
                <a:ea typeface="メイリオ"/>
                <a:cs typeface="メイリオ"/>
              </a:rPr>
              <a:t>出入りを記録帳に書く</a:t>
            </a:r>
          </a:p>
        </p:txBody>
      </p:sp>
      <p:cxnSp>
        <p:nvCxnSpPr>
          <p:cNvPr id="35" name="Connector 34"/>
          <p:cNvCxnSpPr/>
          <p:nvPr/>
        </p:nvCxnSpPr>
        <p:spPr>
          <a:xfrm>
            <a:off x="5838825" y="5410200"/>
            <a:ext cx="7620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696075" y="5200650"/>
            <a:ext cx="5086350" cy="4191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CloudTrail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WHAT THE TOOL MUST DO</a:t>
            </a:r>
          </a:p>
        </p:txBody>
      </p:sp>
      <p:sp>
        <p:nvSpPr>
          <p:cNvPr id="3" name="TextBox 2"/>
          <p:cNvSpPr txBox="1"/>
          <p:nvPr/>
        </p:nvSpPr>
        <p:spPr>
          <a:xfrm>
            <a:off x="409575" y="476250"/>
            <a:ext cx="11449050" cy="420688"/>
          </a:xfrm>
          <a:prstGeom prst="rect">
            <a:avLst/>
          </a:prstGeom>
          <a:noFill/>
        </p:spPr>
        <p:txBody>
          <a:bodyPr wrap="square" lIns="0" rIns="0" tIns="0" bIns="0" anchor="ctr">
            <a:spAutoFit/>
          </a:bodyPr>
          <a:lstStyle/>
          <a:p>
            <a:pPr algn="l">
              <a:lnSpc>
                <a:spcPct val="122000"/>
              </a:lnSpc>
            </a:pPr>
            <a:r>
              <a:rPr sz="2650" b="1">
                <a:solidFill>
                  <a:srgbClr val="FFFFFF"/>
                </a:solidFill>
                <a:latin typeface="Amazon Ember"/>
                <a:ea typeface="メイリオ"/>
                <a:cs typeface="メイリオ"/>
              </a:rPr>
              <a:t>AI エージェントは、通行証をもらって受付に見せ続けられないといけない</a:t>
            </a:r>
          </a:p>
        </p:txBody>
      </p:sp>
      <p:sp>
        <p:nvSpPr>
          <p:cNvPr id="4" name="Rectangle 3"/>
          <p:cNvSpPr/>
          <p:nvPr/>
        </p:nvSpPr>
        <p:spPr>
          <a:xfrm>
            <a:off x="409575" y="954088"/>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2001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143000"/>
            <a:ext cx="3914775"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AI エージェントと Entra ID の仕事</a:t>
            </a:r>
          </a:p>
        </p:txBody>
      </p:sp>
      <p:sp>
        <p:nvSpPr>
          <p:cNvPr id="7" name="Rounded Rectangle 6"/>
          <p:cNvSpPr/>
          <p:nvPr/>
        </p:nvSpPr>
        <p:spPr>
          <a:xfrm>
            <a:off x="4800600" y="12001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48250" y="11430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の仕事</a:t>
            </a:r>
          </a:p>
        </p:txBody>
      </p:sp>
      <p:sp>
        <p:nvSpPr>
          <p:cNvPr id="9" name="Rounded Rectangle 8"/>
          <p:cNvSpPr/>
          <p:nvPr/>
        </p:nvSpPr>
        <p:spPr>
          <a:xfrm>
            <a:off x="6600825" y="1200150"/>
            <a:ext cx="171450" cy="171450"/>
          </a:xfrm>
          <a:prstGeom prst="roundRect">
            <a:avLst>
              <a:gd name="adj" fmla="val 20000"/>
            </a:avLst>
          </a:prstGeom>
          <a:solidFill>
            <a:srgbClr val="DC3C5A"/>
          </a:solidFill>
          <a:ln w="1270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48475" y="11430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止まりやすい場所</a:t>
            </a:r>
          </a:p>
        </p:txBody>
      </p:sp>
      <p:sp>
        <p:nvSpPr>
          <p:cNvPr id="11" name="Rounded Rectangle 10"/>
          <p:cNvSpPr/>
          <p:nvPr/>
        </p:nvSpPr>
        <p:spPr>
          <a:xfrm>
            <a:off x="409575" y="1885950"/>
            <a:ext cx="1714500" cy="952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1. サインイン</a:t>
            </a:r>
          </a:p>
          <a:p>
            <a:pPr algn="ctr">
              <a:lnSpc>
                <a:spcPct val="122000"/>
              </a:lnSpc>
            </a:pPr>
            <a:r>
              <a:rPr sz="1700" b="1">
                <a:solidFill>
                  <a:srgbClr val="F5F5F8"/>
                </a:solidFill>
                <a:latin typeface="Amazon Ember"/>
                <a:ea typeface="メイリオ"/>
                <a:cs typeface="メイリオ"/>
              </a:rPr>
              <a:t>画面へ案内</a:t>
            </a:r>
          </a:p>
        </p:txBody>
      </p:sp>
      <p:cxnSp>
        <p:nvCxnSpPr>
          <p:cNvPr id="12" name="Connector 11"/>
          <p:cNvCxnSpPr/>
          <p:nvPr/>
        </p:nvCxnSpPr>
        <p:spPr>
          <a:xfrm>
            <a:off x="2124075" y="2362200"/>
            <a:ext cx="219075" cy="0"/>
          </a:xfrm>
          <a:prstGeom prst="line">
            <a:avLst/>
          </a:prstGeom>
          <a:ln w="3175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343150" y="1885950"/>
            <a:ext cx="1714500" cy="952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2. Entra ID が</a:t>
            </a:r>
          </a:p>
          <a:p>
            <a:pPr algn="ctr">
              <a:lnSpc>
                <a:spcPct val="122000"/>
              </a:lnSpc>
            </a:pPr>
            <a:r>
              <a:rPr sz="1700" b="1">
                <a:solidFill>
                  <a:srgbClr val="F5F5F8"/>
                </a:solidFill>
                <a:latin typeface="Amazon Ember"/>
                <a:ea typeface="メイリオ"/>
                <a:cs typeface="メイリオ"/>
              </a:rPr>
              <a:t>通行証を出す</a:t>
            </a:r>
          </a:p>
        </p:txBody>
      </p:sp>
      <p:cxnSp>
        <p:nvCxnSpPr>
          <p:cNvPr id="14" name="Connector 13"/>
          <p:cNvCxnSpPr/>
          <p:nvPr/>
        </p:nvCxnSpPr>
        <p:spPr>
          <a:xfrm>
            <a:off x="4057650" y="2362200"/>
            <a:ext cx="219075" cy="0"/>
          </a:xfrm>
          <a:prstGeom prst="line">
            <a:avLst/>
          </a:prstGeom>
          <a:ln w="3175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76725" y="1885950"/>
            <a:ext cx="1714500" cy="952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3. 通行証を</a:t>
            </a:r>
          </a:p>
          <a:p>
            <a:pPr algn="ctr">
              <a:lnSpc>
                <a:spcPct val="122000"/>
              </a:lnSpc>
            </a:pPr>
            <a:r>
              <a:rPr sz="1700" b="1">
                <a:solidFill>
                  <a:srgbClr val="F5F5F8"/>
                </a:solidFill>
                <a:latin typeface="Amazon Ember"/>
                <a:ea typeface="メイリオ"/>
                <a:cs typeface="メイリオ"/>
              </a:rPr>
              <a:t>受け取る</a:t>
            </a:r>
          </a:p>
        </p:txBody>
      </p:sp>
      <p:cxnSp>
        <p:nvCxnSpPr>
          <p:cNvPr id="16" name="Connector 15"/>
          <p:cNvCxnSpPr/>
          <p:nvPr/>
        </p:nvCxnSpPr>
        <p:spPr>
          <a:xfrm>
            <a:off x="5991225" y="2362200"/>
            <a:ext cx="219075" cy="0"/>
          </a:xfrm>
          <a:prstGeom prst="line">
            <a:avLst/>
          </a:prstGeom>
          <a:ln w="3175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210300" y="1885950"/>
            <a:ext cx="1714500" cy="952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4. 呼ぶたびに</a:t>
            </a:r>
          </a:p>
          <a:p>
            <a:pPr algn="ctr">
              <a:lnSpc>
                <a:spcPct val="122000"/>
              </a:lnSpc>
            </a:pPr>
            <a:r>
              <a:rPr sz="1700" b="1">
                <a:solidFill>
                  <a:srgbClr val="F5F5F8"/>
                </a:solidFill>
                <a:latin typeface="Amazon Ember"/>
                <a:ea typeface="メイリオ"/>
                <a:cs typeface="メイリオ"/>
              </a:rPr>
              <a:t>見せる</a:t>
            </a:r>
          </a:p>
        </p:txBody>
      </p:sp>
      <p:cxnSp>
        <p:nvCxnSpPr>
          <p:cNvPr id="18" name="Connector 17"/>
          <p:cNvCxnSpPr/>
          <p:nvPr/>
        </p:nvCxnSpPr>
        <p:spPr>
          <a:xfrm>
            <a:off x="7924800" y="2362200"/>
            <a:ext cx="219075" cy="0"/>
          </a:xfrm>
          <a:prstGeom prst="line">
            <a:avLst/>
          </a:prstGeom>
          <a:ln w="3175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143875" y="1885950"/>
            <a:ext cx="1714500" cy="952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5. 照合して</a:t>
            </a:r>
          </a:p>
          <a:p>
            <a:pPr algn="ctr">
              <a:lnSpc>
                <a:spcPct val="122000"/>
              </a:lnSpc>
            </a:pPr>
            <a:r>
              <a:rPr sz="1700" b="1">
                <a:solidFill>
                  <a:srgbClr val="F5F5F8"/>
                </a:solidFill>
                <a:latin typeface="Amazon Ember"/>
                <a:ea typeface="メイリオ"/>
                <a:cs typeface="メイリオ"/>
              </a:rPr>
              <a:t>通す</a:t>
            </a:r>
          </a:p>
        </p:txBody>
      </p:sp>
      <p:cxnSp>
        <p:nvCxnSpPr>
          <p:cNvPr id="20" name="Connector 19"/>
          <p:cNvCxnSpPr/>
          <p:nvPr/>
        </p:nvCxnSpPr>
        <p:spPr>
          <a:xfrm>
            <a:off x="9858375" y="2362200"/>
            <a:ext cx="219075" cy="0"/>
          </a:xfrm>
          <a:prstGeom prst="line">
            <a:avLst/>
          </a:prstGeom>
          <a:ln w="3175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077450" y="1885950"/>
            <a:ext cx="1714500" cy="952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6. 期限前に</a:t>
            </a:r>
          </a:p>
          <a:p>
            <a:pPr algn="ctr">
              <a:lnSpc>
                <a:spcPct val="122000"/>
              </a:lnSpc>
            </a:pPr>
            <a:r>
              <a:rPr sz="1700" b="1">
                <a:solidFill>
                  <a:srgbClr val="F5F5F8"/>
                </a:solidFill>
                <a:latin typeface="Amazon Ember"/>
                <a:ea typeface="メイリオ"/>
                <a:cs typeface="メイリオ"/>
              </a:rPr>
              <a:t>もらい直す</a:t>
            </a:r>
          </a:p>
        </p:txBody>
      </p:sp>
      <p:sp>
        <p:nvSpPr>
          <p:cNvPr id="22" name="Rounded Rectangle 21"/>
          <p:cNvSpPr/>
          <p:nvPr/>
        </p:nvSpPr>
        <p:spPr>
          <a:xfrm>
            <a:off x="314325" y="3219450"/>
            <a:ext cx="3238500" cy="9525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A. AI エージェントが自分を</a:t>
            </a:r>
          </a:p>
          <a:p>
            <a:pPr algn="ctr">
              <a:lnSpc>
                <a:spcPct val="122000"/>
              </a:lnSpc>
            </a:pPr>
            <a:r>
              <a:rPr sz="1500" b="1">
                <a:solidFill>
                  <a:srgbClr val="F5F5F8"/>
                </a:solidFill>
                <a:latin typeface="Amazon Ember"/>
                <a:ea typeface="メイリオ"/>
                <a:cs typeface="メイリオ"/>
              </a:rPr>
              <a:t>アプリの名簿に登録できない</a:t>
            </a:r>
          </a:p>
        </p:txBody>
      </p:sp>
      <p:cxnSp>
        <p:nvCxnSpPr>
          <p:cNvPr id="23" name="Connector 22"/>
          <p:cNvCxnSpPr/>
          <p:nvPr/>
        </p:nvCxnSpPr>
        <p:spPr>
          <a:xfrm flipV="1">
            <a:off x="1266825" y="2857500"/>
            <a:ext cx="0" cy="361950"/>
          </a:xfrm>
          <a:prstGeom prst="line">
            <a:avLst/>
          </a:prstGeom>
          <a:ln w="25400">
            <a:solidFill>
              <a:srgbClr val="DC3C5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982200" y="3219450"/>
            <a:ext cx="1905000" cy="9525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C. 期限の前に</a:t>
            </a:r>
          </a:p>
          <a:p>
            <a:pPr algn="ctr">
              <a:lnSpc>
                <a:spcPct val="122000"/>
              </a:lnSpc>
            </a:pPr>
            <a:r>
              <a:rPr sz="1500" b="1">
                <a:solidFill>
                  <a:srgbClr val="F5F5F8"/>
                </a:solidFill>
                <a:latin typeface="Amazon Ember"/>
                <a:ea typeface="メイリオ"/>
                <a:cs typeface="メイリオ"/>
              </a:rPr>
              <a:t>通行証を</a:t>
            </a:r>
          </a:p>
          <a:p>
            <a:pPr algn="ctr">
              <a:lnSpc>
                <a:spcPct val="122000"/>
              </a:lnSpc>
            </a:pPr>
            <a:r>
              <a:rPr sz="1500" b="1">
                <a:solidFill>
                  <a:srgbClr val="F5F5F8"/>
                </a:solidFill>
                <a:latin typeface="Amazon Ember"/>
                <a:ea typeface="メイリオ"/>
                <a:cs typeface="メイリオ"/>
              </a:rPr>
              <a:t>更新できない</a:t>
            </a:r>
          </a:p>
        </p:txBody>
      </p:sp>
      <p:cxnSp>
        <p:nvCxnSpPr>
          <p:cNvPr id="25" name="Connector 24"/>
          <p:cNvCxnSpPr/>
          <p:nvPr/>
        </p:nvCxnSpPr>
        <p:spPr>
          <a:xfrm flipV="1">
            <a:off x="10934700" y="2857500"/>
            <a:ext cx="0" cy="361950"/>
          </a:xfrm>
          <a:prstGeom prst="line">
            <a:avLst/>
          </a:prstGeom>
          <a:ln w="25400">
            <a:solidFill>
              <a:srgbClr val="DC3C5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048625" y="3219450"/>
            <a:ext cx="1905000" cy="9525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B. 通行証の宛先が</a:t>
            </a:r>
          </a:p>
          <a:p>
            <a:pPr algn="ctr">
              <a:lnSpc>
                <a:spcPct val="122000"/>
              </a:lnSpc>
            </a:pPr>
            <a:r>
              <a:rPr sz="1500" b="1">
                <a:solidFill>
                  <a:srgbClr val="F5F5F8"/>
                </a:solidFill>
                <a:latin typeface="Amazon Ember"/>
                <a:ea typeface="メイリオ"/>
                <a:cs typeface="メイリオ"/>
              </a:rPr>
              <a:t>Gateway の照合</a:t>
            </a:r>
          </a:p>
          <a:p>
            <a:pPr algn="ctr">
              <a:lnSpc>
                <a:spcPct val="122000"/>
              </a:lnSpc>
            </a:pPr>
            <a:r>
              <a:rPr sz="1500" b="1">
                <a:solidFill>
                  <a:srgbClr val="F5F5F8"/>
                </a:solidFill>
                <a:latin typeface="Amazon Ember"/>
                <a:ea typeface="メイリオ"/>
                <a:cs typeface="メイリオ"/>
              </a:rPr>
              <a:t>条件と合わない</a:t>
            </a:r>
          </a:p>
        </p:txBody>
      </p:sp>
      <p:cxnSp>
        <p:nvCxnSpPr>
          <p:cNvPr id="27" name="Connector 26"/>
          <p:cNvCxnSpPr/>
          <p:nvPr/>
        </p:nvCxnSpPr>
        <p:spPr>
          <a:xfrm flipV="1">
            <a:off x="9001125" y="2857500"/>
            <a:ext cx="0" cy="361950"/>
          </a:xfrm>
          <a:prstGeom prst="line">
            <a:avLst/>
          </a:prstGeom>
          <a:ln w="25400">
            <a:solidFill>
              <a:srgbClr val="DC3C5A"/>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SPECIFICATIONS</a:t>
            </a:r>
          </a:p>
        </p:txBody>
      </p:sp>
      <p:sp>
        <p:nvSpPr>
          <p:cNvPr id="3" name="TextBox 2"/>
          <p:cNvSpPr txBox="1"/>
          <p:nvPr/>
        </p:nvSpPr>
        <p:spPr>
          <a:xfrm>
            <a:off x="409575" y="476250"/>
            <a:ext cx="11449050" cy="412750"/>
          </a:xfrm>
          <a:prstGeom prst="rect">
            <a:avLst/>
          </a:prstGeom>
          <a:noFill/>
        </p:spPr>
        <p:txBody>
          <a:bodyPr wrap="square" lIns="0" rIns="0" tIns="0" bIns="0" anchor="ctr">
            <a:spAutoFit/>
          </a:bodyPr>
          <a:lstStyle/>
          <a:p>
            <a:pPr algn="l">
              <a:lnSpc>
                <a:spcPct val="122000"/>
              </a:lnSpc>
            </a:pPr>
            <a:r>
              <a:rPr sz="2600" b="1">
                <a:solidFill>
                  <a:srgbClr val="FFFFFF"/>
                </a:solidFill>
                <a:latin typeface="Amazon Ember"/>
                <a:ea typeface="メイリオ"/>
                <a:cs typeface="メイリオ"/>
              </a:rPr>
              <a:t>たとえを実際の仕様に戻す: MCP の認可は OAuth の決まりの組み合わせ</a:t>
            </a:r>
          </a:p>
        </p:txBody>
      </p:sp>
      <p:sp>
        <p:nvSpPr>
          <p:cNvPr id="4" name="Rectangle 3"/>
          <p:cNvSpPr/>
          <p:nvPr/>
        </p:nvSpPr>
        <p:spPr>
          <a:xfrm>
            <a:off x="409575" y="94615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409575" y="1133475"/>
          <a:ext cx="11449050" cy="4086225"/>
        </p:xfrm>
        <a:graphic>
          <a:graphicData uri="http://schemas.openxmlformats.org/drawingml/2006/table">
            <a:tbl>
              <a:tblPr>
                <a:tableStyleId>{2D5ABB26-0587-4C30-8999-92F81FD0307C}</a:tableStyleId>
              </a:tblPr>
              <a:tblGrid>
                <a:gridCol w="3205734"/>
                <a:gridCol w="5953506"/>
                <a:gridCol w="2289810"/>
              </a:tblGrid>
              <a:tr h="400050">
                <a:tc>
                  <a:txBody>
                    <a:bodyPr wrap="square" anchor="ctr"/>
                    <a:lstStyle/>
                    <a:p>
                      <a:pPr algn="l">
                        <a:lnSpc>
                          <a:spcPct val="122000"/>
                        </a:lnSpc>
                      </a:pPr>
                      <a:r>
                        <a:rPr sz="1600" b="1">
                          <a:solidFill>
                            <a:srgbClr val="41B3FF"/>
                          </a:solidFill>
                          <a:latin typeface="Amazon Ember"/>
                          <a:ea typeface="メイリオ"/>
                          <a:cs typeface="メイリオ"/>
                        </a:rPr>
                        <a:t>たとえ</a:t>
                      </a:r>
                    </a:p>
                  </a:txBody>
                  <a:tcPr marL="95250" marR="95250" marT="38100" marB="38100" anchor="ctr">
                    <a:lnB w="15875" cap="flat">
                      <a:solidFill>
                        <a:srgbClr val="5C5C5C"/>
                      </a:solidFill>
                    </a:lnB>
                    <a:solidFill>
                      <a:srgbClr val="1F3E56"/>
                    </a:solidFill>
                  </a:tcPr>
                </a:tc>
                <a:tc>
                  <a:txBody>
                    <a:bodyPr wrap="square" anchor="ctr"/>
                    <a:lstStyle/>
                    <a:p>
                      <a:pPr algn="l">
                        <a:lnSpc>
                          <a:spcPct val="122000"/>
                        </a:lnSpc>
                      </a:pPr>
                      <a:r>
                        <a:rPr sz="1600" b="1">
                          <a:solidFill>
                            <a:srgbClr val="41B3FF"/>
                          </a:solidFill>
                          <a:latin typeface="Amazon Ember"/>
                          <a:ea typeface="メイリオ"/>
                          <a:cs typeface="メイリオ"/>
                        </a:rPr>
                        <a:t>実際にやること</a:t>
                      </a:r>
                    </a:p>
                  </a:txBody>
                  <a:tcPr marL="95250" marR="95250" marT="38100" marB="38100" anchor="ctr">
                    <a:lnB w="15875" cap="flat">
                      <a:solidFill>
                        <a:srgbClr val="5C5C5C"/>
                      </a:solidFill>
                    </a:lnB>
                    <a:solidFill>
                      <a:srgbClr val="1F3E56"/>
                    </a:solidFill>
                  </a:tcPr>
                </a:tc>
                <a:tc>
                  <a:txBody>
                    <a:bodyPr wrap="square" anchor="ctr"/>
                    <a:lstStyle/>
                    <a:p>
                      <a:pPr algn="l">
                        <a:lnSpc>
                          <a:spcPct val="122000"/>
                        </a:lnSpc>
                      </a:pPr>
                      <a:r>
                        <a:rPr sz="1600" b="1">
                          <a:solidFill>
                            <a:srgbClr val="41B3FF"/>
                          </a:solidFill>
                          <a:latin typeface="Amazon Ember"/>
                          <a:ea typeface="メイリオ"/>
                          <a:cs typeface="メイリオ"/>
                        </a:rPr>
                        <a:t>決まり</a:t>
                      </a:r>
                    </a:p>
                  </a:txBody>
                  <a:tcPr marL="95250" marR="95250" marT="38100" marB="38100" anchor="ctr">
                    <a:lnB w="15875" cap="flat">
                      <a:solidFill>
                        <a:srgbClr val="5C5C5C"/>
                      </a:solidFill>
                    </a:lnB>
                    <a:solidFill>
                      <a:srgbClr val="1F3E56"/>
                    </a:solidFill>
                  </a:tcPr>
                </a:tc>
              </a:tr>
              <a:tr h="590550">
                <a:tc>
                  <a:txBody>
                    <a:bodyPr wrap="square" anchor="ctr"/>
                    <a:lstStyle/>
                    <a:p>
                      <a:pPr algn="l">
                        <a:lnSpc>
                          <a:spcPct val="122000"/>
                        </a:lnSpc>
                      </a:pPr>
                      <a:r>
                        <a:rPr sz="1500" b="0">
                          <a:solidFill>
                            <a:srgbClr val="F3F3F7"/>
                          </a:solidFill>
                          <a:latin typeface="Amazon Ember"/>
                          <a:ea typeface="メイリオ"/>
                          <a:cs typeface="メイリオ"/>
                        </a:rPr>
                        <a:t>受付と通行証の発行所の場所を知る</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a:solidFill>
                            <a:srgbClr val="F3F3F7"/>
                          </a:solidFill>
                          <a:latin typeface="Amazon Ember"/>
                          <a:ea typeface="メイリオ"/>
                          <a:cs typeface="メイリオ"/>
                        </a:rPr>
                        <a:t>Gateway が認可サーバーの場所を知らせ、AI エージェントがその設定を読む</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u="sng">
                          <a:solidFill>
                            <a:srgbClr val="41B3FF"/>
                          </a:solidFill>
                          <a:latin typeface="Amazon Ember"/>
                          <a:ea typeface="メイリオ"/>
                          <a:cs typeface="メイリオ"/>
                          <a:hlinkClick r:id="rId2"/>
                        </a:rPr>
                        <a:t>RFC 9728</a:t>
                      </a:r>
                      <a:r>
                        <a:rPr sz="1500" b="0">
                          <a:solidFill>
                            <a:srgbClr val="F3F3F7"/>
                          </a:solidFill>
                          <a:latin typeface="Amazon Ember"/>
                          <a:ea typeface="メイリオ"/>
                          <a:cs typeface="メイリオ"/>
                        </a:rPr>
                        <a:t>、</a:t>
                      </a:r>
                      <a:r>
                        <a:rPr sz="1500" b="0" u="sng">
                          <a:solidFill>
                            <a:srgbClr val="41B3FF"/>
                          </a:solidFill>
                          <a:latin typeface="Amazon Ember"/>
                          <a:ea typeface="メイリオ"/>
                          <a:cs typeface="メイリオ"/>
                          <a:hlinkClick r:id="rId3"/>
                        </a:rPr>
                        <a:t>RFC 8414</a:t>
                      </a:r>
                    </a:p>
                  </a:txBody>
                  <a:tcPr marL="95250" marR="95250" marT="38100" marB="38100" anchor="ctr">
                    <a:lnB w="9525" cap="flat">
                      <a:solidFill>
                        <a:srgbClr val="383838"/>
                      </a:solidFill>
                    </a:lnB>
                    <a:solidFill>
                      <a:srgbClr val="161D26"/>
                    </a:solidFill>
                  </a:tcPr>
                </a:tc>
              </a:tr>
              <a:tr h="828675">
                <a:tc>
                  <a:txBody>
                    <a:bodyPr wrap="square" anchor="ctr"/>
                    <a:lstStyle/>
                    <a:p>
                      <a:pPr algn="l">
                        <a:lnSpc>
                          <a:spcPct val="122000"/>
                        </a:lnSpc>
                      </a:pPr>
                      <a:r>
                        <a:rPr sz="1500" b="0">
                          <a:solidFill>
                            <a:srgbClr val="F3F3F7"/>
                          </a:solidFill>
                          <a:latin typeface="Amazon Ember"/>
                          <a:ea typeface="メイリオ"/>
                          <a:cs typeface="メイリオ"/>
                        </a:rPr>
                        <a:t>AI エージェントが自分をアプリの名簿に載せる</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a:solidFill>
                            <a:srgbClr val="F3F3F7"/>
                          </a:solidFill>
                          <a:latin typeface="Amazon Ember"/>
                          <a:ea typeface="メイリオ"/>
                          <a:cs typeface="メイリオ"/>
                        </a:rPr>
                        <a:t>client ID を手に入れる。方法は 3 つで、事前登録、Client ID Metadata Documents、Dynamic Client Registration</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u="sng">
                          <a:solidFill>
                            <a:srgbClr val="41B3FF"/>
                          </a:solidFill>
                          <a:latin typeface="Amazon Ember"/>
                          <a:ea typeface="メイリオ"/>
                          <a:cs typeface="メイリオ"/>
                          <a:hlinkClick r:id="rId4"/>
                        </a:rPr>
                        <a:t>CIMD</a:t>
                      </a:r>
                      <a:r>
                        <a:rPr sz="1500" b="0">
                          <a:solidFill>
                            <a:srgbClr val="F3F3F7"/>
                          </a:solidFill>
                          <a:latin typeface="Amazon Ember"/>
                          <a:ea typeface="メイリオ"/>
                          <a:cs typeface="メイリオ"/>
                        </a:rPr>
                        <a:t>、</a:t>
                      </a:r>
                      <a:r>
                        <a:rPr sz="1500" b="0" u="sng">
                          <a:solidFill>
                            <a:srgbClr val="41B3FF"/>
                          </a:solidFill>
                          <a:latin typeface="Amazon Ember"/>
                          <a:ea typeface="メイリオ"/>
                          <a:cs typeface="メイリオ"/>
                          <a:hlinkClick r:id="rId5"/>
                        </a:rPr>
                        <a:t>RFC 7591</a:t>
                      </a:r>
                    </a:p>
                  </a:txBody>
                  <a:tcPr marL="95250" marR="95250" marT="38100" marB="38100" anchor="ctr">
                    <a:lnB w="9525" cap="flat">
                      <a:solidFill>
                        <a:srgbClr val="383838"/>
                      </a:solidFill>
                    </a:lnB>
                    <a:solidFill>
                      <a:srgbClr val="161D26"/>
                    </a:solidFill>
                  </a:tcPr>
                </a:tc>
              </a:tr>
              <a:tr h="590550">
                <a:tc>
                  <a:txBody>
                    <a:bodyPr wrap="square" anchor="ctr"/>
                    <a:lstStyle/>
                    <a:p>
                      <a:pPr algn="l">
                        <a:lnSpc>
                          <a:spcPct val="122000"/>
                        </a:lnSpc>
                      </a:pPr>
                      <a:r>
                        <a:rPr sz="1500" b="0">
                          <a:solidFill>
                            <a:srgbClr val="F3F3F7"/>
                          </a:solidFill>
                          <a:latin typeface="Amazon Ember"/>
                          <a:ea typeface="メイリオ"/>
                          <a:cs typeface="メイリオ"/>
                        </a:rPr>
                        <a:t>サインインして通行証をもらう</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a:solidFill>
                            <a:srgbClr val="F3F3F7"/>
                          </a:solidFill>
                          <a:latin typeface="Amazon Ember"/>
                          <a:ea typeface="メイリオ"/>
                          <a:cs typeface="メイリオ"/>
                        </a:rPr>
                        <a:t>認可コードの流れで、アクセストークンをもらう。PKCE を使う</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u="sng">
                          <a:solidFill>
                            <a:srgbClr val="41B3FF"/>
                          </a:solidFill>
                          <a:latin typeface="Amazon Ember"/>
                          <a:ea typeface="メイリオ"/>
                          <a:cs typeface="メイリオ"/>
                          <a:hlinkClick r:id="rId6"/>
                        </a:rPr>
                        <a:t>OAuth 2.1</a:t>
                      </a:r>
                      <a:r>
                        <a:rPr sz="1500" b="0">
                          <a:solidFill>
                            <a:srgbClr val="F3F3F7"/>
                          </a:solidFill>
                          <a:latin typeface="Amazon Ember"/>
                          <a:ea typeface="メイリオ"/>
                          <a:cs typeface="メイリオ"/>
                        </a:rPr>
                        <a:t>、</a:t>
                      </a:r>
                      <a:r>
                        <a:rPr sz="1500" b="0" u="sng">
                          <a:solidFill>
                            <a:srgbClr val="41B3FF"/>
                          </a:solidFill>
                          <a:latin typeface="Amazon Ember"/>
                          <a:ea typeface="メイリオ"/>
                          <a:cs typeface="メイリオ"/>
                          <a:hlinkClick r:id="rId7"/>
                        </a:rPr>
                        <a:t>RFC 7636</a:t>
                      </a:r>
                    </a:p>
                  </a:txBody>
                  <a:tcPr marL="95250" marR="95250" marT="38100" marB="38100" anchor="ctr">
                    <a:lnB w="9525" cap="flat">
                      <a:solidFill>
                        <a:srgbClr val="383838"/>
                      </a:solidFill>
                    </a:lnB>
                    <a:solidFill>
                      <a:srgbClr val="161D26"/>
                    </a:solidFill>
                  </a:tcPr>
                </a:tc>
              </a:tr>
              <a:tr h="361950">
                <a:tc>
                  <a:txBody>
                    <a:bodyPr wrap="square" anchor="ctr"/>
                    <a:lstStyle/>
                    <a:p>
                      <a:pPr algn="l">
                        <a:lnSpc>
                          <a:spcPct val="122000"/>
                        </a:lnSpc>
                      </a:pPr>
                      <a:r>
                        <a:rPr sz="1500" b="0">
                          <a:solidFill>
                            <a:srgbClr val="F3F3F7"/>
                          </a:solidFill>
                          <a:latin typeface="Amazon Ember"/>
                          <a:ea typeface="メイリオ"/>
                          <a:cs typeface="メイリオ"/>
                        </a:rPr>
                        <a:t>通行証に宛先を書いてもらう</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a:solidFill>
                            <a:srgbClr val="F3F3F7"/>
                          </a:solidFill>
                          <a:latin typeface="Amazon Ember"/>
                          <a:ea typeface="メイリオ"/>
                          <a:cs typeface="メイリオ"/>
                        </a:rPr>
                        <a:t>resource で、トークンを使う先が Gateway だと伝える</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u="sng">
                          <a:solidFill>
                            <a:srgbClr val="41B3FF"/>
                          </a:solidFill>
                          <a:latin typeface="Amazon Ember"/>
                          <a:ea typeface="メイリオ"/>
                          <a:cs typeface="メイリオ"/>
                          <a:hlinkClick r:id="rId8"/>
                        </a:rPr>
                        <a:t>RFC 8707</a:t>
                      </a:r>
                    </a:p>
                  </a:txBody>
                  <a:tcPr marL="95250" marR="95250" marT="38100" marB="38100" anchor="ctr">
                    <a:lnB w="9525" cap="flat">
                      <a:solidFill>
                        <a:srgbClr val="383838"/>
                      </a:solidFill>
                    </a:lnB>
                    <a:solidFill>
                      <a:srgbClr val="161D26"/>
                    </a:solidFill>
                  </a:tcPr>
                </a:tc>
              </a:tr>
              <a:tr h="361950">
                <a:tc>
                  <a:txBody>
                    <a:bodyPr wrap="square" anchor="ctr"/>
                    <a:lstStyle/>
                    <a:p>
                      <a:pPr algn="l">
                        <a:lnSpc>
                          <a:spcPct val="122000"/>
                        </a:lnSpc>
                      </a:pPr>
                      <a:r>
                        <a:rPr sz="1500" b="0">
                          <a:solidFill>
                            <a:srgbClr val="F3F3F7"/>
                          </a:solidFill>
                          <a:latin typeface="Amazon Ember"/>
                          <a:ea typeface="メイリオ"/>
                          <a:cs typeface="メイリオ"/>
                        </a:rPr>
                        <a:t>呼ぶたびに通行証を見せる</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a:solidFill>
                            <a:srgbClr val="F3F3F7"/>
                          </a:solidFill>
                          <a:latin typeface="Amazon Ember"/>
                          <a:ea typeface="メイリオ"/>
                          <a:cs typeface="メイリオ"/>
                        </a:rPr>
                        <a:t>Authorization ヘッダーにトークンを付ける</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u="sng">
                          <a:solidFill>
                            <a:srgbClr val="41B3FF"/>
                          </a:solidFill>
                          <a:latin typeface="Amazon Ember"/>
                          <a:ea typeface="メイリオ"/>
                          <a:cs typeface="メイリオ"/>
                          <a:hlinkClick r:id="rId9"/>
                        </a:rPr>
                        <a:t>RFC 6750</a:t>
                      </a:r>
                    </a:p>
                  </a:txBody>
                  <a:tcPr marL="95250" marR="95250" marT="38100" marB="38100" anchor="ctr">
                    <a:lnB w="9525" cap="flat">
                      <a:solidFill>
                        <a:srgbClr val="383838"/>
                      </a:solidFill>
                    </a:lnB>
                    <a:solidFill>
                      <a:srgbClr val="161D26"/>
                    </a:solidFill>
                  </a:tcPr>
                </a:tc>
              </a:tr>
              <a:tr h="590550">
                <a:tc>
                  <a:txBody>
                    <a:bodyPr wrap="square" anchor="ctr"/>
                    <a:lstStyle/>
                    <a:p>
                      <a:pPr algn="l">
                        <a:lnSpc>
                          <a:spcPct val="122000"/>
                        </a:lnSpc>
                      </a:pPr>
                      <a:r>
                        <a:rPr sz="1500" b="0">
                          <a:solidFill>
                            <a:srgbClr val="F3F3F7"/>
                          </a:solidFill>
                          <a:latin typeface="Amazon Ember"/>
                          <a:ea typeface="メイリオ"/>
                          <a:cs typeface="メイリオ"/>
                        </a:rPr>
                        <a:t>受付で照合する</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a:solidFill>
                            <a:srgbClr val="F3F3F7"/>
                          </a:solidFill>
                          <a:latin typeface="Amazon Ember"/>
                          <a:ea typeface="メイリオ"/>
                          <a:cs typeface="メイリオ"/>
                        </a:rPr>
                        <a:t>Gateway が発行元、宛先 (aud)、アプリ (client_id)、権限 (scope) を確かめる</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u="sng">
                          <a:solidFill>
                            <a:srgbClr val="41B3FF"/>
                          </a:solidFill>
                          <a:latin typeface="Amazon Ember"/>
                          <a:ea typeface="メイリオ"/>
                          <a:cs typeface="メイリオ"/>
                          <a:hlinkClick r:id="rId10"/>
                        </a:rPr>
                        <a:t>Gateway の確認</a:t>
                      </a:r>
                    </a:p>
                  </a:txBody>
                  <a:tcPr marL="95250" marR="95250" marT="38100" marB="38100" anchor="ctr">
                    <a:lnB w="9525" cap="flat">
                      <a:solidFill>
                        <a:srgbClr val="383838"/>
                      </a:solidFill>
                    </a:lnB>
                    <a:solidFill>
                      <a:srgbClr val="161D26"/>
                    </a:solidFill>
                  </a:tcPr>
                </a:tc>
              </a:tr>
              <a:tr h="361950">
                <a:tc>
                  <a:txBody>
                    <a:bodyPr wrap="square" anchor="ctr"/>
                    <a:lstStyle/>
                    <a:p>
                      <a:pPr algn="l">
                        <a:lnSpc>
                          <a:spcPct val="122000"/>
                        </a:lnSpc>
                      </a:pPr>
                      <a:r>
                        <a:rPr sz="1500" b="0">
                          <a:solidFill>
                            <a:srgbClr val="F3F3F7"/>
                          </a:solidFill>
                          <a:latin typeface="Amazon Ember"/>
                          <a:ea typeface="メイリオ"/>
                          <a:cs typeface="メイリオ"/>
                        </a:rPr>
                        <a:t>期限前にもらい直す</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a:solidFill>
                            <a:srgbClr val="F3F3F7"/>
                          </a:solidFill>
                          <a:latin typeface="Amazon Ember"/>
                          <a:ea typeface="メイリオ"/>
                          <a:cs typeface="メイリオ"/>
                        </a:rPr>
                        <a:t>リフレッシュトークンで新しいトークンをもらう</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500" b="0" u="sng">
                          <a:solidFill>
                            <a:srgbClr val="41B3FF"/>
                          </a:solidFill>
                          <a:latin typeface="Amazon Ember"/>
                          <a:ea typeface="メイリオ"/>
                          <a:cs typeface="メイリオ"/>
                          <a:hlinkClick r:id="rId6"/>
                        </a:rPr>
                        <a:t>OAuth 2.1</a:t>
                      </a:r>
                    </a:p>
                  </a:txBody>
                  <a:tcPr marL="95250" marR="95250" marT="38100" marB="38100" anchor="ctr">
                    <a:lnB w="9525" cap="flat">
                      <a:solidFill>
                        <a:srgbClr val="383838"/>
                      </a:solidFill>
                    </a:lnB>
                    <a:solidFill>
                      <a:srgbClr val="161D26"/>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COMPONENTS</a:t>
            </a:r>
          </a:p>
        </p:txBody>
      </p:sp>
      <p:sp>
        <p:nvSpPr>
          <p:cNvPr id="3" name="TextBox 2"/>
          <p:cNvSpPr txBox="1"/>
          <p:nvPr/>
        </p:nvSpPr>
        <p:spPr>
          <a:xfrm>
            <a:off x="409575" y="476250"/>
            <a:ext cx="11449050" cy="539750"/>
          </a:xfrm>
          <a:prstGeom prst="rect">
            <a:avLst/>
          </a:prstGeom>
          <a:noFill/>
        </p:spPr>
        <p:txBody>
          <a:bodyPr wrap="square" lIns="0" rIns="0" tIns="0" bIns="0" anchor="ctr">
            <a:spAutoFit/>
          </a:bodyPr>
          <a:lstStyle/>
          <a:p>
            <a:pPr algn="l">
              <a:lnSpc>
                <a:spcPct val="122000"/>
              </a:lnSpc>
            </a:pPr>
            <a:r>
              <a:rPr sz="3400" b="1">
                <a:solidFill>
                  <a:srgbClr val="FFFFFF"/>
                </a:solidFill>
                <a:latin typeface="Amazon Ember"/>
                <a:ea typeface="メイリオ"/>
                <a:cs typeface="メイリオ"/>
              </a:rPr>
              <a:t>役割の違う部品を組み合わせる</a:t>
            </a:r>
          </a:p>
        </p:txBody>
      </p:sp>
      <p:sp>
        <p:nvSpPr>
          <p:cNvPr id="4" name="TextBox 3"/>
          <p:cNvSpPr txBox="1"/>
          <p:nvPr/>
        </p:nvSpPr>
        <p:spPr>
          <a:xfrm>
            <a:off x="409575" y="1073150"/>
            <a:ext cx="11449050" cy="278892"/>
          </a:xfrm>
          <a:prstGeom prst="rect">
            <a:avLst/>
          </a:prstGeom>
          <a:noFill/>
        </p:spPr>
        <p:txBody>
          <a:bodyPr wrap="square" lIns="0" rIns="0" tIns="0" bIns="0" anchor="ctr">
            <a:spAutoFit/>
          </a:bodyPr>
          <a:lstStyle/>
          <a:p>
            <a:pPr algn="l">
              <a:lnSpc>
                <a:spcPct val="122000"/>
              </a:lnSpc>
            </a:pPr>
            <a:r>
              <a:rPr sz="1800" b="0">
                <a:solidFill>
                  <a:srgbClr val="8C8C8C"/>
                </a:solidFill>
                <a:latin typeface="Amazon Ember"/>
                <a:ea typeface="メイリオ"/>
                <a:cs typeface="メイリオ"/>
              </a:rPr>
              <a:t>鍵を預かる、入口を 1 本にする、使える人を決める、は別々の部品の仕事</a:t>
            </a:r>
          </a:p>
        </p:txBody>
      </p:sp>
      <p:sp>
        <p:nvSpPr>
          <p:cNvPr id="5" name="Rectangle 4"/>
          <p:cNvSpPr/>
          <p:nvPr/>
        </p:nvSpPr>
        <p:spPr>
          <a:xfrm>
            <a:off x="409575" y="1428242"/>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9575" y="1666875"/>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7225" y="16097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8" name="Rounded Rectangle 7"/>
          <p:cNvSpPr/>
          <p:nvPr/>
        </p:nvSpPr>
        <p:spPr>
          <a:xfrm>
            <a:off x="2209800" y="1666875"/>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57450" y="16097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10" name="Rounded Rectangle 9"/>
          <p:cNvSpPr/>
          <p:nvPr/>
        </p:nvSpPr>
        <p:spPr>
          <a:xfrm>
            <a:off x="4333875" y="1666875"/>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525" y="16097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2" name="Rounded Rectangle 11"/>
          <p:cNvSpPr/>
          <p:nvPr/>
        </p:nvSpPr>
        <p:spPr>
          <a:xfrm>
            <a:off x="5810250" y="1666875"/>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7900" y="16097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4" name="Rounded Rectangle 13"/>
          <p:cNvSpPr/>
          <p:nvPr/>
        </p:nvSpPr>
        <p:spPr>
          <a:xfrm>
            <a:off x="409575" y="1971675"/>
            <a:ext cx="3429000" cy="5905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AgentCore Gateway</a:t>
            </a:r>
          </a:p>
        </p:txBody>
      </p:sp>
      <p:sp>
        <p:nvSpPr>
          <p:cNvPr id="15" name="TextBox 14"/>
          <p:cNvSpPr txBox="1"/>
          <p:nvPr/>
        </p:nvSpPr>
        <p:spPr>
          <a:xfrm>
            <a:off x="4124325" y="1971675"/>
            <a:ext cx="7620000" cy="590550"/>
          </a:xfrm>
          <a:prstGeom prst="rect">
            <a:avLst/>
          </a:prstGeom>
          <a:noFill/>
        </p:spPr>
        <p:txBody>
          <a:bodyPr wrap="square" lIns="0" rIns="0" tIns="0" bIns="0" anchor="ctr">
            <a:spAutoFit/>
          </a:bodyPr>
          <a:lstStyle/>
          <a:p>
            <a:pPr algn="l">
              <a:lnSpc>
                <a:spcPct val="122000"/>
              </a:lnSpc>
            </a:pPr>
            <a:r>
              <a:rPr sz="1800" b="0">
                <a:solidFill>
                  <a:srgbClr val="F5F5F8"/>
                </a:solidFill>
                <a:latin typeface="Amazon Ember"/>
                <a:ea typeface="メイリオ"/>
                <a:cs typeface="メイリオ"/>
              </a:rPr>
              <a:t>MCP の入口を 1 本にまとめ、SaaS へ中継する  </a:t>
            </a:r>
            <a:r>
              <a:rPr sz="1800" b="0" u="sng">
                <a:solidFill>
                  <a:srgbClr val="41B3FF"/>
                </a:solidFill>
                <a:latin typeface="Amazon Ember"/>
                <a:ea typeface="メイリオ"/>
                <a:cs typeface="メイリオ"/>
                <a:hlinkClick r:id="rId2"/>
              </a:rPr>
              <a:t>資料</a:t>
            </a:r>
          </a:p>
        </p:txBody>
      </p:sp>
      <p:sp>
        <p:nvSpPr>
          <p:cNvPr id="16" name="Rounded Rectangle 15"/>
          <p:cNvSpPr/>
          <p:nvPr/>
        </p:nvSpPr>
        <p:spPr>
          <a:xfrm>
            <a:off x="409575" y="2695575"/>
            <a:ext cx="3429000" cy="5905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AgentCore Identity</a:t>
            </a:r>
          </a:p>
        </p:txBody>
      </p:sp>
      <p:sp>
        <p:nvSpPr>
          <p:cNvPr id="17" name="TextBox 16"/>
          <p:cNvSpPr txBox="1"/>
          <p:nvPr/>
        </p:nvSpPr>
        <p:spPr>
          <a:xfrm>
            <a:off x="4124325" y="2695575"/>
            <a:ext cx="7620000" cy="590550"/>
          </a:xfrm>
          <a:prstGeom prst="rect">
            <a:avLst/>
          </a:prstGeom>
          <a:noFill/>
        </p:spPr>
        <p:txBody>
          <a:bodyPr wrap="square" lIns="0" rIns="0" tIns="0" bIns="0" anchor="ctr">
            <a:spAutoFit/>
          </a:bodyPr>
          <a:lstStyle/>
          <a:p>
            <a:pPr algn="l">
              <a:lnSpc>
                <a:spcPct val="122000"/>
              </a:lnSpc>
            </a:pPr>
            <a:r>
              <a:rPr sz="1800" b="0">
                <a:solidFill>
                  <a:srgbClr val="F5F5F8"/>
                </a:solidFill>
                <a:latin typeface="Amazon Ember"/>
                <a:ea typeface="メイリオ"/>
                <a:cs typeface="メイリオ"/>
              </a:rPr>
              <a:t>MCP で使う SaaS の鍵を預かる。鍵の実体は Secrets Manager にも置ける  </a:t>
            </a:r>
            <a:r>
              <a:rPr sz="1800" b="0" u="sng">
                <a:solidFill>
                  <a:srgbClr val="41B3FF"/>
                </a:solidFill>
                <a:latin typeface="Amazon Ember"/>
                <a:ea typeface="メイリオ"/>
                <a:cs typeface="メイリオ"/>
                <a:hlinkClick r:id="rId3"/>
              </a:rPr>
              <a:t>資料</a:t>
            </a:r>
          </a:p>
        </p:txBody>
      </p:sp>
      <p:sp>
        <p:nvSpPr>
          <p:cNvPr id="18" name="Rounded Rectangle 17"/>
          <p:cNvSpPr/>
          <p:nvPr/>
        </p:nvSpPr>
        <p:spPr>
          <a:xfrm>
            <a:off x="409575" y="3419475"/>
            <a:ext cx="3429000" cy="5905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Policy in AgentCore</a:t>
            </a:r>
          </a:p>
        </p:txBody>
      </p:sp>
      <p:sp>
        <p:nvSpPr>
          <p:cNvPr id="19" name="TextBox 18"/>
          <p:cNvSpPr txBox="1"/>
          <p:nvPr/>
        </p:nvSpPr>
        <p:spPr>
          <a:xfrm>
            <a:off x="4124325" y="3419475"/>
            <a:ext cx="7620000" cy="590550"/>
          </a:xfrm>
          <a:prstGeom prst="rect">
            <a:avLst/>
          </a:prstGeom>
          <a:noFill/>
        </p:spPr>
        <p:txBody>
          <a:bodyPr wrap="square" lIns="0" rIns="0" tIns="0" bIns="0" anchor="ctr">
            <a:spAutoFit/>
          </a:bodyPr>
          <a:lstStyle/>
          <a:p>
            <a:pPr algn="l">
              <a:lnSpc>
                <a:spcPct val="122000"/>
              </a:lnSpc>
            </a:pPr>
            <a:r>
              <a:rPr sz="1800" b="0">
                <a:solidFill>
                  <a:srgbClr val="F5F5F8"/>
                </a:solidFill>
                <a:latin typeface="Amazon Ember"/>
                <a:ea typeface="メイリオ"/>
                <a:cs typeface="メイリオ"/>
              </a:rPr>
              <a:t>誰がどのツールを呼べるかを決める  </a:t>
            </a:r>
            <a:r>
              <a:rPr sz="1800" b="0" u="sng">
                <a:solidFill>
                  <a:srgbClr val="41B3FF"/>
                </a:solidFill>
                <a:latin typeface="Amazon Ember"/>
                <a:ea typeface="メイリオ"/>
                <a:cs typeface="メイリオ"/>
                <a:hlinkClick r:id="rId4"/>
              </a:rPr>
              <a:t>資料</a:t>
            </a:r>
          </a:p>
        </p:txBody>
      </p:sp>
      <p:sp>
        <p:nvSpPr>
          <p:cNvPr id="20" name="Rounded Rectangle 19"/>
          <p:cNvSpPr/>
          <p:nvPr/>
        </p:nvSpPr>
        <p:spPr>
          <a:xfrm>
            <a:off x="409575" y="4143375"/>
            <a:ext cx="3429000" cy="5905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Entra ID のアプリ登録</a:t>
            </a:r>
          </a:p>
        </p:txBody>
      </p:sp>
      <p:sp>
        <p:nvSpPr>
          <p:cNvPr id="21" name="TextBox 20"/>
          <p:cNvSpPr txBox="1"/>
          <p:nvPr/>
        </p:nvSpPr>
        <p:spPr>
          <a:xfrm>
            <a:off x="4124325" y="4143375"/>
            <a:ext cx="7620000" cy="590550"/>
          </a:xfrm>
          <a:prstGeom prst="rect">
            <a:avLst/>
          </a:prstGeom>
          <a:noFill/>
        </p:spPr>
        <p:txBody>
          <a:bodyPr wrap="square" lIns="0" rIns="0" tIns="0" bIns="0" anchor="ctr">
            <a:spAutoFit/>
          </a:bodyPr>
          <a:lstStyle/>
          <a:p>
            <a:pPr algn="l">
              <a:lnSpc>
                <a:spcPct val="122000"/>
              </a:lnSpc>
            </a:pPr>
            <a:r>
              <a:rPr sz="1800" b="0">
                <a:solidFill>
                  <a:srgbClr val="F5F5F8"/>
                </a:solidFill>
                <a:latin typeface="Amazon Ember"/>
                <a:ea typeface="メイリオ"/>
                <a:cs typeface="メイリオ"/>
              </a:rPr>
              <a:t>Gateway を社内アプリにし、利用者をサインインさせる</a:t>
            </a:r>
          </a:p>
        </p:txBody>
      </p:sp>
      <p:sp>
        <p:nvSpPr>
          <p:cNvPr id="22" name="Rounded Rectangle 21"/>
          <p:cNvSpPr/>
          <p:nvPr/>
        </p:nvSpPr>
        <p:spPr>
          <a:xfrm>
            <a:off x="409575" y="4867275"/>
            <a:ext cx="3429000" cy="5905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AWS Agent Registry</a:t>
            </a:r>
          </a:p>
        </p:txBody>
      </p:sp>
      <p:sp>
        <p:nvSpPr>
          <p:cNvPr id="23" name="TextBox 22"/>
          <p:cNvSpPr txBox="1"/>
          <p:nvPr/>
        </p:nvSpPr>
        <p:spPr>
          <a:xfrm>
            <a:off x="4124325" y="4867275"/>
            <a:ext cx="7620000" cy="590550"/>
          </a:xfrm>
          <a:prstGeom prst="rect">
            <a:avLst/>
          </a:prstGeom>
          <a:noFill/>
        </p:spPr>
        <p:txBody>
          <a:bodyPr wrap="square" lIns="0" rIns="0" tIns="0" bIns="0" anchor="ctr">
            <a:spAutoFit/>
          </a:bodyPr>
          <a:lstStyle/>
          <a:p>
            <a:pPr algn="l">
              <a:lnSpc>
                <a:spcPct val="122000"/>
              </a:lnSpc>
            </a:pPr>
            <a:r>
              <a:rPr sz="1800" b="0">
                <a:solidFill>
                  <a:srgbClr val="F5F5F8"/>
                </a:solidFill>
                <a:latin typeface="Amazon Ember"/>
                <a:ea typeface="メイリオ"/>
                <a:cs typeface="メイリオ"/>
              </a:rPr>
              <a:t>承認した MCP サーバーの目録。任意の部品で、鍵は預からない  </a:t>
            </a:r>
            <a:r>
              <a:rPr sz="1800" b="0" u="sng">
                <a:solidFill>
                  <a:srgbClr val="41B3FF"/>
                </a:solidFill>
                <a:latin typeface="Amazon Ember"/>
                <a:ea typeface="メイリオ"/>
                <a:cs typeface="メイリオ"/>
                <a:hlinkClick r:id="rId5"/>
              </a:rPr>
              <a:t>資料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ARCHITECTURE</a:t>
            </a:r>
          </a:p>
        </p:txBody>
      </p:sp>
      <p:sp>
        <p:nvSpPr>
          <p:cNvPr id="3" name="TextBox 2"/>
          <p:cNvSpPr txBox="1"/>
          <p:nvPr/>
        </p:nvSpPr>
        <p:spPr>
          <a:xfrm>
            <a:off x="409575" y="476250"/>
            <a:ext cx="11449050" cy="539750"/>
          </a:xfrm>
          <a:prstGeom prst="rect">
            <a:avLst/>
          </a:prstGeom>
          <a:noFill/>
        </p:spPr>
        <p:txBody>
          <a:bodyPr wrap="square" lIns="0" rIns="0" tIns="0" bIns="0" anchor="ctr">
            <a:spAutoFit/>
          </a:bodyPr>
          <a:lstStyle/>
          <a:p>
            <a:pPr algn="l">
              <a:lnSpc>
                <a:spcPct val="122000"/>
              </a:lnSpc>
            </a:pPr>
            <a:r>
              <a:rPr sz="3400" b="1">
                <a:solidFill>
                  <a:srgbClr val="FFFFFF"/>
                </a:solidFill>
                <a:latin typeface="Amazon Ember"/>
                <a:ea typeface="メイリオ"/>
                <a:cs typeface="メイリオ"/>
              </a:rPr>
              <a:t>推奨構成: 入口は Gateway、鍵は Identity</a:t>
            </a:r>
          </a:p>
        </p:txBody>
      </p:sp>
      <p:sp>
        <p:nvSpPr>
          <p:cNvPr id="4" name="Rectangle 3"/>
          <p:cNvSpPr/>
          <p:nvPr/>
        </p:nvSpPr>
        <p:spPr>
          <a:xfrm>
            <a:off x="409575" y="107315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3144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7" name="Rounded Rectangle 6"/>
          <p:cNvSpPr/>
          <p:nvPr/>
        </p:nvSpPr>
        <p:spPr>
          <a:xfrm>
            <a:off x="2209800" y="13144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57450"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9" name="Rounded Rectangle 8"/>
          <p:cNvSpPr/>
          <p:nvPr/>
        </p:nvSpPr>
        <p:spPr>
          <a:xfrm>
            <a:off x="4333875" y="13144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5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1" name="Rounded Rectangle 10"/>
          <p:cNvSpPr/>
          <p:nvPr/>
        </p:nvSpPr>
        <p:spPr>
          <a:xfrm>
            <a:off x="5810250" y="13144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57900"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3" name="Rounded Rectangle 12"/>
          <p:cNvSpPr/>
          <p:nvPr/>
        </p:nvSpPr>
        <p:spPr>
          <a:xfrm>
            <a:off x="409575" y="2286000"/>
            <a:ext cx="19050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Devin</a:t>
            </a:r>
          </a:p>
        </p:txBody>
      </p:sp>
      <p:sp>
        <p:nvSpPr>
          <p:cNvPr id="14" name="Rounded Rectangle 13"/>
          <p:cNvSpPr/>
          <p:nvPr/>
        </p:nvSpPr>
        <p:spPr>
          <a:xfrm>
            <a:off x="409575" y="3143250"/>
            <a:ext cx="19050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Claude Code</a:t>
            </a:r>
          </a:p>
        </p:txBody>
      </p:sp>
      <p:sp>
        <p:nvSpPr>
          <p:cNvPr id="15" name="Rounded Rectangle 14"/>
          <p:cNvSpPr/>
          <p:nvPr/>
        </p:nvSpPr>
        <p:spPr>
          <a:xfrm>
            <a:off x="409575" y="4000500"/>
            <a:ext cx="19050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その他の</a:t>
            </a:r>
          </a:p>
          <a:p>
            <a:pPr algn="ctr">
              <a:lnSpc>
                <a:spcPct val="122000"/>
              </a:lnSpc>
            </a:pPr>
            <a:r>
              <a:rPr sz="1600" b="1">
                <a:solidFill>
                  <a:srgbClr val="F5F5F8"/>
                </a:solidFill>
                <a:latin typeface="Amazon Ember"/>
                <a:ea typeface="メイリオ"/>
                <a:cs typeface="メイリオ"/>
              </a:rPr>
              <a:t>AI エージェント</a:t>
            </a:r>
          </a:p>
        </p:txBody>
      </p:sp>
      <p:sp>
        <p:nvSpPr>
          <p:cNvPr id="16" name="Rounded Rectangle 15"/>
          <p:cNvSpPr/>
          <p:nvPr/>
        </p:nvSpPr>
        <p:spPr>
          <a:xfrm>
            <a:off x="3267075" y="1619250"/>
            <a:ext cx="2857500" cy="5334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Entra ID でサインイン</a:t>
            </a:r>
          </a:p>
        </p:txBody>
      </p:sp>
      <p:sp>
        <p:nvSpPr>
          <p:cNvPr id="17" name="Rounded Rectangle 16"/>
          <p:cNvSpPr/>
          <p:nvPr/>
        </p:nvSpPr>
        <p:spPr>
          <a:xfrm>
            <a:off x="3267075" y="2857500"/>
            <a:ext cx="2857500" cy="8001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AgentCore Gateway</a:t>
            </a:r>
          </a:p>
          <a:p>
            <a:pPr algn="ctr">
              <a:lnSpc>
                <a:spcPct val="122000"/>
              </a:lnSpc>
            </a:pPr>
            <a:r>
              <a:rPr sz="1800" b="1">
                <a:solidFill>
                  <a:srgbClr val="F5F5F8"/>
                </a:solidFill>
                <a:latin typeface="Amazon Ember"/>
                <a:ea typeface="メイリオ"/>
                <a:cs typeface="メイリオ"/>
              </a:rPr>
              <a:t>Policy で判定</a:t>
            </a:r>
          </a:p>
        </p:txBody>
      </p:sp>
      <p:sp>
        <p:nvSpPr>
          <p:cNvPr id="18" name="Rounded Rectangle 17"/>
          <p:cNvSpPr/>
          <p:nvPr/>
        </p:nvSpPr>
        <p:spPr>
          <a:xfrm>
            <a:off x="3267075" y="4381500"/>
            <a:ext cx="2857500" cy="6096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AgentCore Identity</a:t>
            </a:r>
          </a:p>
          <a:p>
            <a:pPr algn="ctr">
              <a:lnSpc>
                <a:spcPct val="122000"/>
              </a:lnSpc>
            </a:pPr>
            <a:r>
              <a:rPr sz="1600" b="1">
                <a:solidFill>
                  <a:srgbClr val="F5F5F8"/>
                </a:solidFill>
                <a:latin typeface="Amazon Ember"/>
                <a:ea typeface="メイリオ"/>
                <a:cs typeface="メイリオ"/>
              </a:rPr>
              <a:t>鍵の保管庫</a:t>
            </a:r>
          </a:p>
        </p:txBody>
      </p:sp>
      <p:sp>
        <p:nvSpPr>
          <p:cNvPr id="19" name="Rounded Rectangle 18"/>
          <p:cNvSpPr/>
          <p:nvPr/>
        </p:nvSpPr>
        <p:spPr>
          <a:xfrm>
            <a:off x="7648575" y="2286000"/>
            <a:ext cx="24765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GitHub MCP</a:t>
            </a:r>
          </a:p>
        </p:txBody>
      </p:sp>
      <p:sp>
        <p:nvSpPr>
          <p:cNvPr id="20" name="Rounded Rectangle 19"/>
          <p:cNvSpPr/>
          <p:nvPr/>
        </p:nvSpPr>
        <p:spPr>
          <a:xfrm>
            <a:off x="7648575" y="3143250"/>
            <a:ext cx="24765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その他の SaaS</a:t>
            </a:r>
          </a:p>
        </p:txBody>
      </p:sp>
      <p:sp>
        <p:nvSpPr>
          <p:cNvPr id="21" name="Rounded Rectangle 20"/>
          <p:cNvSpPr/>
          <p:nvPr/>
        </p:nvSpPr>
        <p:spPr>
          <a:xfrm>
            <a:off x="7648575" y="4381500"/>
            <a:ext cx="2476500" cy="6096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CloudTrail</a:t>
            </a:r>
          </a:p>
          <a:p>
            <a:pPr algn="ctr">
              <a:lnSpc>
                <a:spcPct val="122000"/>
              </a:lnSpc>
            </a:pPr>
            <a:r>
              <a:rPr sz="1600" b="1">
                <a:solidFill>
                  <a:srgbClr val="F5F5F8"/>
                </a:solidFill>
                <a:latin typeface="Amazon Ember"/>
                <a:ea typeface="メイリオ"/>
                <a:cs typeface="メイリオ"/>
              </a:rPr>
              <a:t>呼び出しの記録</a:t>
            </a:r>
          </a:p>
        </p:txBody>
      </p:sp>
      <p:cxnSp>
        <p:nvCxnSpPr>
          <p:cNvPr id="22" name="Connector 21"/>
          <p:cNvCxnSpPr>
            <a:stCxn id="13" idx="3"/>
            <a:endCxn id="17" idx="1"/>
          </p:cNvCxnSpPr>
          <p:nvPr/>
        </p:nvCxnSpPr>
        <p:spPr>
          <a:xfrm>
            <a:off x="2314575" y="2571750"/>
            <a:ext cx="952500" cy="6858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a:stCxn id="14" idx="3"/>
            <a:endCxn id="17" idx="1"/>
          </p:cNvCxnSpPr>
          <p:nvPr/>
        </p:nvCxnSpPr>
        <p:spPr>
          <a:xfrm flipV="1">
            <a:off x="2314575" y="3257550"/>
            <a:ext cx="952500" cy="17145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a:stCxn id="15" idx="3"/>
            <a:endCxn id="17" idx="1"/>
          </p:cNvCxnSpPr>
          <p:nvPr/>
        </p:nvCxnSpPr>
        <p:spPr>
          <a:xfrm flipV="1">
            <a:off x="2314575" y="3257550"/>
            <a:ext cx="952500" cy="10287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a:stCxn id="17" idx="0"/>
            <a:endCxn id="16" idx="2"/>
          </p:cNvCxnSpPr>
          <p:nvPr/>
        </p:nvCxnSpPr>
        <p:spPr>
          <a:xfrm flipH="1" flipV="1">
            <a:off x="4695825" y="2152650"/>
            <a:ext cx="0" cy="704850"/>
          </a:xfrm>
          <a:prstGeom prst="line">
            <a:avLst/>
          </a:prstGeom>
          <a:ln w="25400">
            <a:solidFill>
              <a:srgbClr val="24A046"/>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a:stCxn id="18" idx="0"/>
            <a:endCxn id="17" idx="2"/>
          </p:cNvCxnSpPr>
          <p:nvPr/>
        </p:nvCxnSpPr>
        <p:spPr>
          <a:xfrm flipH="1" flipV="1">
            <a:off x="4695825" y="3657600"/>
            <a:ext cx="0" cy="723900"/>
          </a:xfrm>
          <a:prstGeom prst="line">
            <a:avLst/>
          </a:prstGeom>
          <a:ln w="25400">
            <a:solidFill>
              <a:srgbClr val="2896F0"/>
            </a:solidFill>
            <a:tailEnd type="triangle" w="med" len="med"/>
            <a:head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a:stCxn id="17" idx="3"/>
            <a:endCxn id="19" idx="1"/>
          </p:cNvCxnSpPr>
          <p:nvPr/>
        </p:nvCxnSpPr>
        <p:spPr>
          <a:xfrm flipV="1">
            <a:off x="6124575" y="2571750"/>
            <a:ext cx="1524000" cy="6858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a:stCxn id="17" idx="3"/>
            <a:endCxn id="20" idx="1"/>
          </p:cNvCxnSpPr>
          <p:nvPr/>
        </p:nvCxnSpPr>
        <p:spPr>
          <a:xfrm>
            <a:off x="6124575" y="3257550"/>
            <a:ext cx="1524000" cy="17145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a:stCxn id="17" idx="3"/>
            <a:endCxn id="21" idx="1"/>
          </p:cNvCxnSpPr>
          <p:nvPr/>
        </p:nvCxnSpPr>
        <p:spPr>
          <a:xfrm>
            <a:off x="6124575" y="3257550"/>
            <a:ext cx="1524000" cy="1428750"/>
          </a:xfrm>
          <a:prstGeom prst="line">
            <a:avLst/>
          </a:prstGeom>
          <a:ln w="15875">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410825" y="2190750"/>
            <a:ext cx="1524000" cy="190500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実線: 呼び出し</a:t>
            </a:r>
          </a:p>
          <a:p>
            <a:pPr algn="l">
              <a:lnSpc>
                <a:spcPct val="122000"/>
              </a:lnSpc>
            </a:pPr>
            <a:r>
              <a:rPr sz="1500" b="0">
                <a:solidFill>
                  <a:srgbClr val="A0A0A8"/>
                </a:solidFill>
                <a:latin typeface="Amazon Ember"/>
                <a:ea typeface="メイリオ"/>
                <a:cs typeface="メイリオ"/>
              </a:rPr>
              <a:t>点線: 本人確認</a:t>
            </a:r>
          </a:p>
          <a:p>
            <a:pPr algn="l">
              <a:lnSpc>
                <a:spcPct val="122000"/>
              </a:lnSpc>
            </a:pPr>
            <a:r>
              <a:rPr sz="1500" b="0">
                <a:solidFill>
                  <a:srgbClr val="A0A0A8"/>
                </a:solidFill>
                <a:latin typeface="Amazon Ember"/>
                <a:ea typeface="メイリオ"/>
                <a:cs typeface="メイリオ"/>
              </a:rPr>
              <a:t>灰色: 記録</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AGENT REGISTRY</a:t>
            </a:r>
          </a:p>
        </p:txBody>
      </p:sp>
      <p:sp>
        <p:nvSpPr>
          <p:cNvPr id="3" name="TextBox 2"/>
          <p:cNvSpPr txBox="1"/>
          <p:nvPr/>
        </p:nvSpPr>
        <p:spPr>
          <a:xfrm>
            <a:off x="409575" y="476250"/>
            <a:ext cx="11449050" cy="333375"/>
          </a:xfrm>
          <a:prstGeom prst="rect">
            <a:avLst/>
          </a:prstGeom>
          <a:noFill/>
        </p:spPr>
        <p:txBody>
          <a:bodyPr wrap="square" lIns="0" rIns="0" tIns="0" bIns="0" anchor="ctr">
            <a:spAutoFit/>
          </a:bodyPr>
          <a:lstStyle/>
          <a:p>
            <a:pPr algn="l">
              <a:lnSpc>
                <a:spcPct val="122000"/>
              </a:lnSpc>
            </a:pPr>
            <a:r>
              <a:rPr sz="2100" b="1">
                <a:solidFill>
                  <a:srgbClr val="FFFFFF"/>
                </a:solidFill>
                <a:latin typeface="Amazon Ember"/>
                <a:ea typeface="メイリオ"/>
                <a:cs typeface="メイリオ"/>
              </a:rPr>
              <a:t>Agent Registry は社内の案内板: 使ってよい MCP サーバーを載せ、探せるようにする</a:t>
            </a:r>
          </a:p>
        </p:txBody>
      </p:sp>
      <p:sp>
        <p:nvSpPr>
          <p:cNvPr id="4" name="TextBox 3"/>
          <p:cNvSpPr txBox="1"/>
          <p:nvPr/>
        </p:nvSpPr>
        <p:spPr>
          <a:xfrm>
            <a:off x="409575" y="866775"/>
            <a:ext cx="11449050" cy="278892"/>
          </a:xfrm>
          <a:prstGeom prst="rect">
            <a:avLst/>
          </a:prstGeom>
          <a:noFill/>
        </p:spPr>
        <p:txBody>
          <a:bodyPr wrap="square" lIns="0" rIns="0" tIns="0" bIns="0" anchor="ctr">
            <a:spAutoFit/>
          </a:bodyPr>
          <a:lstStyle/>
          <a:p>
            <a:pPr algn="l">
              <a:lnSpc>
                <a:spcPct val="122000"/>
              </a:lnSpc>
            </a:pPr>
            <a:r>
              <a:rPr sz="1800" b="0">
                <a:solidFill>
                  <a:srgbClr val="8C8C8C"/>
                </a:solidFill>
                <a:latin typeface="Amazon Ember"/>
                <a:ea typeface="メイリオ"/>
                <a:cs typeface="メイリオ"/>
              </a:rPr>
              <a:t>案内板で使える MCP サーバーを見つけるが、実際の呼び出しは Gateway を通る</a:t>
            </a:r>
          </a:p>
        </p:txBody>
      </p:sp>
      <p:sp>
        <p:nvSpPr>
          <p:cNvPr id="5" name="Rectangle 4"/>
          <p:cNvSpPr/>
          <p:nvPr/>
        </p:nvSpPr>
        <p:spPr>
          <a:xfrm>
            <a:off x="409575" y="1221867"/>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9575" y="14668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7225" y="14097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8" name="Rounded Rectangle 7"/>
          <p:cNvSpPr/>
          <p:nvPr/>
        </p:nvSpPr>
        <p:spPr>
          <a:xfrm>
            <a:off x="2209800" y="14668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57450" y="14097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10" name="Rounded Rectangle 9"/>
          <p:cNvSpPr/>
          <p:nvPr/>
        </p:nvSpPr>
        <p:spPr>
          <a:xfrm>
            <a:off x="4333875" y="14668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525" y="14097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2" name="Rounded Rectangle 11"/>
          <p:cNvSpPr/>
          <p:nvPr/>
        </p:nvSpPr>
        <p:spPr>
          <a:xfrm>
            <a:off x="5810250" y="14668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7900" y="14097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4" name="Rounded Rectangle 13"/>
          <p:cNvSpPr/>
          <p:nvPr/>
        </p:nvSpPr>
        <p:spPr>
          <a:xfrm>
            <a:off x="3171825" y="1771650"/>
            <a:ext cx="5524500" cy="2381250"/>
          </a:xfrm>
          <a:prstGeom prst="roundRect">
            <a:avLst>
              <a:gd name="adj" fmla="val 4000"/>
            </a:avLst>
          </a:prstGeom>
          <a:no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67075" y="1847850"/>
            <a:ext cx="5334000" cy="323850"/>
          </a:xfrm>
          <a:prstGeom prst="rect">
            <a:avLst/>
          </a:prstGeom>
          <a:noFill/>
        </p:spPr>
        <p:txBody>
          <a:bodyPr wrap="square" lIns="0" rIns="0" tIns="0" bIns="0" anchor="ctr">
            <a:spAutoFit/>
          </a:bodyPr>
          <a:lstStyle/>
          <a:p>
            <a:pPr algn="ctr">
              <a:lnSpc>
                <a:spcPct val="122000"/>
              </a:lnSpc>
            </a:pPr>
            <a:r>
              <a:rPr sz="1900" b="1">
                <a:solidFill>
                  <a:srgbClr val="2896F0"/>
                </a:solidFill>
                <a:latin typeface="Amazon Ember"/>
                <a:ea typeface="メイリオ"/>
                <a:cs typeface="メイリオ"/>
              </a:rPr>
              <a:t>AWS Agent Registry</a:t>
            </a:r>
          </a:p>
        </p:txBody>
      </p:sp>
      <p:sp>
        <p:nvSpPr>
          <p:cNvPr id="16" name="Rounded Rectangle 15"/>
          <p:cNvSpPr/>
          <p:nvPr/>
        </p:nvSpPr>
        <p:spPr>
          <a:xfrm>
            <a:off x="3362325" y="2305050"/>
            <a:ext cx="15240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下書き</a:t>
            </a:r>
          </a:p>
        </p:txBody>
      </p:sp>
      <p:cxnSp>
        <p:nvCxnSpPr>
          <p:cNvPr id="17" name="Connector 16"/>
          <p:cNvCxnSpPr/>
          <p:nvPr/>
        </p:nvCxnSpPr>
        <p:spPr>
          <a:xfrm>
            <a:off x="4886325" y="2590800"/>
            <a:ext cx="1905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76825" y="2305050"/>
            <a:ext cx="1524000" cy="5715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承認待ち</a:t>
            </a:r>
          </a:p>
        </p:txBody>
      </p:sp>
      <p:cxnSp>
        <p:nvCxnSpPr>
          <p:cNvPr id="19" name="Connector 18"/>
          <p:cNvCxnSpPr/>
          <p:nvPr/>
        </p:nvCxnSpPr>
        <p:spPr>
          <a:xfrm>
            <a:off x="6600825" y="2590800"/>
            <a:ext cx="1905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91325" y="2305050"/>
            <a:ext cx="1524000" cy="5715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承認済み</a:t>
            </a:r>
          </a:p>
        </p:txBody>
      </p:sp>
      <p:sp>
        <p:nvSpPr>
          <p:cNvPr id="21" name="TextBox 20"/>
          <p:cNvSpPr txBox="1"/>
          <p:nvPr/>
        </p:nvSpPr>
        <p:spPr>
          <a:xfrm>
            <a:off x="3267075" y="2990850"/>
            <a:ext cx="5334000" cy="285750"/>
          </a:xfrm>
          <a:prstGeom prst="rect">
            <a:avLst/>
          </a:prstGeom>
          <a:noFill/>
        </p:spPr>
        <p:txBody>
          <a:bodyPr wrap="square" lIns="0" rIns="0" tIns="0" bIns="0" anchor="ctr">
            <a:spAutoFit/>
          </a:bodyPr>
          <a:lstStyle/>
          <a:p>
            <a:pPr algn="ctr">
              <a:lnSpc>
                <a:spcPct val="122000"/>
              </a:lnSpc>
            </a:pPr>
            <a:r>
              <a:rPr sz="1600" b="0">
                <a:solidFill>
                  <a:srgbClr val="A0A0A8"/>
                </a:solidFill>
                <a:latin typeface="Amazon Ember"/>
                <a:ea typeface="メイリオ"/>
                <a:cs typeface="メイリオ"/>
              </a:rPr>
              <a:t>承認済みだけが検索に出る</a:t>
            </a:r>
          </a:p>
        </p:txBody>
      </p:sp>
      <p:sp>
        <p:nvSpPr>
          <p:cNvPr id="22" name="Rounded Rectangle 21"/>
          <p:cNvSpPr/>
          <p:nvPr/>
        </p:nvSpPr>
        <p:spPr>
          <a:xfrm>
            <a:off x="3362325" y="3409950"/>
            <a:ext cx="5143500" cy="5143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Registry 自身の MCP の窓口で検索</a:t>
            </a:r>
          </a:p>
        </p:txBody>
      </p:sp>
      <p:sp>
        <p:nvSpPr>
          <p:cNvPr id="23" name="Rounded Rectangle 22"/>
          <p:cNvSpPr/>
          <p:nvPr/>
        </p:nvSpPr>
        <p:spPr>
          <a:xfrm>
            <a:off x="409575" y="1866900"/>
            <a:ext cx="2286000" cy="6667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管理者が</a:t>
            </a:r>
          </a:p>
          <a:p>
            <a:pPr algn="ctr">
              <a:lnSpc>
                <a:spcPct val="122000"/>
              </a:lnSpc>
            </a:pPr>
            <a:r>
              <a:rPr sz="1700" b="1">
                <a:solidFill>
                  <a:srgbClr val="F5F5F8"/>
                </a:solidFill>
                <a:latin typeface="Amazon Ember"/>
                <a:ea typeface="メイリオ"/>
                <a:cs typeface="メイリオ"/>
              </a:rPr>
              <a:t>レコードを登録</a:t>
            </a:r>
          </a:p>
        </p:txBody>
      </p:sp>
      <p:sp>
        <p:nvSpPr>
          <p:cNvPr id="24" name="Rounded Rectangle 23"/>
          <p:cNvSpPr/>
          <p:nvPr/>
        </p:nvSpPr>
        <p:spPr>
          <a:xfrm>
            <a:off x="409575" y="3200400"/>
            <a:ext cx="228600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Identity: 取り込みの鍵</a:t>
            </a:r>
          </a:p>
        </p:txBody>
      </p:sp>
      <p:sp>
        <p:nvSpPr>
          <p:cNvPr id="25" name="Rounded Rectangle 24"/>
          <p:cNvSpPr/>
          <p:nvPr/>
        </p:nvSpPr>
        <p:spPr>
          <a:xfrm>
            <a:off x="409575" y="4724400"/>
            <a:ext cx="2286000" cy="6667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AgentCore Gateway</a:t>
            </a:r>
          </a:p>
        </p:txBody>
      </p:sp>
      <p:sp>
        <p:nvSpPr>
          <p:cNvPr id="26" name="Rounded Rectangle 25"/>
          <p:cNvSpPr/>
          <p:nvPr/>
        </p:nvSpPr>
        <p:spPr>
          <a:xfrm>
            <a:off x="9267825" y="1866900"/>
            <a:ext cx="247650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EventBridge で通知</a:t>
            </a:r>
          </a:p>
        </p:txBody>
      </p:sp>
      <p:sp>
        <p:nvSpPr>
          <p:cNvPr id="27" name="Rounded Rectangle 26"/>
          <p:cNvSpPr/>
          <p:nvPr/>
        </p:nvSpPr>
        <p:spPr>
          <a:xfrm>
            <a:off x="9267825" y="2819400"/>
            <a:ext cx="2476500" cy="5715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承認する人</a:t>
            </a:r>
          </a:p>
        </p:txBody>
      </p:sp>
      <p:sp>
        <p:nvSpPr>
          <p:cNvPr id="28" name="Rounded Rectangle 27"/>
          <p:cNvSpPr/>
          <p:nvPr/>
        </p:nvSpPr>
        <p:spPr>
          <a:xfrm>
            <a:off x="9267825" y="4724400"/>
            <a:ext cx="2476500" cy="6667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利用者と</a:t>
            </a:r>
          </a:p>
          <a:p>
            <a:pPr algn="ctr">
              <a:lnSpc>
                <a:spcPct val="122000"/>
              </a:lnSpc>
            </a:pPr>
            <a:r>
              <a:rPr sz="1600" b="1">
                <a:solidFill>
                  <a:srgbClr val="F5F5F8"/>
                </a:solidFill>
                <a:latin typeface="Amazon Ember"/>
                <a:ea typeface="メイリオ"/>
                <a:cs typeface="メイリオ"/>
              </a:rPr>
              <a:t>AI エージェント</a:t>
            </a:r>
          </a:p>
        </p:txBody>
      </p:sp>
      <p:cxnSp>
        <p:nvCxnSpPr>
          <p:cNvPr id="29" name="Connector 28"/>
          <p:cNvCxnSpPr>
            <a:stCxn id="23" idx="3"/>
            <a:endCxn id="16" idx="1"/>
          </p:cNvCxnSpPr>
          <p:nvPr/>
        </p:nvCxnSpPr>
        <p:spPr>
          <a:xfrm>
            <a:off x="2695575" y="2200275"/>
            <a:ext cx="666750" cy="390525"/>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a:stCxn id="24" idx="3"/>
            <a:endCxn id="14" idx="1"/>
          </p:cNvCxnSpPr>
          <p:nvPr/>
        </p:nvCxnSpPr>
        <p:spPr>
          <a:xfrm flipV="1">
            <a:off x="2695575" y="2962275"/>
            <a:ext cx="476250" cy="523875"/>
          </a:xfrm>
          <a:prstGeom prst="line">
            <a:avLst/>
          </a:prstGeom>
          <a:ln w="25400">
            <a:solidFill>
              <a:srgbClr val="2896F0"/>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a:stCxn id="25" idx="0"/>
            <a:endCxn id="14" idx="2"/>
          </p:cNvCxnSpPr>
          <p:nvPr/>
        </p:nvCxnSpPr>
        <p:spPr>
          <a:xfrm flipV="1">
            <a:off x="1552575" y="4152900"/>
            <a:ext cx="4381500" cy="571500"/>
          </a:xfrm>
          <a:prstGeom prst="line">
            <a:avLst/>
          </a:prstGeom>
          <a:ln w="25400">
            <a:solidFill>
              <a:srgbClr val="24A046"/>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a:stCxn id="14" idx="3"/>
            <a:endCxn id="26" idx="1"/>
          </p:cNvCxnSpPr>
          <p:nvPr/>
        </p:nvCxnSpPr>
        <p:spPr>
          <a:xfrm flipV="1">
            <a:off x="8696325" y="2152650"/>
            <a:ext cx="571500" cy="809625"/>
          </a:xfrm>
          <a:prstGeom prst="line">
            <a:avLst/>
          </a:prstGeom>
          <a:ln w="25400">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a:stCxn id="26" idx="2"/>
            <a:endCxn id="27" idx="0"/>
          </p:cNvCxnSpPr>
          <p:nvPr/>
        </p:nvCxnSpPr>
        <p:spPr>
          <a:xfrm flipH="1">
            <a:off x="10506075" y="2438400"/>
            <a:ext cx="0" cy="3810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a:stCxn id="27" idx="1"/>
            <a:endCxn id="20" idx="3"/>
          </p:cNvCxnSpPr>
          <p:nvPr/>
        </p:nvCxnSpPr>
        <p:spPr>
          <a:xfrm flipH="1" flipV="1">
            <a:off x="8315325" y="2590800"/>
            <a:ext cx="952500" cy="51435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a:stCxn id="28" idx="0"/>
            <a:endCxn id="22" idx="3"/>
          </p:cNvCxnSpPr>
          <p:nvPr/>
        </p:nvCxnSpPr>
        <p:spPr>
          <a:xfrm flipH="1" flipV="1">
            <a:off x="8505825" y="3667125"/>
            <a:ext cx="2000250" cy="1057275"/>
          </a:xfrm>
          <a:prstGeom prst="line">
            <a:avLst/>
          </a:prstGeom>
          <a:ln w="25400">
            <a:solidFill>
              <a:srgbClr val="F5F5F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a:stCxn id="28" idx="1"/>
            <a:endCxn id="25" idx="3"/>
          </p:cNvCxnSpPr>
          <p:nvPr/>
        </p:nvCxnSpPr>
        <p:spPr>
          <a:xfrm flipH="1" flipV="1">
            <a:off x="2695575" y="5057775"/>
            <a:ext cx="6572250" cy="0"/>
          </a:xfrm>
          <a:prstGeom prst="line">
            <a:avLst/>
          </a:prstGeom>
          <a:ln w="381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743575" y="4210050"/>
            <a:ext cx="3810000" cy="285750"/>
          </a:xfrm>
          <a:prstGeom prst="rect">
            <a:avLst/>
          </a:prstGeom>
          <a:noFill/>
        </p:spPr>
        <p:txBody>
          <a:bodyPr wrap="square" lIns="0" rIns="0" tIns="0" bIns="0" anchor="ctr">
            <a:spAutoFit/>
          </a:bodyPr>
          <a:lstStyle/>
          <a:p>
            <a:pPr algn="l">
              <a:lnSpc>
                <a:spcPct val="122000"/>
              </a:lnSpc>
            </a:pPr>
            <a:r>
              <a:rPr sz="1400" b="0">
                <a:solidFill>
                  <a:srgbClr val="24A046"/>
                </a:solidFill>
                <a:latin typeface="Amazon Ember"/>
                <a:ea typeface="メイリオ"/>
                <a:cs typeface="メイリオ"/>
              </a:rPr>
              <a:t>MCP サーバーの中身を自動で取り込む</a:t>
            </a:r>
          </a:p>
        </p:txBody>
      </p:sp>
      <p:sp>
        <p:nvSpPr>
          <p:cNvPr id="38" name="TextBox 37"/>
          <p:cNvSpPr txBox="1"/>
          <p:nvPr/>
        </p:nvSpPr>
        <p:spPr>
          <a:xfrm>
            <a:off x="5743575" y="4629150"/>
            <a:ext cx="4191000" cy="285750"/>
          </a:xfrm>
          <a:prstGeom prst="rect">
            <a:avLst/>
          </a:prstGeom>
          <a:noFill/>
        </p:spPr>
        <p:txBody>
          <a:bodyPr wrap="square" lIns="0" rIns="0" tIns="0" bIns="0" anchor="ctr">
            <a:spAutoFit/>
          </a:bodyPr>
          <a:lstStyle/>
          <a:p>
            <a:pPr algn="ctr">
              <a:lnSpc>
                <a:spcPct val="122000"/>
              </a:lnSpc>
            </a:pPr>
            <a:r>
              <a:rPr sz="1500" b="0">
                <a:solidFill>
                  <a:srgbClr val="F5F5F8"/>
                </a:solidFill>
                <a:latin typeface="Amazon Ember"/>
                <a:ea typeface="メイリオ"/>
                <a:cs typeface="メイリオ"/>
              </a:rPr>
              <a:t>見つけた MCP サーバーを呼ぶ</a:t>
            </a:r>
          </a:p>
        </p:txBody>
      </p:sp>
      <p:sp>
        <p:nvSpPr>
          <p:cNvPr id="39" name="TextBox 38"/>
          <p:cNvSpPr txBox="1"/>
          <p:nvPr/>
        </p:nvSpPr>
        <p:spPr>
          <a:xfrm>
            <a:off x="10791825" y="4019550"/>
            <a:ext cx="952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探す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FLOW</a:t>
            </a:r>
          </a:p>
        </p:txBody>
      </p:sp>
      <p:sp>
        <p:nvSpPr>
          <p:cNvPr id="3" name="TextBox 2"/>
          <p:cNvSpPr txBox="1"/>
          <p:nvPr/>
        </p:nvSpPr>
        <p:spPr>
          <a:xfrm>
            <a:off x="409575" y="476250"/>
            <a:ext cx="11449050" cy="484187"/>
          </a:xfrm>
          <a:prstGeom prst="rect">
            <a:avLst/>
          </a:prstGeom>
          <a:noFill/>
        </p:spPr>
        <p:txBody>
          <a:bodyPr wrap="square" lIns="0" rIns="0" tIns="0" bIns="0" anchor="ctr">
            <a:spAutoFit/>
          </a:bodyPr>
          <a:lstStyle/>
          <a:p>
            <a:pPr algn="l">
              <a:lnSpc>
                <a:spcPct val="122000"/>
              </a:lnSpc>
            </a:pPr>
            <a:r>
              <a:rPr sz="3050" b="1">
                <a:solidFill>
                  <a:srgbClr val="FFFFFF"/>
                </a:solidFill>
                <a:latin typeface="Amazon Ember"/>
                <a:ea typeface="メイリオ"/>
                <a:cs typeface="メイリオ"/>
              </a:rPr>
              <a:t>SaaS の鍵は Gateway の中だけで使い、利用者には渡さない</a:t>
            </a:r>
          </a:p>
        </p:txBody>
      </p:sp>
      <p:sp>
        <p:nvSpPr>
          <p:cNvPr id="4" name="TextBox 3"/>
          <p:cNvSpPr txBox="1"/>
          <p:nvPr/>
        </p:nvSpPr>
        <p:spPr>
          <a:xfrm>
            <a:off x="409575" y="1017588"/>
            <a:ext cx="11449050" cy="278892"/>
          </a:xfrm>
          <a:prstGeom prst="rect">
            <a:avLst/>
          </a:prstGeom>
          <a:noFill/>
        </p:spPr>
        <p:txBody>
          <a:bodyPr wrap="square" lIns="0" rIns="0" tIns="0" bIns="0" anchor="ctr">
            <a:spAutoFit/>
          </a:bodyPr>
          <a:lstStyle/>
          <a:p>
            <a:pPr algn="l">
              <a:lnSpc>
                <a:spcPct val="122000"/>
              </a:lnSpc>
            </a:pPr>
            <a:r>
              <a:rPr sz="1800" b="0">
                <a:solidFill>
                  <a:srgbClr val="8C8C8C"/>
                </a:solidFill>
                <a:latin typeface="Amazon Ember"/>
                <a:ea typeface="メイリオ"/>
                <a:cs typeface="メイリオ"/>
              </a:rPr>
              <a:t>1 回の呼び出しの流れ</a:t>
            </a:r>
          </a:p>
        </p:txBody>
      </p:sp>
      <p:sp>
        <p:nvSpPr>
          <p:cNvPr id="5" name="Rectangle 4"/>
          <p:cNvSpPr/>
          <p:nvPr/>
        </p:nvSpPr>
        <p:spPr>
          <a:xfrm>
            <a:off x="409575" y="137268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9575" y="16192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7225" y="1562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8" name="Rounded Rectangle 7"/>
          <p:cNvSpPr/>
          <p:nvPr/>
        </p:nvSpPr>
        <p:spPr>
          <a:xfrm>
            <a:off x="2209800" y="16192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57450" y="1562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10" name="Rounded Rectangle 9"/>
          <p:cNvSpPr/>
          <p:nvPr/>
        </p:nvSpPr>
        <p:spPr>
          <a:xfrm>
            <a:off x="4333875" y="16192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525" y="1562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2" name="Rounded Rectangle 11"/>
          <p:cNvSpPr/>
          <p:nvPr/>
        </p:nvSpPr>
        <p:spPr>
          <a:xfrm>
            <a:off x="5810250" y="16192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7900" y="1562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4" name="Rounded Rectangle 13"/>
          <p:cNvSpPr/>
          <p:nvPr/>
        </p:nvSpPr>
        <p:spPr>
          <a:xfrm>
            <a:off x="409575" y="2305050"/>
            <a:ext cx="1714500" cy="10477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Entra ID で</a:t>
            </a:r>
          </a:p>
          <a:p>
            <a:pPr algn="ctr">
              <a:lnSpc>
                <a:spcPct val="122000"/>
              </a:lnSpc>
            </a:pPr>
            <a:r>
              <a:rPr sz="1700" b="1">
                <a:solidFill>
                  <a:srgbClr val="F5F5F8"/>
                </a:solidFill>
                <a:latin typeface="Amazon Ember"/>
                <a:ea typeface="メイリオ"/>
                <a:cs typeface="メイリオ"/>
              </a:rPr>
              <a:t>サインイン</a:t>
            </a:r>
          </a:p>
        </p:txBody>
      </p:sp>
      <p:sp>
        <p:nvSpPr>
          <p:cNvPr id="15" name="TextBox 14"/>
          <p:cNvSpPr txBox="1"/>
          <p:nvPr/>
        </p:nvSpPr>
        <p:spPr>
          <a:xfrm>
            <a:off x="409575" y="1924050"/>
            <a:ext cx="1714500" cy="342900"/>
          </a:xfrm>
          <a:prstGeom prst="rect">
            <a:avLst/>
          </a:prstGeom>
          <a:noFill/>
        </p:spPr>
        <p:txBody>
          <a:bodyPr wrap="square" lIns="0" rIns="0" tIns="0" bIns="0" anchor="ctr">
            <a:spAutoFit/>
          </a:bodyPr>
          <a:lstStyle/>
          <a:p>
            <a:pPr algn="ctr">
              <a:lnSpc>
                <a:spcPct val="122000"/>
              </a:lnSpc>
            </a:pPr>
            <a:r>
              <a:rPr sz="2200" b="1">
                <a:solidFill>
                  <a:srgbClr val="A0A0A8"/>
                </a:solidFill>
                <a:latin typeface="Amazon Ember"/>
                <a:ea typeface="メイリオ"/>
                <a:cs typeface="メイリオ"/>
              </a:rPr>
              <a:t>1</a:t>
            </a:r>
          </a:p>
        </p:txBody>
      </p:sp>
      <p:cxnSp>
        <p:nvCxnSpPr>
          <p:cNvPr id="16" name="Connector 15"/>
          <p:cNvCxnSpPr/>
          <p:nvPr/>
        </p:nvCxnSpPr>
        <p:spPr>
          <a:xfrm>
            <a:off x="2124075" y="2828925"/>
            <a:ext cx="219075" cy="0"/>
          </a:xfrm>
          <a:prstGeom prst="line">
            <a:avLst/>
          </a:prstGeom>
          <a:ln w="3175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343150" y="2305050"/>
            <a:ext cx="1714500" cy="10477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Gateway を</a:t>
            </a:r>
          </a:p>
          <a:p>
            <a:pPr algn="ctr">
              <a:lnSpc>
                <a:spcPct val="122000"/>
              </a:lnSpc>
            </a:pPr>
            <a:r>
              <a:rPr sz="1700" b="1">
                <a:solidFill>
                  <a:srgbClr val="F5F5F8"/>
                </a:solidFill>
                <a:latin typeface="Amazon Ember"/>
                <a:ea typeface="メイリオ"/>
                <a:cs typeface="メイリオ"/>
              </a:rPr>
              <a:t>呼ぶ</a:t>
            </a:r>
          </a:p>
        </p:txBody>
      </p:sp>
      <p:sp>
        <p:nvSpPr>
          <p:cNvPr id="18" name="TextBox 17"/>
          <p:cNvSpPr txBox="1"/>
          <p:nvPr/>
        </p:nvSpPr>
        <p:spPr>
          <a:xfrm>
            <a:off x="2343150" y="1924050"/>
            <a:ext cx="1714500" cy="342900"/>
          </a:xfrm>
          <a:prstGeom prst="rect">
            <a:avLst/>
          </a:prstGeom>
          <a:noFill/>
        </p:spPr>
        <p:txBody>
          <a:bodyPr wrap="square" lIns="0" rIns="0" tIns="0" bIns="0" anchor="ctr">
            <a:spAutoFit/>
          </a:bodyPr>
          <a:lstStyle/>
          <a:p>
            <a:pPr algn="ctr">
              <a:lnSpc>
                <a:spcPct val="122000"/>
              </a:lnSpc>
            </a:pPr>
            <a:r>
              <a:rPr sz="2200" b="1">
                <a:solidFill>
                  <a:srgbClr val="A0A0A8"/>
                </a:solidFill>
                <a:latin typeface="Amazon Ember"/>
                <a:ea typeface="メイリオ"/>
                <a:cs typeface="メイリオ"/>
              </a:rPr>
              <a:t>2</a:t>
            </a:r>
          </a:p>
        </p:txBody>
      </p:sp>
      <p:cxnSp>
        <p:nvCxnSpPr>
          <p:cNvPr id="19" name="Connector 18"/>
          <p:cNvCxnSpPr/>
          <p:nvPr/>
        </p:nvCxnSpPr>
        <p:spPr>
          <a:xfrm>
            <a:off x="4057650" y="2828925"/>
            <a:ext cx="219075" cy="0"/>
          </a:xfrm>
          <a:prstGeom prst="line">
            <a:avLst/>
          </a:prstGeom>
          <a:ln w="3175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276725" y="2305050"/>
            <a:ext cx="1714500" cy="10477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本人と権限を</a:t>
            </a:r>
          </a:p>
          <a:p>
            <a:pPr algn="ctr">
              <a:lnSpc>
                <a:spcPct val="122000"/>
              </a:lnSpc>
            </a:pPr>
            <a:r>
              <a:rPr sz="1700" b="1">
                <a:solidFill>
                  <a:srgbClr val="F5F5F8"/>
                </a:solidFill>
                <a:latin typeface="Amazon Ember"/>
                <a:ea typeface="メイリオ"/>
                <a:cs typeface="メイリオ"/>
              </a:rPr>
              <a:t>確かめる</a:t>
            </a:r>
          </a:p>
        </p:txBody>
      </p:sp>
      <p:sp>
        <p:nvSpPr>
          <p:cNvPr id="21" name="TextBox 20"/>
          <p:cNvSpPr txBox="1"/>
          <p:nvPr/>
        </p:nvSpPr>
        <p:spPr>
          <a:xfrm>
            <a:off x="4276725" y="1924050"/>
            <a:ext cx="1714500" cy="342900"/>
          </a:xfrm>
          <a:prstGeom prst="rect">
            <a:avLst/>
          </a:prstGeom>
          <a:noFill/>
        </p:spPr>
        <p:txBody>
          <a:bodyPr wrap="square" lIns="0" rIns="0" tIns="0" bIns="0" anchor="ctr">
            <a:spAutoFit/>
          </a:bodyPr>
          <a:lstStyle/>
          <a:p>
            <a:pPr algn="ctr">
              <a:lnSpc>
                <a:spcPct val="122000"/>
              </a:lnSpc>
            </a:pPr>
            <a:r>
              <a:rPr sz="2200" b="1">
                <a:solidFill>
                  <a:srgbClr val="A0A0A8"/>
                </a:solidFill>
                <a:latin typeface="Amazon Ember"/>
                <a:ea typeface="メイリオ"/>
                <a:cs typeface="メイリオ"/>
              </a:rPr>
              <a:t>3</a:t>
            </a:r>
          </a:p>
        </p:txBody>
      </p:sp>
      <p:cxnSp>
        <p:nvCxnSpPr>
          <p:cNvPr id="22" name="Connector 21"/>
          <p:cNvCxnSpPr/>
          <p:nvPr/>
        </p:nvCxnSpPr>
        <p:spPr>
          <a:xfrm>
            <a:off x="5991225" y="2828925"/>
            <a:ext cx="219075" cy="0"/>
          </a:xfrm>
          <a:prstGeom prst="line">
            <a:avLst/>
          </a:prstGeom>
          <a:ln w="3175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210300" y="2305050"/>
            <a:ext cx="1714500" cy="10477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Identity から</a:t>
            </a:r>
          </a:p>
          <a:p>
            <a:pPr algn="ctr">
              <a:lnSpc>
                <a:spcPct val="122000"/>
              </a:lnSpc>
            </a:pPr>
            <a:r>
              <a:rPr sz="1700" b="1">
                <a:solidFill>
                  <a:srgbClr val="F5F5F8"/>
                </a:solidFill>
                <a:latin typeface="Amazon Ember"/>
                <a:ea typeface="メイリオ"/>
                <a:cs typeface="メイリオ"/>
              </a:rPr>
              <a:t>鍵を受け取る</a:t>
            </a:r>
          </a:p>
        </p:txBody>
      </p:sp>
      <p:sp>
        <p:nvSpPr>
          <p:cNvPr id="24" name="TextBox 23"/>
          <p:cNvSpPr txBox="1"/>
          <p:nvPr/>
        </p:nvSpPr>
        <p:spPr>
          <a:xfrm>
            <a:off x="6210300" y="1924050"/>
            <a:ext cx="1714500" cy="342900"/>
          </a:xfrm>
          <a:prstGeom prst="rect">
            <a:avLst/>
          </a:prstGeom>
          <a:noFill/>
        </p:spPr>
        <p:txBody>
          <a:bodyPr wrap="square" lIns="0" rIns="0" tIns="0" bIns="0" anchor="ctr">
            <a:spAutoFit/>
          </a:bodyPr>
          <a:lstStyle/>
          <a:p>
            <a:pPr algn="ctr">
              <a:lnSpc>
                <a:spcPct val="122000"/>
              </a:lnSpc>
            </a:pPr>
            <a:r>
              <a:rPr sz="2200" b="1">
                <a:solidFill>
                  <a:srgbClr val="A0A0A8"/>
                </a:solidFill>
                <a:latin typeface="Amazon Ember"/>
                <a:ea typeface="メイリオ"/>
                <a:cs typeface="メイリオ"/>
              </a:rPr>
              <a:t>4</a:t>
            </a:r>
          </a:p>
        </p:txBody>
      </p:sp>
      <p:cxnSp>
        <p:nvCxnSpPr>
          <p:cNvPr id="25" name="Connector 24"/>
          <p:cNvCxnSpPr/>
          <p:nvPr/>
        </p:nvCxnSpPr>
        <p:spPr>
          <a:xfrm>
            <a:off x="7924800" y="2828925"/>
            <a:ext cx="219075" cy="0"/>
          </a:xfrm>
          <a:prstGeom prst="line">
            <a:avLst/>
          </a:prstGeom>
          <a:ln w="3175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43875" y="2305050"/>
            <a:ext cx="1714500" cy="10477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SaaS を呼んで</a:t>
            </a:r>
          </a:p>
          <a:p>
            <a:pPr algn="ctr">
              <a:lnSpc>
                <a:spcPct val="122000"/>
              </a:lnSpc>
            </a:pPr>
            <a:r>
              <a:rPr sz="1700" b="1">
                <a:solidFill>
                  <a:srgbClr val="F5F5F8"/>
                </a:solidFill>
                <a:latin typeface="Amazon Ember"/>
                <a:ea typeface="メイリオ"/>
                <a:cs typeface="メイリオ"/>
              </a:rPr>
              <a:t>結果を返す</a:t>
            </a:r>
          </a:p>
        </p:txBody>
      </p:sp>
      <p:sp>
        <p:nvSpPr>
          <p:cNvPr id="27" name="TextBox 26"/>
          <p:cNvSpPr txBox="1"/>
          <p:nvPr/>
        </p:nvSpPr>
        <p:spPr>
          <a:xfrm>
            <a:off x="8143875" y="1924050"/>
            <a:ext cx="1714500" cy="342900"/>
          </a:xfrm>
          <a:prstGeom prst="rect">
            <a:avLst/>
          </a:prstGeom>
          <a:noFill/>
        </p:spPr>
        <p:txBody>
          <a:bodyPr wrap="square" lIns="0" rIns="0" tIns="0" bIns="0" anchor="ctr">
            <a:spAutoFit/>
          </a:bodyPr>
          <a:lstStyle/>
          <a:p>
            <a:pPr algn="ctr">
              <a:lnSpc>
                <a:spcPct val="122000"/>
              </a:lnSpc>
            </a:pPr>
            <a:r>
              <a:rPr sz="2200" b="1">
                <a:solidFill>
                  <a:srgbClr val="A0A0A8"/>
                </a:solidFill>
                <a:latin typeface="Amazon Ember"/>
                <a:ea typeface="メイリオ"/>
                <a:cs typeface="メイリオ"/>
              </a:rPr>
              <a:t>5</a:t>
            </a:r>
          </a:p>
        </p:txBody>
      </p:sp>
      <p:cxnSp>
        <p:nvCxnSpPr>
          <p:cNvPr id="28" name="Connector 27"/>
          <p:cNvCxnSpPr/>
          <p:nvPr/>
        </p:nvCxnSpPr>
        <p:spPr>
          <a:xfrm>
            <a:off x="9858375" y="2828925"/>
            <a:ext cx="219075" cy="0"/>
          </a:xfrm>
          <a:prstGeom prst="line">
            <a:avLst/>
          </a:prstGeom>
          <a:ln w="3175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077450" y="2305050"/>
            <a:ext cx="1714500" cy="10477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呼び出しを</a:t>
            </a:r>
          </a:p>
          <a:p>
            <a:pPr algn="ctr">
              <a:lnSpc>
                <a:spcPct val="122000"/>
              </a:lnSpc>
            </a:pPr>
            <a:r>
              <a:rPr sz="1700" b="1">
                <a:solidFill>
                  <a:srgbClr val="F5F5F8"/>
                </a:solidFill>
                <a:latin typeface="Amazon Ember"/>
                <a:ea typeface="メイリオ"/>
                <a:cs typeface="メイリオ"/>
              </a:rPr>
              <a:t>記録する</a:t>
            </a:r>
          </a:p>
        </p:txBody>
      </p:sp>
      <p:sp>
        <p:nvSpPr>
          <p:cNvPr id="30" name="TextBox 29"/>
          <p:cNvSpPr txBox="1"/>
          <p:nvPr/>
        </p:nvSpPr>
        <p:spPr>
          <a:xfrm>
            <a:off x="10077450" y="1924050"/>
            <a:ext cx="1714500" cy="342900"/>
          </a:xfrm>
          <a:prstGeom prst="rect">
            <a:avLst/>
          </a:prstGeom>
          <a:noFill/>
        </p:spPr>
        <p:txBody>
          <a:bodyPr wrap="square" lIns="0" rIns="0" tIns="0" bIns="0" anchor="ctr">
            <a:spAutoFit/>
          </a:bodyPr>
          <a:lstStyle/>
          <a:p>
            <a:pPr algn="ctr">
              <a:lnSpc>
                <a:spcPct val="122000"/>
              </a:lnSpc>
            </a:pPr>
            <a:r>
              <a:rPr sz="2200" b="1">
                <a:solidFill>
                  <a:srgbClr val="A0A0A8"/>
                </a:solidFill>
                <a:latin typeface="Amazon Ember"/>
                <a:ea typeface="メイリオ"/>
                <a:cs typeface="メイリオ"/>
              </a:rPr>
              <a:t>6</a:t>
            </a:r>
          </a:p>
        </p:txBody>
      </p:sp>
      <p:sp>
        <p:nvSpPr>
          <p:cNvPr id="31" name="Rounded Rectangle 30"/>
          <p:cNvSpPr/>
          <p:nvPr/>
        </p:nvSpPr>
        <p:spPr>
          <a:xfrm>
            <a:off x="409575" y="3733800"/>
            <a:ext cx="11372850" cy="5715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利用者の手元に残るのは Entra ID のトークンだけ。SaaS の鍵は残らない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CREDENTIAL PROVIDER</a:t>
            </a:r>
          </a:p>
        </p:txBody>
      </p:sp>
      <p:sp>
        <p:nvSpPr>
          <p:cNvPr id="3" name="TextBox 2"/>
          <p:cNvSpPr txBox="1"/>
          <p:nvPr/>
        </p:nvSpPr>
        <p:spPr>
          <a:xfrm>
            <a:off x="409575" y="476250"/>
            <a:ext cx="11449050" cy="492125"/>
          </a:xfrm>
          <a:prstGeom prst="rect">
            <a:avLst/>
          </a:prstGeom>
          <a:noFill/>
        </p:spPr>
        <p:txBody>
          <a:bodyPr wrap="square" lIns="0" rIns="0" tIns="0" bIns="0" anchor="ctr">
            <a:spAutoFit/>
          </a:bodyPr>
          <a:lstStyle/>
          <a:p>
            <a:pPr algn="l">
              <a:lnSpc>
                <a:spcPct val="122000"/>
              </a:lnSpc>
            </a:pPr>
            <a:r>
              <a:rPr sz="3100" b="1">
                <a:solidFill>
                  <a:srgbClr val="FFFFFF"/>
                </a:solidFill>
                <a:latin typeface="Amazon Ember"/>
                <a:ea typeface="メイリオ"/>
                <a:cs typeface="メイリオ"/>
              </a:rPr>
              <a:t>鍵の登録は、社内利用なら SaaS ごとに 1 つから始められる</a:t>
            </a:r>
          </a:p>
        </p:txBody>
      </p:sp>
      <p:sp>
        <p:nvSpPr>
          <p:cNvPr id="4" name="TextBox 3"/>
          <p:cNvSpPr txBox="1"/>
          <p:nvPr/>
        </p:nvSpPr>
        <p:spPr>
          <a:xfrm>
            <a:off x="409575" y="1025525"/>
            <a:ext cx="11449050" cy="278892"/>
          </a:xfrm>
          <a:prstGeom prst="rect">
            <a:avLst/>
          </a:prstGeom>
          <a:noFill/>
        </p:spPr>
        <p:txBody>
          <a:bodyPr wrap="square" lIns="0" rIns="0" tIns="0" bIns="0" anchor="ctr">
            <a:spAutoFit/>
          </a:bodyPr>
          <a:lstStyle/>
          <a:p>
            <a:pPr algn="l">
              <a:lnSpc>
                <a:spcPct val="122000"/>
              </a:lnSpc>
            </a:pPr>
            <a:r>
              <a:rPr sz="1800" b="0">
                <a:solidFill>
                  <a:srgbClr val="8C8C8C"/>
                </a:solidFill>
                <a:latin typeface="Amazon Ember"/>
                <a:ea typeface="メイリオ"/>
                <a:cs typeface="メイリオ"/>
              </a:rPr>
              <a:t>Identity に鍵を登録する単位 (credential provider) は、使い方で決まる</a:t>
            </a:r>
          </a:p>
        </p:txBody>
      </p:sp>
      <p:sp>
        <p:nvSpPr>
          <p:cNvPr id="5" name="Rectangle 4"/>
          <p:cNvSpPr/>
          <p:nvPr/>
        </p:nvSpPr>
        <p:spPr>
          <a:xfrm>
            <a:off x="409575" y="1380617"/>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9575" y="16192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7225" y="1562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8" name="Rounded Rectangle 7"/>
          <p:cNvSpPr/>
          <p:nvPr/>
        </p:nvSpPr>
        <p:spPr>
          <a:xfrm>
            <a:off x="2209800" y="16192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57450" y="1562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10" name="Rounded Rectangle 9"/>
          <p:cNvSpPr/>
          <p:nvPr/>
        </p:nvSpPr>
        <p:spPr>
          <a:xfrm>
            <a:off x="4333875" y="16192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525" y="1562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2" name="Rounded Rectangle 11"/>
          <p:cNvSpPr/>
          <p:nvPr/>
        </p:nvSpPr>
        <p:spPr>
          <a:xfrm>
            <a:off x="5810250" y="16192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7900" y="1562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4" name="Rounded Rectangle 13"/>
          <p:cNvSpPr/>
          <p:nvPr/>
        </p:nvSpPr>
        <p:spPr>
          <a:xfrm>
            <a:off x="409575" y="1924050"/>
            <a:ext cx="5467350" cy="2952750"/>
          </a:xfrm>
          <a:prstGeom prst="roundRect">
            <a:avLst>
              <a:gd name="adj" fmla="val 4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0075" y="2019300"/>
            <a:ext cx="5086350" cy="3810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今回: 社内で使う</a:t>
            </a:r>
          </a:p>
        </p:txBody>
      </p:sp>
      <p:sp>
        <p:nvSpPr>
          <p:cNvPr id="16" name="Rounded Rectangle 15"/>
          <p:cNvSpPr/>
          <p:nvPr/>
        </p:nvSpPr>
        <p:spPr>
          <a:xfrm>
            <a:off x="790575" y="2495550"/>
            <a:ext cx="4705350" cy="5334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GitHub 用 1 つ</a:t>
            </a:r>
          </a:p>
        </p:txBody>
      </p:sp>
      <p:sp>
        <p:nvSpPr>
          <p:cNvPr id="17" name="Rounded Rectangle 16"/>
          <p:cNvSpPr/>
          <p:nvPr/>
        </p:nvSpPr>
        <p:spPr>
          <a:xfrm>
            <a:off x="790575" y="3143250"/>
            <a:ext cx="4705350" cy="5334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Slack 用 1 つ</a:t>
            </a:r>
          </a:p>
        </p:txBody>
      </p:sp>
      <p:sp>
        <p:nvSpPr>
          <p:cNvPr id="18" name="Rounded Rectangle 17"/>
          <p:cNvSpPr/>
          <p:nvPr/>
        </p:nvSpPr>
        <p:spPr>
          <a:xfrm>
            <a:off x="790575" y="3790950"/>
            <a:ext cx="4705350" cy="5334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その他の SaaS ごとに 1 つ</a:t>
            </a:r>
          </a:p>
        </p:txBody>
      </p:sp>
      <p:sp>
        <p:nvSpPr>
          <p:cNvPr id="19" name="TextBox 18"/>
          <p:cNvSpPr txBox="1"/>
          <p:nvPr/>
        </p:nvSpPr>
        <p:spPr>
          <a:xfrm>
            <a:off x="600075" y="4476750"/>
            <a:ext cx="5086350" cy="323850"/>
          </a:xfrm>
          <a:prstGeom prst="rect">
            <a:avLst/>
          </a:prstGeom>
          <a:noFill/>
        </p:spPr>
        <p:txBody>
          <a:bodyPr wrap="square" lIns="0" rIns="0" tIns="0" bIns="0" anchor="ctr">
            <a:spAutoFit/>
          </a:bodyPr>
          <a:lstStyle/>
          <a:p>
            <a:pPr algn="ctr">
              <a:lnSpc>
                <a:spcPct val="122000"/>
              </a:lnSpc>
            </a:pPr>
            <a:r>
              <a:rPr sz="1700" b="0">
                <a:solidFill>
                  <a:srgbClr val="A0A0A8"/>
                </a:solidFill>
                <a:latin typeface="Amazon Ember"/>
                <a:ea typeface="メイリオ"/>
                <a:cs typeface="メイリオ"/>
              </a:rPr>
              <a:t>SaaS の数だけ</a:t>
            </a:r>
          </a:p>
        </p:txBody>
      </p:sp>
      <p:sp>
        <p:nvSpPr>
          <p:cNvPr id="20" name="Rounded Rectangle 19"/>
          <p:cNvSpPr/>
          <p:nvPr/>
        </p:nvSpPr>
        <p:spPr>
          <a:xfrm>
            <a:off x="6315075" y="1924050"/>
            <a:ext cx="5467350" cy="2952750"/>
          </a:xfrm>
          <a:prstGeom prst="roundRect">
            <a:avLst>
              <a:gd name="adj" fmla="val 4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5575" y="2019300"/>
            <a:ext cx="5086350" cy="3810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参考: 他社に提供する場合</a:t>
            </a:r>
          </a:p>
        </p:txBody>
      </p:sp>
      <p:sp>
        <p:nvSpPr>
          <p:cNvPr id="22" name="Rounded Rectangle 21"/>
          <p:cNvSpPr/>
          <p:nvPr/>
        </p:nvSpPr>
        <p:spPr>
          <a:xfrm>
            <a:off x="6696075" y="2495550"/>
            <a:ext cx="4705350" cy="5334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会社 X 用の OAuth アプリ</a:t>
            </a:r>
          </a:p>
        </p:txBody>
      </p:sp>
      <p:sp>
        <p:nvSpPr>
          <p:cNvPr id="23" name="Rounded Rectangle 22"/>
          <p:cNvSpPr/>
          <p:nvPr/>
        </p:nvSpPr>
        <p:spPr>
          <a:xfrm>
            <a:off x="6696075" y="3143250"/>
            <a:ext cx="4705350" cy="5334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会社 Y 用の OAuth アプリ</a:t>
            </a:r>
          </a:p>
        </p:txBody>
      </p:sp>
      <p:sp>
        <p:nvSpPr>
          <p:cNvPr id="24" name="Rounded Rectangle 23"/>
          <p:cNvSpPr/>
          <p:nvPr/>
        </p:nvSpPr>
        <p:spPr>
          <a:xfrm>
            <a:off x="6696075" y="3790950"/>
            <a:ext cx="4705350" cy="5334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会社ごとに分かれる鍵</a:t>
            </a:r>
          </a:p>
        </p:txBody>
      </p:sp>
      <p:sp>
        <p:nvSpPr>
          <p:cNvPr id="25" name="TextBox 24"/>
          <p:cNvSpPr txBox="1"/>
          <p:nvPr/>
        </p:nvSpPr>
        <p:spPr>
          <a:xfrm>
            <a:off x="6505575" y="4476750"/>
            <a:ext cx="5086350" cy="323850"/>
          </a:xfrm>
          <a:prstGeom prst="rect">
            <a:avLst/>
          </a:prstGeom>
          <a:noFill/>
        </p:spPr>
        <p:txBody>
          <a:bodyPr wrap="square" lIns="0" rIns="0" tIns="0" bIns="0" anchor="ctr">
            <a:spAutoFit/>
          </a:bodyPr>
          <a:lstStyle/>
          <a:p>
            <a:pPr algn="ctr">
              <a:lnSpc>
                <a:spcPct val="122000"/>
              </a:lnSpc>
            </a:pPr>
            <a:r>
              <a:rPr sz="1700" b="0">
                <a:solidFill>
                  <a:srgbClr val="A0A0A8"/>
                </a:solidFill>
                <a:latin typeface="Amazon Ember"/>
                <a:ea typeface="メイリオ"/>
                <a:cs typeface="メイリオ"/>
              </a:rPr>
              <a:t>会社ごとに別の鍵が要るときだけ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ROTATION</a:t>
            </a:r>
          </a:p>
        </p:txBody>
      </p:sp>
      <p:sp>
        <p:nvSpPr>
          <p:cNvPr id="3" name="TextBox 2"/>
          <p:cNvSpPr txBox="1"/>
          <p:nvPr/>
        </p:nvSpPr>
        <p:spPr>
          <a:xfrm>
            <a:off x="409575" y="476250"/>
            <a:ext cx="11449050" cy="539750"/>
          </a:xfrm>
          <a:prstGeom prst="rect">
            <a:avLst/>
          </a:prstGeom>
          <a:noFill/>
        </p:spPr>
        <p:txBody>
          <a:bodyPr wrap="square" lIns="0" rIns="0" tIns="0" bIns="0" anchor="ctr">
            <a:spAutoFit/>
          </a:bodyPr>
          <a:lstStyle/>
          <a:p>
            <a:pPr algn="l">
              <a:lnSpc>
                <a:spcPct val="122000"/>
              </a:lnSpc>
            </a:pPr>
            <a:r>
              <a:rPr sz="3400" b="1">
                <a:solidFill>
                  <a:srgbClr val="FFFFFF"/>
                </a:solidFill>
                <a:latin typeface="Amazon Ember"/>
                <a:ea typeface="メイリオ"/>
                <a:cs typeface="メイリオ"/>
              </a:rPr>
              <a:t>鍵は預けるだけでなく、入れ替えと停止まで決めておく</a:t>
            </a:r>
          </a:p>
        </p:txBody>
      </p:sp>
      <p:sp>
        <p:nvSpPr>
          <p:cNvPr id="4" name="TextBox 3"/>
          <p:cNvSpPr txBox="1"/>
          <p:nvPr/>
        </p:nvSpPr>
        <p:spPr>
          <a:xfrm>
            <a:off x="409575" y="1073150"/>
            <a:ext cx="11449050" cy="278892"/>
          </a:xfrm>
          <a:prstGeom prst="rect">
            <a:avLst/>
          </a:prstGeom>
          <a:noFill/>
        </p:spPr>
        <p:txBody>
          <a:bodyPr wrap="square" lIns="0" rIns="0" tIns="0" bIns="0" anchor="ctr">
            <a:spAutoFit/>
          </a:bodyPr>
          <a:lstStyle/>
          <a:p>
            <a:pPr algn="l">
              <a:lnSpc>
                <a:spcPct val="122000"/>
              </a:lnSpc>
            </a:pPr>
            <a:r>
              <a:rPr sz="1800" b="0">
                <a:solidFill>
                  <a:srgbClr val="8C8C8C"/>
                </a:solidFill>
                <a:latin typeface="Amazon Ember"/>
                <a:ea typeface="メイリオ"/>
                <a:cs typeface="メイリオ"/>
              </a:rPr>
              <a:t>送り先の認証方式は送り先ごとに選ぶ。会社のアプリとしての OAuth も選べる</a:t>
            </a:r>
          </a:p>
        </p:txBody>
      </p:sp>
      <p:sp>
        <p:nvSpPr>
          <p:cNvPr id="5" name="Rectangle 4"/>
          <p:cNvSpPr/>
          <p:nvPr/>
        </p:nvSpPr>
        <p:spPr>
          <a:xfrm>
            <a:off x="409575" y="1428242"/>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9575" y="1666875"/>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7225" y="16097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8" name="Rounded Rectangle 7"/>
          <p:cNvSpPr/>
          <p:nvPr/>
        </p:nvSpPr>
        <p:spPr>
          <a:xfrm>
            <a:off x="2209800" y="1666875"/>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57450" y="16097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10" name="Rounded Rectangle 9"/>
          <p:cNvSpPr/>
          <p:nvPr/>
        </p:nvSpPr>
        <p:spPr>
          <a:xfrm>
            <a:off x="4333875" y="1666875"/>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525" y="16097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2" name="Rounded Rectangle 11"/>
          <p:cNvSpPr/>
          <p:nvPr/>
        </p:nvSpPr>
        <p:spPr>
          <a:xfrm>
            <a:off x="5810250" y="1666875"/>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7900" y="16097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4" name="TextBox 13"/>
          <p:cNvSpPr txBox="1"/>
          <p:nvPr/>
        </p:nvSpPr>
        <p:spPr>
          <a:xfrm>
            <a:off x="409575" y="1971675"/>
            <a:ext cx="5467350" cy="3429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利用者ごとの鍵 (OAuth)</a:t>
            </a:r>
          </a:p>
        </p:txBody>
      </p:sp>
      <p:sp>
        <p:nvSpPr>
          <p:cNvPr id="15" name="TextBox 14"/>
          <p:cNvSpPr txBox="1"/>
          <p:nvPr/>
        </p:nvSpPr>
        <p:spPr>
          <a:xfrm>
            <a:off x="6315075" y="1971675"/>
            <a:ext cx="5467350" cy="3429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共有の API キー</a:t>
            </a:r>
          </a:p>
        </p:txBody>
      </p:sp>
      <p:sp>
        <p:nvSpPr>
          <p:cNvPr id="16" name="Rounded Rectangle 15"/>
          <p:cNvSpPr/>
          <p:nvPr/>
        </p:nvSpPr>
        <p:spPr>
          <a:xfrm>
            <a:off x="981075" y="2447925"/>
            <a:ext cx="4324350" cy="5524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会社が承認した OAuth アプリ</a:t>
            </a:r>
          </a:p>
        </p:txBody>
      </p:sp>
      <p:cxnSp>
        <p:nvCxnSpPr>
          <p:cNvPr id="17" name="Connector 16"/>
          <p:cNvCxnSpPr/>
          <p:nvPr/>
        </p:nvCxnSpPr>
        <p:spPr>
          <a:xfrm>
            <a:off x="3143250" y="3000375"/>
            <a:ext cx="0" cy="1524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81075" y="3152775"/>
            <a:ext cx="4324350" cy="5524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利用者が最初に同意</a:t>
            </a:r>
          </a:p>
        </p:txBody>
      </p:sp>
      <p:cxnSp>
        <p:nvCxnSpPr>
          <p:cNvPr id="19" name="Connector 18"/>
          <p:cNvCxnSpPr/>
          <p:nvPr/>
        </p:nvCxnSpPr>
        <p:spPr>
          <a:xfrm>
            <a:off x="3143250" y="3705225"/>
            <a:ext cx="0" cy="1524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81075" y="3857625"/>
            <a:ext cx="4324350" cy="5524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トークンは Identity が保管</a:t>
            </a:r>
          </a:p>
        </p:txBody>
      </p:sp>
      <p:cxnSp>
        <p:nvCxnSpPr>
          <p:cNvPr id="21" name="Connector 20"/>
          <p:cNvCxnSpPr/>
          <p:nvPr/>
        </p:nvCxnSpPr>
        <p:spPr>
          <a:xfrm>
            <a:off x="3143250" y="4410075"/>
            <a:ext cx="0" cy="1524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81075" y="4562475"/>
            <a:ext cx="4324350" cy="5524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退職時は同意を取り消す</a:t>
            </a:r>
          </a:p>
        </p:txBody>
      </p:sp>
      <p:sp>
        <p:nvSpPr>
          <p:cNvPr id="23" name="Rounded Rectangle 22"/>
          <p:cNvSpPr/>
          <p:nvPr/>
        </p:nvSpPr>
        <p:spPr>
          <a:xfrm>
            <a:off x="6886575" y="2447925"/>
            <a:ext cx="4324350" cy="5524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1. SaaS で新しい鍵を発行</a:t>
            </a:r>
          </a:p>
        </p:txBody>
      </p:sp>
      <p:cxnSp>
        <p:nvCxnSpPr>
          <p:cNvPr id="24" name="Connector 23"/>
          <p:cNvCxnSpPr/>
          <p:nvPr/>
        </p:nvCxnSpPr>
        <p:spPr>
          <a:xfrm>
            <a:off x="9048750" y="3000375"/>
            <a:ext cx="0" cy="1524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886575" y="3152775"/>
            <a:ext cx="4324350" cy="5524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2. Secrets Manager を更新</a:t>
            </a:r>
          </a:p>
        </p:txBody>
      </p:sp>
      <p:cxnSp>
        <p:nvCxnSpPr>
          <p:cNvPr id="26" name="Connector 25"/>
          <p:cNvCxnSpPr/>
          <p:nvPr/>
        </p:nvCxnSpPr>
        <p:spPr>
          <a:xfrm>
            <a:off x="9048750" y="3705225"/>
            <a:ext cx="0" cy="1524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886575" y="3857625"/>
            <a:ext cx="4324350" cy="5524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3. 動くことを確かめる</a:t>
            </a:r>
          </a:p>
        </p:txBody>
      </p:sp>
      <p:cxnSp>
        <p:nvCxnSpPr>
          <p:cNvPr id="28" name="Connector 27"/>
          <p:cNvCxnSpPr/>
          <p:nvPr/>
        </p:nvCxnSpPr>
        <p:spPr>
          <a:xfrm>
            <a:off x="9048750" y="4410075"/>
            <a:ext cx="0" cy="1524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886575" y="4562475"/>
            <a:ext cx="4324350" cy="5524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4. SaaS で古い鍵を無効化</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GUARDRAILS</a:t>
            </a:r>
          </a:p>
        </p:txBody>
      </p:sp>
      <p:sp>
        <p:nvSpPr>
          <p:cNvPr id="3" name="TextBox 2"/>
          <p:cNvSpPr txBox="1"/>
          <p:nvPr/>
        </p:nvSpPr>
        <p:spPr>
          <a:xfrm>
            <a:off x="409575" y="476250"/>
            <a:ext cx="11449050" cy="460375"/>
          </a:xfrm>
          <a:prstGeom prst="rect">
            <a:avLst/>
          </a:prstGeom>
          <a:noFill/>
        </p:spPr>
        <p:txBody>
          <a:bodyPr wrap="square" lIns="0" rIns="0" tIns="0" bIns="0" anchor="ctr">
            <a:spAutoFit/>
          </a:bodyPr>
          <a:lstStyle/>
          <a:p>
            <a:pPr algn="l">
              <a:lnSpc>
                <a:spcPct val="122000"/>
              </a:lnSpc>
            </a:pPr>
            <a:r>
              <a:rPr sz="2900" b="1">
                <a:solidFill>
                  <a:srgbClr val="FFFFFF"/>
                </a:solidFill>
                <a:latin typeface="Amazon Ember"/>
                <a:ea typeface="メイリオ"/>
                <a:cs typeface="メイリオ"/>
              </a:rPr>
              <a:t>抜け道は、AI エージェントの管理機能と SaaS 側の制限で狭める</a:t>
            </a:r>
          </a:p>
        </p:txBody>
      </p:sp>
      <p:sp>
        <p:nvSpPr>
          <p:cNvPr id="4" name="TextBox 3"/>
          <p:cNvSpPr txBox="1"/>
          <p:nvPr/>
        </p:nvSpPr>
        <p:spPr>
          <a:xfrm>
            <a:off x="409575" y="993775"/>
            <a:ext cx="11449050" cy="278892"/>
          </a:xfrm>
          <a:prstGeom prst="rect">
            <a:avLst/>
          </a:prstGeom>
          <a:noFill/>
        </p:spPr>
        <p:txBody>
          <a:bodyPr wrap="square" lIns="0" rIns="0" tIns="0" bIns="0" anchor="ctr">
            <a:spAutoFit/>
          </a:bodyPr>
          <a:lstStyle/>
          <a:p>
            <a:pPr algn="l">
              <a:lnSpc>
                <a:spcPct val="122000"/>
              </a:lnSpc>
            </a:pPr>
            <a:r>
              <a:rPr sz="1800" b="0">
                <a:solidFill>
                  <a:srgbClr val="8C8C8C"/>
                </a:solidFill>
                <a:latin typeface="Amazon Ember"/>
                <a:ea typeface="メイリオ"/>
                <a:cs typeface="メイリオ"/>
              </a:rPr>
              <a:t>AI エージェントごとの設定方法は、各 AI エージェントの提供元にご確認ください</a:t>
            </a:r>
          </a:p>
        </p:txBody>
      </p:sp>
      <p:sp>
        <p:nvSpPr>
          <p:cNvPr id="5" name="Rectangle 4"/>
          <p:cNvSpPr/>
          <p:nvPr/>
        </p:nvSpPr>
        <p:spPr>
          <a:xfrm>
            <a:off x="409575" y="1348867"/>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09575" y="1590675"/>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7225" y="15335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8" name="Rounded Rectangle 7"/>
          <p:cNvSpPr/>
          <p:nvPr/>
        </p:nvSpPr>
        <p:spPr>
          <a:xfrm>
            <a:off x="2209800" y="1590675"/>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57450" y="15335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10" name="Rounded Rectangle 9"/>
          <p:cNvSpPr/>
          <p:nvPr/>
        </p:nvSpPr>
        <p:spPr>
          <a:xfrm>
            <a:off x="4333875" y="1590675"/>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525" y="15335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2" name="Rounded Rectangle 11"/>
          <p:cNvSpPr/>
          <p:nvPr/>
        </p:nvSpPr>
        <p:spPr>
          <a:xfrm>
            <a:off x="5810250" y="1590675"/>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7900" y="15335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4" name="Rounded Rectangle 13"/>
          <p:cNvSpPr/>
          <p:nvPr/>
        </p:nvSpPr>
        <p:spPr>
          <a:xfrm>
            <a:off x="409575" y="3038475"/>
            <a:ext cx="2476500" cy="7620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MCP を使う</a:t>
            </a:r>
          </a:p>
          <a:p>
            <a:pPr algn="ctr">
              <a:lnSpc>
                <a:spcPct val="122000"/>
              </a:lnSpc>
            </a:pPr>
            <a:r>
              <a:rPr sz="1700" b="1">
                <a:solidFill>
                  <a:srgbClr val="F5F5F8"/>
                </a:solidFill>
                <a:latin typeface="Amazon Ember"/>
                <a:ea typeface="メイリオ"/>
                <a:cs typeface="メイリオ"/>
              </a:rPr>
              <a:t>AI エージェント</a:t>
            </a:r>
          </a:p>
        </p:txBody>
      </p:sp>
      <p:sp>
        <p:nvSpPr>
          <p:cNvPr id="15" name="Rounded Rectangle 14"/>
          <p:cNvSpPr/>
          <p:nvPr/>
        </p:nvSpPr>
        <p:spPr>
          <a:xfrm>
            <a:off x="4791075" y="2276475"/>
            <a:ext cx="2667000" cy="6667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Gateway</a:t>
            </a:r>
          </a:p>
        </p:txBody>
      </p:sp>
      <p:sp>
        <p:nvSpPr>
          <p:cNvPr id="16" name="Rounded Rectangle 15"/>
          <p:cNvSpPr/>
          <p:nvPr/>
        </p:nvSpPr>
        <p:spPr>
          <a:xfrm>
            <a:off x="9363075" y="3038475"/>
            <a:ext cx="2419350" cy="7620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SaaS</a:t>
            </a:r>
          </a:p>
        </p:txBody>
      </p:sp>
      <p:cxnSp>
        <p:nvCxnSpPr>
          <p:cNvPr id="17" name="Connector 16"/>
          <p:cNvCxnSpPr>
            <a:stCxn id="14" idx="0"/>
            <a:endCxn id="15" idx="1"/>
          </p:cNvCxnSpPr>
          <p:nvPr/>
        </p:nvCxnSpPr>
        <p:spPr>
          <a:xfrm flipV="1">
            <a:off x="1647825" y="2609850"/>
            <a:ext cx="3143250" cy="428625"/>
          </a:xfrm>
          <a:prstGeom prst="line">
            <a:avLst/>
          </a:prstGeom>
          <a:ln w="3810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a:stCxn id="15" idx="3"/>
            <a:endCxn id="16" idx="0"/>
          </p:cNvCxnSpPr>
          <p:nvPr/>
        </p:nvCxnSpPr>
        <p:spPr>
          <a:xfrm>
            <a:off x="7458075" y="2609850"/>
            <a:ext cx="3114675" cy="428625"/>
          </a:xfrm>
          <a:prstGeom prst="line">
            <a:avLst/>
          </a:prstGeom>
          <a:ln w="3810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a:stCxn id="14" idx="3"/>
            <a:endCxn id="16" idx="1"/>
          </p:cNvCxnSpPr>
          <p:nvPr/>
        </p:nvCxnSpPr>
        <p:spPr>
          <a:xfrm flipV="1">
            <a:off x="2886075" y="3419475"/>
            <a:ext cx="6477000" cy="0"/>
          </a:xfrm>
          <a:prstGeom prst="line">
            <a:avLst/>
          </a:prstGeom>
          <a:ln w="38100">
            <a:solidFill>
              <a:srgbClr val="DC3C5A"/>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267075" y="3562350"/>
            <a:ext cx="5715000" cy="323850"/>
          </a:xfrm>
          <a:prstGeom prst="rect">
            <a:avLst/>
          </a:prstGeom>
          <a:noFill/>
        </p:spPr>
        <p:txBody>
          <a:bodyPr wrap="square" lIns="0" rIns="0" tIns="0" bIns="0" anchor="ctr">
            <a:spAutoFit/>
          </a:bodyPr>
          <a:lstStyle/>
          <a:p>
            <a:pPr algn="ctr">
              <a:lnSpc>
                <a:spcPct val="122000"/>
              </a:lnSpc>
            </a:pPr>
            <a:r>
              <a:rPr sz="1700" b="0">
                <a:solidFill>
                  <a:srgbClr val="DC3C5A"/>
                </a:solidFill>
                <a:latin typeface="Amazon Ember"/>
                <a:ea typeface="メイリオ"/>
                <a:cs typeface="メイリオ"/>
              </a:rPr>
              <a:t>個人の鍵で直接つなぐ抜け道</a:t>
            </a:r>
          </a:p>
        </p:txBody>
      </p:sp>
      <p:sp>
        <p:nvSpPr>
          <p:cNvPr id="21" name="Rounded Rectangle 20"/>
          <p:cNvSpPr/>
          <p:nvPr/>
        </p:nvSpPr>
        <p:spPr>
          <a:xfrm>
            <a:off x="409575" y="4181475"/>
            <a:ext cx="5467350" cy="9144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AI エージェント側: 接続先を Gateway だけに</a:t>
            </a:r>
          </a:p>
          <a:p>
            <a:pPr algn="ctr">
              <a:lnSpc>
                <a:spcPct val="122000"/>
              </a:lnSpc>
            </a:pPr>
            <a:r>
              <a:rPr sz="1600" b="1">
                <a:solidFill>
                  <a:srgbClr val="F5F5F8"/>
                </a:solidFill>
                <a:latin typeface="Amazon Ember"/>
                <a:ea typeface="メイリオ"/>
                <a:cs typeface="メイリオ"/>
              </a:rPr>
              <a:t>絞れるかを提供元にご確認</a:t>
            </a:r>
          </a:p>
        </p:txBody>
      </p:sp>
      <p:sp>
        <p:nvSpPr>
          <p:cNvPr id="22" name="Rounded Rectangle 21"/>
          <p:cNvSpPr/>
          <p:nvPr/>
        </p:nvSpPr>
        <p:spPr>
          <a:xfrm>
            <a:off x="6315075" y="4181475"/>
            <a:ext cx="5467350" cy="9144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SaaS 側: 個人で発行した鍵を制限する</a:t>
            </a:r>
          </a:p>
          <a:p>
            <a:pPr algn="ctr">
              <a:lnSpc>
                <a:spcPct val="122000"/>
              </a:lnSpc>
            </a:pPr>
            <a:r>
              <a:rPr sz="1700" b="1">
                <a:solidFill>
                  <a:srgbClr val="F5F5F8"/>
                </a:solidFill>
                <a:latin typeface="Amazon Ember"/>
                <a:ea typeface="メイリオ"/>
                <a:cs typeface="メイリオ"/>
              </a:rPr>
              <a:t>例: GitHub の組織設定</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VERIFY</a:t>
            </a:r>
          </a:p>
        </p:txBody>
      </p:sp>
      <p:sp>
        <p:nvSpPr>
          <p:cNvPr id="3" name="TextBox 2"/>
          <p:cNvSpPr txBox="1"/>
          <p:nvPr/>
        </p:nvSpPr>
        <p:spPr>
          <a:xfrm>
            <a:off x="409575" y="476250"/>
            <a:ext cx="11449050" cy="333375"/>
          </a:xfrm>
          <a:prstGeom prst="rect">
            <a:avLst/>
          </a:prstGeom>
          <a:noFill/>
        </p:spPr>
        <p:txBody>
          <a:bodyPr wrap="square" lIns="0" rIns="0" tIns="0" bIns="0" anchor="ctr">
            <a:spAutoFit/>
          </a:bodyPr>
          <a:lstStyle/>
          <a:p>
            <a:pPr algn="l">
              <a:lnSpc>
                <a:spcPct val="122000"/>
              </a:lnSpc>
            </a:pPr>
            <a:r>
              <a:rPr sz="2100" b="1">
                <a:solidFill>
                  <a:srgbClr val="FFFFFF"/>
                </a:solidFill>
                <a:latin typeface="Amazon Ember"/>
                <a:ea typeface="メイリオ"/>
                <a:cs typeface="メイリオ"/>
              </a:rPr>
              <a:t>AI エージェントが Entra ID のトークンで Gateway につながるかを、最初に確かめる</a:t>
            </a:r>
          </a:p>
        </p:txBody>
      </p:sp>
      <p:sp>
        <p:nvSpPr>
          <p:cNvPr id="4" name="Rectangle 3"/>
          <p:cNvSpPr/>
          <p:nvPr/>
        </p:nvSpPr>
        <p:spPr>
          <a:xfrm>
            <a:off x="409575" y="866775"/>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114425"/>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7" name="Rounded Rectangle 6"/>
          <p:cNvSpPr/>
          <p:nvPr/>
        </p:nvSpPr>
        <p:spPr>
          <a:xfrm>
            <a:off x="2209800" y="1114425"/>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57450"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9" name="Rounded Rectangle 8"/>
          <p:cNvSpPr/>
          <p:nvPr/>
        </p:nvSpPr>
        <p:spPr>
          <a:xfrm>
            <a:off x="4333875" y="1114425"/>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525"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1" name="Rounded Rectangle 10"/>
          <p:cNvSpPr/>
          <p:nvPr/>
        </p:nvSpPr>
        <p:spPr>
          <a:xfrm>
            <a:off x="5810250" y="1114425"/>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57900"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3" name="Rounded Rectangle 12"/>
          <p:cNvSpPr/>
          <p:nvPr/>
        </p:nvSpPr>
        <p:spPr>
          <a:xfrm>
            <a:off x="409575" y="1419225"/>
            <a:ext cx="11372850" cy="6667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900" b="1">
                <a:solidFill>
                  <a:srgbClr val="F5F5F8"/>
                </a:solidFill>
                <a:latin typeface="Amazon Ember"/>
                <a:ea typeface="メイリオ"/>
                <a:cs typeface="メイリオ"/>
              </a:rPr>
              <a:t>1. お使いの AI エージェントで、トークンを取って更新しながら Gateway を呼べるか</a:t>
            </a:r>
          </a:p>
        </p:txBody>
      </p:sp>
      <p:sp>
        <p:nvSpPr>
          <p:cNvPr id="14" name="Rounded Rectangle 13"/>
          <p:cNvSpPr/>
          <p:nvPr/>
        </p:nvSpPr>
        <p:spPr>
          <a:xfrm>
            <a:off x="409575" y="2238375"/>
            <a:ext cx="11372850" cy="5143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2. 利用者ごとの OAuth なら、初回の同意画面を AI エージェントが利用者に出せるか</a:t>
            </a:r>
          </a:p>
        </p:txBody>
      </p:sp>
      <p:sp>
        <p:nvSpPr>
          <p:cNvPr id="15" name="Rounded Rectangle 14"/>
          <p:cNvSpPr/>
          <p:nvPr/>
        </p:nvSpPr>
        <p:spPr>
          <a:xfrm>
            <a:off x="409575" y="2867025"/>
            <a:ext cx="11372850" cy="5143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3. Policy で、利用者や役割ごとに呼べるツールを分けられるか</a:t>
            </a:r>
          </a:p>
        </p:txBody>
      </p:sp>
      <p:sp>
        <p:nvSpPr>
          <p:cNvPr id="16" name="Rounded Rectangle 15"/>
          <p:cNvSpPr/>
          <p:nvPr/>
        </p:nvSpPr>
        <p:spPr>
          <a:xfrm>
            <a:off x="409575" y="3495675"/>
            <a:ext cx="11372850" cy="5143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4. 鍵の入れ替え、同意の取り消し、退職時の停止ができるか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TROUBLESHOOT</a:t>
            </a:r>
          </a:p>
        </p:txBody>
      </p:sp>
      <p:sp>
        <p:nvSpPr>
          <p:cNvPr id="3" name="TextBox 2"/>
          <p:cNvSpPr txBox="1"/>
          <p:nvPr/>
        </p:nvSpPr>
        <p:spPr>
          <a:xfrm>
            <a:off x="409575" y="476250"/>
            <a:ext cx="11449050" cy="539750"/>
          </a:xfrm>
          <a:prstGeom prst="rect">
            <a:avLst/>
          </a:prstGeom>
          <a:noFill/>
        </p:spPr>
        <p:txBody>
          <a:bodyPr wrap="square" lIns="0" rIns="0" tIns="0" bIns="0" anchor="ctr">
            <a:spAutoFit/>
          </a:bodyPr>
          <a:lstStyle/>
          <a:p>
            <a:pPr algn="l">
              <a:lnSpc>
                <a:spcPct val="122000"/>
              </a:lnSpc>
            </a:pPr>
            <a:r>
              <a:rPr sz="3400" b="1">
                <a:solidFill>
                  <a:srgbClr val="FFFFFF"/>
                </a:solidFill>
                <a:latin typeface="Amazon Ember"/>
                <a:ea typeface="メイリオ"/>
                <a:cs typeface="メイリオ"/>
              </a:rPr>
              <a:t>止まった場所で、どこが足りないかを切り分ける</a:t>
            </a:r>
          </a:p>
        </p:txBody>
      </p:sp>
      <p:sp>
        <p:nvSpPr>
          <p:cNvPr id="4" name="Rectangle 3"/>
          <p:cNvSpPr/>
          <p:nvPr/>
        </p:nvSpPr>
        <p:spPr>
          <a:xfrm>
            <a:off x="409575" y="107315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314450"/>
            <a:ext cx="171450" cy="171450"/>
          </a:xfrm>
          <a:prstGeom prst="roundRect">
            <a:avLst>
              <a:gd name="adj" fmla="val 20000"/>
            </a:avLst>
          </a:prstGeom>
          <a:solidFill>
            <a:srgbClr val="DC3C5A"/>
          </a:solidFill>
          <a:ln w="1270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止まった場所</a:t>
            </a:r>
          </a:p>
        </p:txBody>
      </p:sp>
      <p:sp>
        <p:nvSpPr>
          <p:cNvPr id="7" name="Rounded Rectangle 6"/>
          <p:cNvSpPr/>
          <p:nvPr/>
        </p:nvSpPr>
        <p:spPr>
          <a:xfrm>
            <a:off x="2047875" y="13144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955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足りないもの</a:t>
            </a:r>
          </a:p>
        </p:txBody>
      </p:sp>
      <p:sp>
        <p:nvSpPr>
          <p:cNvPr id="9" name="Rounded Rectangle 8"/>
          <p:cNvSpPr/>
          <p:nvPr/>
        </p:nvSpPr>
        <p:spPr>
          <a:xfrm>
            <a:off x="3686175" y="13144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38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直し方</a:t>
            </a:r>
          </a:p>
        </p:txBody>
      </p:sp>
      <p:sp>
        <p:nvSpPr>
          <p:cNvPr id="11" name="TextBox 10"/>
          <p:cNvSpPr txBox="1"/>
          <p:nvPr/>
        </p:nvSpPr>
        <p:spPr>
          <a:xfrm>
            <a:off x="409575" y="1619250"/>
            <a:ext cx="3429000" cy="304800"/>
          </a:xfrm>
          <a:prstGeom prst="rect">
            <a:avLst/>
          </a:prstGeom>
          <a:noFill/>
        </p:spPr>
        <p:txBody>
          <a:bodyPr wrap="square" lIns="0" rIns="0" tIns="0" bIns="0" anchor="ctr">
            <a:spAutoFit/>
          </a:bodyPr>
          <a:lstStyle/>
          <a:p>
            <a:pPr algn="ctr">
              <a:lnSpc>
                <a:spcPct val="122000"/>
              </a:lnSpc>
            </a:pPr>
            <a:r>
              <a:rPr sz="1800" b="1">
                <a:solidFill>
                  <a:srgbClr val="A0A0A8"/>
                </a:solidFill>
                <a:latin typeface="Amazon Ember"/>
                <a:ea typeface="メイリオ"/>
                <a:cs typeface="メイリオ"/>
              </a:rPr>
              <a:t>止まった場所</a:t>
            </a:r>
          </a:p>
        </p:txBody>
      </p:sp>
      <p:sp>
        <p:nvSpPr>
          <p:cNvPr id="12" name="TextBox 11"/>
          <p:cNvSpPr txBox="1"/>
          <p:nvPr/>
        </p:nvSpPr>
        <p:spPr>
          <a:xfrm>
            <a:off x="4410075" y="1619250"/>
            <a:ext cx="3619500" cy="304800"/>
          </a:xfrm>
          <a:prstGeom prst="rect">
            <a:avLst/>
          </a:prstGeom>
          <a:noFill/>
        </p:spPr>
        <p:txBody>
          <a:bodyPr wrap="square" lIns="0" rIns="0" tIns="0" bIns="0" anchor="ctr">
            <a:spAutoFit/>
          </a:bodyPr>
          <a:lstStyle/>
          <a:p>
            <a:pPr algn="ctr">
              <a:lnSpc>
                <a:spcPct val="122000"/>
              </a:lnSpc>
            </a:pPr>
            <a:r>
              <a:rPr sz="1800" b="1">
                <a:solidFill>
                  <a:srgbClr val="A0A0A8"/>
                </a:solidFill>
                <a:latin typeface="Amazon Ember"/>
                <a:ea typeface="メイリオ"/>
                <a:cs typeface="メイリオ"/>
              </a:rPr>
              <a:t>足りないもの</a:t>
            </a:r>
          </a:p>
        </p:txBody>
      </p:sp>
      <p:sp>
        <p:nvSpPr>
          <p:cNvPr id="13" name="TextBox 12"/>
          <p:cNvSpPr txBox="1"/>
          <p:nvPr/>
        </p:nvSpPr>
        <p:spPr>
          <a:xfrm>
            <a:off x="8601075" y="1619250"/>
            <a:ext cx="3181350" cy="304800"/>
          </a:xfrm>
          <a:prstGeom prst="rect">
            <a:avLst/>
          </a:prstGeom>
          <a:noFill/>
        </p:spPr>
        <p:txBody>
          <a:bodyPr wrap="square" lIns="0" rIns="0" tIns="0" bIns="0" anchor="ctr">
            <a:spAutoFit/>
          </a:bodyPr>
          <a:lstStyle/>
          <a:p>
            <a:pPr algn="ctr">
              <a:lnSpc>
                <a:spcPct val="122000"/>
              </a:lnSpc>
            </a:pPr>
            <a:r>
              <a:rPr sz="1800" b="1">
                <a:solidFill>
                  <a:srgbClr val="A0A0A8"/>
                </a:solidFill>
                <a:latin typeface="Amazon Ember"/>
                <a:ea typeface="メイリオ"/>
                <a:cs typeface="メイリオ"/>
              </a:rPr>
              <a:t>直し方</a:t>
            </a:r>
          </a:p>
        </p:txBody>
      </p:sp>
      <p:sp>
        <p:nvSpPr>
          <p:cNvPr id="14" name="Rounded Rectangle 13"/>
          <p:cNvSpPr/>
          <p:nvPr/>
        </p:nvSpPr>
        <p:spPr>
          <a:xfrm>
            <a:off x="409575" y="2038350"/>
            <a:ext cx="3429000" cy="8763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サインイン画面が出ない</a:t>
            </a:r>
          </a:p>
        </p:txBody>
      </p:sp>
      <p:sp>
        <p:nvSpPr>
          <p:cNvPr id="15" name="Rounded Rectangle 14"/>
          <p:cNvSpPr/>
          <p:nvPr/>
        </p:nvSpPr>
        <p:spPr>
          <a:xfrm>
            <a:off x="4410075" y="2038350"/>
            <a:ext cx="3619500" cy="8763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A. AI エージェントが自分を</a:t>
            </a:r>
          </a:p>
          <a:p>
            <a:pPr algn="ctr">
              <a:lnSpc>
                <a:spcPct val="122000"/>
              </a:lnSpc>
            </a:pPr>
            <a:r>
              <a:rPr sz="1600" b="1">
                <a:solidFill>
                  <a:srgbClr val="F5F5F8"/>
                </a:solidFill>
                <a:latin typeface="Amazon Ember"/>
                <a:ea typeface="メイリオ"/>
                <a:cs typeface="メイリオ"/>
              </a:rPr>
              <a:t>アプリの名簿に自動で登録できない</a:t>
            </a:r>
          </a:p>
        </p:txBody>
      </p:sp>
      <p:sp>
        <p:nvSpPr>
          <p:cNvPr id="16" name="Rounded Rectangle 15"/>
          <p:cNvSpPr/>
          <p:nvPr/>
        </p:nvSpPr>
        <p:spPr>
          <a:xfrm>
            <a:off x="8601075" y="2038350"/>
            <a:ext cx="3181350" cy="8763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事前登録するか、</a:t>
            </a:r>
          </a:p>
          <a:p>
            <a:pPr algn="ctr">
              <a:lnSpc>
                <a:spcPct val="122000"/>
              </a:lnSpc>
            </a:pPr>
            <a:r>
              <a:rPr sz="1600" b="1">
                <a:solidFill>
                  <a:srgbClr val="F5F5F8"/>
                </a:solidFill>
                <a:latin typeface="Amazon Ember"/>
                <a:ea typeface="メイリオ"/>
                <a:cs typeface="メイリオ"/>
              </a:rPr>
              <a:t>中継サーバーを手前に置く</a:t>
            </a:r>
          </a:p>
        </p:txBody>
      </p:sp>
      <p:cxnSp>
        <p:nvCxnSpPr>
          <p:cNvPr id="17" name="Connector 16"/>
          <p:cNvCxnSpPr>
            <a:stCxn id="14" idx="3"/>
            <a:endCxn id="15" idx="1"/>
          </p:cNvCxnSpPr>
          <p:nvPr/>
        </p:nvCxnSpPr>
        <p:spPr>
          <a:xfrm flipV="1">
            <a:off x="3838575" y="2476500"/>
            <a:ext cx="5715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a:stCxn id="15" idx="3"/>
            <a:endCxn id="16" idx="1"/>
          </p:cNvCxnSpPr>
          <p:nvPr/>
        </p:nvCxnSpPr>
        <p:spPr>
          <a:xfrm flipV="1">
            <a:off x="8029575" y="2476500"/>
            <a:ext cx="5715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09575" y="3086100"/>
            <a:ext cx="3429000" cy="8763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サインインはできたが</a:t>
            </a:r>
          </a:p>
          <a:p>
            <a:pPr algn="ctr">
              <a:lnSpc>
                <a:spcPct val="122000"/>
              </a:lnSpc>
            </a:pPr>
            <a:r>
              <a:rPr sz="1700" b="1">
                <a:solidFill>
                  <a:srgbClr val="F5F5F8"/>
                </a:solidFill>
                <a:latin typeface="Amazon Ember"/>
                <a:ea typeface="メイリオ"/>
                <a:cs typeface="メイリオ"/>
              </a:rPr>
              <a:t>Gateway が通さない</a:t>
            </a:r>
          </a:p>
        </p:txBody>
      </p:sp>
      <p:sp>
        <p:nvSpPr>
          <p:cNvPr id="20" name="Rounded Rectangle 19"/>
          <p:cNvSpPr/>
          <p:nvPr/>
        </p:nvSpPr>
        <p:spPr>
          <a:xfrm>
            <a:off x="4410075" y="3086100"/>
            <a:ext cx="3619500" cy="8763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B. 通行証の宛先が</a:t>
            </a:r>
          </a:p>
          <a:p>
            <a:pPr algn="ctr">
              <a:lnSpc>
                <a:spcPct val="122000"/>
              </a:lnSpc>
            </a:pPr>
            <a:r>
              <a:rPr sz="1600" b="1">
                <a:solidFill>
                  <a:srgbClr val="F5F5F8"/>
                </a:solidFill>
                <a:latin typeface="Amazon Ember"/>
                <a:ea typeface="メイリオ"/>
                <a:cs typeface="メイリオ"/>
              </a:rPr>
              <a:t>Gateway の照合条件と合わない</a:t>
            </a:r>
          </a:p>
        </p:txBody>
      </p:sp>
      <p:sp>
        <p:nvSpPr>
          <p:cNvPr id="21" name="Rounded Rectangle 20"/>
          <p:cNvSpPr/>
          <p:nvPr/>
        </p:nvSpPr>
        <p:spPr>
          <a:xfrm>
            <a:off x="8601075" y="3086100"/>
            <a:ext cx="3181350" cy="8763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Entra ID のアプリ登録と</a:t>
            </a:r>
          </a:p>
          <a:p>
            <a:pPr algn="ctr">
              <a:lnSpc>
                <a:spcPct val="122000"/>
              </a:lnSpc>
            </a:pPr>
            <a:r>
              <a:rPr sz="1600" b="1">
                <a:solidFill>
                  <a:srgbClr val="F5F5F8"/>
                </a:solidFill>
                <a:latin typeface="Amazon Ember"/>
                <a:ea typeface="メイリオ"/>
                <a:cs typeface="メイリオ"/>
              </a:rPr>
              <a:t>Gateway の照合条件を合わせる</a:t>
            </a:r>
          </a:p>
        </p:txBody>
      </p:sp>
      <p:cxnSp>
        <p:nvCxnSpPr>
          <p:cNvPr id="22" name="Connector 21"/>
          <p:cNvCxnSpPr>
            <a:stCxn id="19" idx="3"/>
            <a:endCxn id="20" idx="1"/>
          </p:cNvCxnSpPr>
          <p:nvPr/>
        </p:nvCxnSpPr>
        <p:spPr>
          <a:xfrm flipV="1">
            <a:off x="3838575" y="3524250"/>
            <a:ext cx="5715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a:stCxn id="20" idx="3"/>
            <a:endCxn id="21" idx="1"/>
          </p:cNvCxnSpPr>
          <p:nvPr/>
        </p:nvCxnSpPr>
        <p:spPr>
          <a:xfrm flipV="1">
            <a:off x="8029575" y="3524250"/>
            <a:ext cx="5715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09575" y="4133850"/>
            <a:ext cx="3429000" cy="8763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最初は動くが</a:t>
            </a:r>
          </a:p>
          <a:p>
            <a:pPr algn="ctr">
              <a:lnSpc>
                <a:spcPct val="122000"/>
              </a:lnSpc>
            </a:pPr>
            <a:r>
              <a:rPr sz="1700" b="1">
                <a:solidFill>
                  <a:srgbClr val="F5F5F8"/>
                </a:solidFill>
                <a:latin typeface="Amazon Ember"/>
                <a:ea typeface="メイリオ"/>
                <a:cs typeface="メイリオ"/>
              </a:rPr>
              <a:t>期限のころに止まる</a:t>
            </a:r>
          </a:p>
        </p:txBody>
      </p:sp>
      <p:sp>
        <p:nvSpPr>
          <p:cNvPr id="25" name="Rounded Rectangle 24"/>
          <p:cNvSpPr/>
          <p:nvPr/>
        </p:nvSpPr>
        <p:spPr>
          <a:xfrm>
            <a:off x="4410075" y="4133850"/>
            <a:ext cx="3619500" cy="8763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C. AI エージェントが期限前に</a:t>
            </a:r>
          </a:p>
          <a:p>
            <a:pPr algn="ctr">
              <a:lnSpc>
                <a:spcPct val="122000"/>
              </a:lnSpc>
            </a:pPr>
            <a:r>
              <a:rPr sz="1600" b="1">
                <a:solidFill>
                  <a:srgbClr val="F5F5F8"/>
                </a:solidFill>
                <a:latin typeface="Amazon Ember"/>
                <a:ea typeface="メイリオ"/>
                <a:cs typeface="メイリオ"/>
              </a:rPr>
              <a:t>通行証をもらい直せない</a:t>
            </a:r>
          </a:p>
        </p:txBody>
      </p:sp>
      <p:sp>
        <p:nvSpPr>
          <p:cNvPr id="26" name="Rounded Rectangle 25"/>
          <p:cNvSpPr/>
          <p:nvPr/>
        </p:nvSpPr>
        <p:spPr>
          <a:xfrm>
            <a:off x="8601075" y="4133850"/>
            <a:ext cx="3181350" cy="8763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AI エージェントの</a:t>
            </a:r>
          </a:p>
          <a:p>
            <a:pPr algn="ctr">
              <a:lnSpc>
                <a:spcPct val="122000"/>
              </a:lnSpc>
            </a:pPr>
            <a:r>
              <a:rPr sz="1600" b="1">
                <a:solidFill>
                  <a:srgbClr val="F5F5F8"/>
                </a:solidFill>
                <a:latin typeface="Amazon Ember"/>
                <a:ea typeface="メイリオ"/>
                <a:cs typeface="メイリオ"/>
              </a:rPr>
              <a:t>提供元に確認する</a:t>
            </a:r>
          </a:p>
        </p:txBody>
      </p:sp>
      <p:cxnSp>
        <p:nvCxnSpPr>
          <p:cNvPr id="27" name="Connector 26"/>
          <p:cNvCxnSpPr>
            <a:stCxn id="24" idx="3"/>
            <a:endCxn id="25" idx="1"/>
          </p:cNvCxnSpPr>
          <p:nvPr/>
        </p:nvCxnSpPr>
        <p:spPr>
          <a:xfrm flipV="1">
            <a:off x="3838575" y="4572000"/>
            <a:ext cx="5715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a:stCxn id="25" idx="3"/>
            <a:endCxn id="26" idx="1"/>
          </p:cNvCxnSpPr>
          <p:nvPr/>
        </p:nvCxnSpPr>
        <p:spPr>
          <a:xfrm flipV="1">
            <a:off x="8029575" y="4572000"/>
            <a:ext cx="5715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FIX A</a:t>
            </a:r>
          </a:p>
        </p:txBody>
      </p:sp>
      <p:sp>
        <p:nvSpPr>
          <p:cNvPr id="3" name="TextBox 2"/>
          <p:cNvSpPr txBox="1"/>
          <p:nvPr/>
        </p:nvSpPr>
        <p:spPr>
          <a:xfrm>
            <a:off x="409575" y="476250"/>
            <a:ext cx="11449050" cy="388937"/>
          </a:xfrm>
          <a:prstGeom prst="rect">
            <a:avLst/>
          </a:prstGeom>
          <a:noFill/>
        </p:spPr>
        <p:txBody>
          <a:bodyPr wrap="square" lIns="0" rIns="0" tIns="0" bIns="0" anchor="ctr">
            <a:spAutoFit/>
          </a:bodyPr>
          <a:lstStyle/>
          <a:p>
            <a:pPr algn="l">
              <a:lnSpc>
                <a:spcPct val="122000"/>
              </a:lnSpc>
            </a:pPr>
            <a:r>
              <a:rPr sz="2450" b="1">
                <a:solidFill>
                  <a:srgbClr val="FFFFFF"/>
                </a:solidFill>
                <a:latin typeface="Amazon Ember"/>
                <a:ea typeface="メイリオ"/>
                <a:cs typeface="メイリオ"/>
              </a:rPr>
              <a:t>A の直し方: 名簿に載る方法を、AI エージェントに合わせて 2 通りから選ぶ</a:t>
            </a:r>
          </a:p>
        </p:txBody>
      </p:sp>
      <p:sp>
        <p:nvSpPr>
          <p:cNvPr id="4" name="Rectangle 3"/>
          <p:cNvSpPr/>
          <p:nvPr/>
        </p:nvSpPr>
        <p:spPr>
          <a:xfrm>
            <a:off x="409575" y="922338"/>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1620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1049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7" name="Rounded Rectangle 6"/>
          <p:cNvSpPr/>
          <p:nvPr/>
        </p:nvSpPr>
        <p:spPr>
          <a:xfrm>
            <a:off x="2209800" y="11620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57450" y="11049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9" name="Rounded Rectangle 8"/>
          <p:cNvSpPr/>
          <p:nvPr/>
        </p:nvSpPr>
        <p:spPr>
          <a:xfrm>
            <a:off x="4333875" y="11620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525" y="11049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1" name="Rounded Rectangle 10"/>
          <p:cNvSpPr/>
          <p:nvPr/>
        </p:nvSpPr>
        <p:spPr>
          <a:xfrm>
            <a:off x="5810250" y="11620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57900" y="11049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3" name="TextBox 12"/>
          <p:cNvSpPr txBox="1"/>
          <p:nvPr/>
        </p:nvSpPr>
        <p:spPr>
          <a:xfrm>
            <a:off x="409575" y="1466850"/>
            <a:ext cx="5467350" cy="323850"/>
          </a:xfrm>
          <a:prstGeom prst="rect">
            <a:avLst/>
          </a:prstGeom>
          <a:noFill/>
        </p:spPr>
        <p:txBody>
          <a:bodyPr wrap="square" lIns="0" rIns="0" tIns="0" bIns="0" anchor="ctr">
            <a:spAutoFit/>
          </a:bodyPr>
          <a:lstStyle/>
          <a:p>
            <a:pPr algn="ctr">
              <a:lnSpc>
                <a:spcPct val="122000"/>
              </a:lnSpc>
            </a:pPr>
            <a:r>
              <a:rPr sz="1900" b="1">
                <a:solidFill>
                  <a:srgbClr val="F5F5F8"/>
                </a:solidFill>
                <a:latin typeface="Amazon Ember"/>
                <a:ea typeface="メイリオ"/>
                <a:cs typeface="メイリオ"/>
              </a:rPr>
              <a:t>方法 1: 管理者が前もって名簿に載せる</a:t>
            </a:r>
          </a:p>
        </p:txBody>
      </p:sp>
      <p:sp>
        <p:nvSpPr>
          <p:cNvPr id="14" name="TextBox 13"/>
          <p:cNvSpPr txBox="1"/>
          <p:nvPr/>
        </p:nvSpPr>
        <p:spPr>
          <a:xfrm>
            <a:off x="6315075" y="1466850"/>
            <a:ext cx="5467350" cy="323850"/>
          </a:xfrm>
          <a:prstGeom prst="rect">
            <a:avLst/>
          </a:prstGeom>
          <a:noFill/>
        </p:spPr>
        <p:txBody>
          <a:bodyPr wrap="square" lIns="0" rIns="0" tIns="0" bIns="0" anchor="ctr">
            <a:spAutoFit/>
          </a:bodyPr>
          <a:lstStyle/>
          <a:p>
            <a:pPr algn="ctr">
              <a:lnSpc>
                <a:spcPct val="122000"/>
              </a:lnSpc>
            </a:pPr>
            <a:r>
              <a:rPr sz="1900" b="1">
                <a:solidFill>
                  <a:srgbClr val="F5F5F8"/>
                </a:solidFill>
                <a:latin typeface="Amazon Ember"/>
                <a:ea typeface="メイリオ"/>
                <a:cs typeface="メイリオ"/>
              </a:rPr>
              <a:t>方法 2: 自動登録に応える中継サーバーを置く</a:t>
            </a:r>
          </a:p>
        </p:txBody>
      </p:sp>
      <p:sp>
        <p:nvSpPr>
          <p:cNvPr id="15" name="Rounded Rectangle 14"/>
          <p:cNvSpPr/>
          <p:nvPr/>
        </p:nvSpPr>
        <p:spPr>
          <a:xfrm>
            <a:off x="600075" y="1943100"/>
            <a:ext cx="2381250" cy="5715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管理者が Entra ID に</a:t>
            </a:r>
          </a:p>
          <a:p>
            <a:pPr algn="ctr">
              <a:lnSpc>
                <a:spcPct val="122000"/>
              </a:lnSpc>
            </a:pPr>
            <a:r>
              <a:rPr sz="1500" b="1">
                <a:solidFill>
                  <a:srgbClr val="F5F5F8"/>
                </a:solidFill>
                <a:latin typeface="Amazon Ember"/>
                <a:ea typeface="メイリオ"/>
                <a:cs typeface="メイリオ"/>
              </a:rPr>
              <a:t>AI エージェントを登録</a:t>
            </a:r>
          </a:p>
        </p:txBody>
      </p:sp>
      <p:sp>
        <p:nvSpPr>
          <p:cNvPr id="16" name="Rounded Rectangle 15"/>
          <p:cNvSpPr/>
          <p:nvPr/>
        </p:nvSpPr>
        <p:spPr>
          <a:xfrm>
            <a:off x="3267075" y="1943100"/>
            <a:ext cx="2381250" cy="5715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client ID を</a:t>
            </a:r>
          </a:p>
          <a:p>
            <a:pPr algn="ctr">
              <a:lnSpc>
                <a:spcPct val="122000"/>
              </a:lnSpc>
            </a:pPr>
            <a:r>
              <a:rPr sz="1500" b="1">
                <a:solidFill>
                  <a:srgbClr val="F5F5F8"/>
                </a:solidFill>
                <a:latin typeface="Amazon Ember"/>
                <a:ea typeface="メイリオ"/>
                <a:cs typeface="メイリオ"/>
              </a:rPr>
              <a:t>AI エージェントに設定</a:t>
            </a:r>
          </a:p>
        </p:txBody>
      </p:sp>
      <p:sp>
        <p:nvSpPr>
          <p:cNvPr id="17" name="Rounded Rectangle 16"/>
          <p:cNvSpPr/>
          <p:nvPr/>
        </p:nvSpPr>
        <p:spPr>
          <a:xfrm>
            <a:off x="600075" y="2990850"/>
            <a:ext cx="23812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AI エージェント</a:t>
            </a:r>
          </a:p>
        </p:txBody>
      </p:sp>
      <p:sp>
        <p:nvSpPr>
          <p:cNvPr id="18" name="Rounded Rectangle 17"/>
          <p:cNvSpPr/>
          <p:nvPr/>
        </p:nvSpPr>
        <p:spPr>
          <a:xfrm>
            <a:off x="3267075" y="2990850"/>
            <a:ext cx="23812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Entra ID</a:t>
            </a:r>
          </a:p>
        </p:txBody>
      </p:sp>
      <p:sp>
        <p:nvSpPr>
          <p:cNvPr id="19" name="Rounded Rectangle 18"/>
          <p:cNvSpPr/>
          <p:nvPr/>
        </p:nvSpPr>
        <p:spPr>
          <a:xfrm>
            <a:off x="1933575" y="4038600"/>
            <a:ext cx="238125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Gateway</a:t>
            </a:r>
          </a:p>
        </p:txBody>
      </p:sp>
      <p:cxnSp>
        <p:nvCxnSpPr>
          <p:cNvPr id="20" name="Connector 19"/>
          <p:cNvCxnSpPr>
            <a:stCxn id="15" idx="3"/>
            <a:endCxn id="16" idx="1"/>
          </p:cNvCxnSpPr>
          <p:nvPr/>
        </p:nvCxnSpPr>
        <p:spPr>
          <a:xfrm flipV="1">
            <a:off x="2981325" y="2228850"/>
            <a:ext cx="28575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a:stCxn id="16" idx="2"/>
            <a:endCxn id="17" idx="0"/>
          </p:cNvCxnSpPr>
          <p:nvPr/>
        </p:nvCxnSpPr>
        <p:spPr>
          <a:xfrm flipH="1">
            <a:off x="1790700" y="2514600"/>
            <a:ext cx="2667000" cy="476250"/>
          </a:xfrm>
          <a:prstGeom prst="line">
            <a:avLst/>
          </a:prstGeom>
          <a:ln w="25400">
            <a:solidFill>
              <a:srgbClr val="24A046"/>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a:stCxn id="17" idx="3"/>
            <a:endCxn id="18" idx="1"/>
          </p:cNvCxnSpPr>
          <p:nvPr/>
        </p:nvCxnSpPr>
        <p:spPr>
          <a:xfrm flipV="1">
            <a:off x="2981325" y="3276600"/>
            <a:ext cx="28575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a:stCxn id="17" idx="2"/>
            <a:endCxn id="19" idx="1"/>
          </p:cNvCxnSpPr>
          <p:nvPr/>
        </p:nvCxnSpPr>
        <p:spPr>
          <a:xfrm>
            <a:off x="1790700" y="3562350"/>
            <a:ext cx="142875" cy="7620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00075" y="4800600"/>
            <a:ext cx="5048250" cy="4762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条件: AI エージェントに client ID の設定欄がある</a:t>
            </a:r>
          </a:p>
        </p:txBody>
      </p:sp>
      <p:sp>
        <p:nvSpPr>
          <p:cNvPr id="25" name="Rounded Rectangle 24"/>
          <p:cNvSpPr/>
          <p:nvPr/>
        </p:nvSpPr>
        <p:spPr>
          <a:xfrm>
            <a:off x="6505575" y="1943100"/>
            <a:ext cx="21907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AI エージェント</a:t>
            </a:r>
          </a:p>
        </p:txBody>
      </p:sp>
      <p:sp>
        <p:nvSpPr>
          <p:cNvPr id="26" name="Rounded Rectangle 25"/>
          <p:cNvSpPr/>
          <p:nvPr/>
        </p:nvSpPr>
        <p:spPr>
          <a:xfrm>
            <a:off x="9363075" y="1943100"/>
            <a:ext cx="2381250" cy="5715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400" b="1">
                <a:solidFill>
                  <a:srgbClr val="F5F5F8"/>
                </a:solidFill>
                <a:latin typeface="Amazon Ember"/>
                <a:ea typeface="メイリオ"/>
                <a:cs typeface="メイリオ"/>
              </a:rPr>
              <a:t>中継サーバー</a:t>
            </a:r>
          </a:p>
          <a:p>
            <a:pPr algn="ctr">
              <a:lnSpc>
                <a:spcPct val="122000"/>
              </a:lnSpc>
            </a:pPr>
            <a:r>
              <a:rPr sz="1400" b="1">
                <a:solidFill>
                  <a:srgbClr val="F5F5F8"/>
                </a:solidFill>
                <a:latin typeface="Amazon Ember"/>
                <a:ea typeface="メイリオ"/>
                <a:cs typeface="メイリオ"/>
              </a:rPr>
              <a:t>API Gateway+Lambda</a:t>
            </a:r>
          </a:p>
        </p:txBody>
      </p:sp>
      <p:sp>
        <p:nvSpPr>
          <p:cNvPr id="27" name="Rounded Rectangle 26"/>
          <p:cNvSpPr/>
          <p:nvPr/>
        </p:nvSpPr>
        <p:spPr>
          <a:xfrm>
            <a:off x="9363075" y="2990850"/>
            <a:ext cx="23812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Entra ID で</a:t>
            </a:r>
          </a:p>
          <a:p>
            <a:pPr algn="ctr">
              <a:lnSpc>
                <a:spcPct val="122000"/>
              </a:lnSpc>
            </a:pPr>
            <a:r>
              <a:rPr sz="1500" b="1">
                <a:solidFill>
                  <a:srgbClr val="F5F5F8"/>
                </a:solidFill>
                <a:latin typeface="Amazon Ember"/>
                <a:ea typeface="メイリオ"/>
                <a:cs typeface="メイリオ"/>
              </a:rPr>
              <a:t>サインイン</a:t>
            </a:r>
          </a:p>
        </p:txBody>
      </p:sp>
      <p:sp>
        <p:nvSpPr>
          <p:cNvPr id="28" name="Rounded Rectangle 27"/>
          <p:cNvSpPr/>
          <p:nvPr/>
        </p:nvSpPr>
        <p:spPr>
          <a:xfrm>
            <a:off x="6505575" y="4038600"/>
            <a:ext cx="219075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Gateway</a:t>
            </a:r>
          </a:p>
        </p:txBody>
      </p:sp>
      <p:cxnSp>
        <p:nvCxnSpPr>
          <p:cNvPr id="29" name="Connector 28"/>
          <p:cNvCxnSpPr>
            <a:stCxn id="25" idx="3"/>
            <a:endCxn id="26" idx="1"/>
          </p:cNvCxnSpPr>
          <p:nvPr/>
        </p:nvCxnSpPr>
        <p:spPr>
          <a:xfrm flipV="1">
            <a:off x="8696325" y="2228850"/>
            <a:ext cx="66675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a:stCxn id="26" idx="2"/>
            <a:endCxn id="27" idx="0"/>
          </p:cNvCxnSpPr>
          <p:nvPr/>
        </p:nvCxnSpPr>
        <p:spPr>
          <a:xfrm flipH="1">
            <a:off x="10553700" y="2514600"/>
            <a:ext cx="0" cy="476250"/>
          </a:xfrm>
          <a:prstGeom prst="line">
            <a:avLst/>
          </a:prstGeom>
          <a:ln w="25400">
            <a:solidFill>
              <a:srgbClr val="24A046"/>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a:stCxn id="25" idx="2"/>
            <a:endCxn id="28" idx="0"/>
          </p:cNvCxnSpPr>
          <p:nvPr/>
        </p:nvCxnSpPr>
        <p:spPr>
          <a:xfrm flipH="1">
            <a:off x="7600950" y="2514600"/>
            <a:ext cx="0" cy="15240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886825" y="4038600"/>
            <a:ext cx="2857500" cy="571500"/>
          </a:xfrm>
          <a:prstGeom prst="rect">
            <a:avLst/>
          </a:prstGeom>
          <a:noFill/>
        </p:spPr>
        <p:txBody>
          <a:bodyPr wrap="square" lIns="0" rIns="0" tIns="0" bIns="0" anchor="ctr">
            <a:spAutoFit/>
          </a:bodyPr>
          <a:lstStyle/>
          <a:p>
            <a:pPr algn="l">
              <a:lnSpc>
                <a:spcPct val="122000"/>
              </a:lnSpc>
            </a:pPr>
            <a:r>
              <a:rPr sz="1500" b="0">
                <a:solidFill>
                  <a:srgbClr val="2896F0"/>
                </a:solidFill>
                <a:latin typeface="Amazon Ember"/>
                <a:ea typeface="メイリオ"/>
                <a:cs typeface="メイリオ"/>
              </a:rPr>
              <a:t>トークンは Entra ID が出す</a:t>
            </a:r>
          </a:p>
          <a:p>
            <a:pPr algn="l">
              <a:lnSpc>
                <a:spcPct val="122000"/>
              </a:lnSpc>
            </a:pPr>
            <a:r>
              <a:rPr sz="1500" b="0">
                <a:solidFill>
                  <a:srgbClr val="2896F0"/>
                </a:solidFill>
                <a:latin typeface="Amazon Ember"/>
                <a:ea typeface="メイリオ"/>
                <a:cs typeface="メイリオ"/>
              </a:rPr>
              <a:t>Gateway の照合はそのまま</a:t>
            </a:r>
          </a:p>
        </p:txBody>
      </p:sp>
      <p:sp>
        <p:nvSpPr>
          <p:cNvPr id="33" name="Rounded Rectangle 32"/>
          <p:cNvSpPr/>
          <p:nvPr/>
        </p:nvSpPr>
        <p:spPr>
          <a:xfrm>
            <a:off x="6505575" y="4800600"/>
            <a:ext cx="5238750" cy="4762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中継サーバーはお客様が作って運用する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FIX A-1</a:t>
            </a:r>
          </a:p>
        </p:txBody>
      </p:sp>
      <p:sp>
        <p:nvSpPr>
          <p:cNvPr id="3" name="TextBox 2"/>
          <p:cNvSpPr txBox="1"/>
          <p:nvPr/>
        </p:nvSpPr>
        <p:spPr>
          <a:xfrm>
            <a:off x="409575" y="476250"/>
            <a:ext cx="11449050" cy="341312"/>
          </a:xfrm>
          <a:prstGeom prst="rect">
            <a:avLst/>
          </a:prstGeom>
          <a:noFill/>
        </p:spPr>
        <p:txBody>
          <a:bodyPr wrap="square" lIns="0" rIns="0" tIns="0" bIns="0" anchor="ctr">
            <a:spAutoFit/>
          </a:bodyPr>
          <a:lstStyle/>
          <a:p>
            <a:pPr algn="l">
              <a:lnSpc>
                <a:spcPct val="122000"/>
              </a:lnSpc>
            </a:pPr>
            <a:r>
              <a:rPr sz="2150" b="1">
                <a:solidFill>
                  <a:srgbClr val="FFFFFF"/>
                </a:solidFill>
                <a:latin typeface="Amazon Ember"/>
                <a:ea typeface="メイリオ"/>
                <a:cs typeface="メイリオ"/>
              </a:rPr>
              <a:t>A の直し方 (方法 1): 管理者が AI エージェントを前もって Entra ID に登録する</a:t>
            </a:r>
          </a:p>
        </p:txBody>
      </p:sp>
      <p:sp>
        <p:nvSpPr>
          <p:cNvPr id="4" name="Rectangle 3"/>
          <p:cNvSpPr/>
          <p:nvPr/>
        </p:nvSpPr>
        <p:spPr>
          <a:xfrm>
            <a:off x="409575" y="874713"/>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114425"/>
            <a:ext cx="171450" cy="171450"/>
          </a:xfrm>
          <a:prstGeom prst="roundRect">
            <a:avLst>
              <a:gd name="adj" fmla="val 20000"/>
            </a:avLst>
          </a:prstGeom>
          <a:solidFill>
            <a:srgbClr val="DC3C5A"/>
          </a:solidFill>
          <a:ln w="1270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症状</a:t>
            </a:r>
          </a:p>
        </p:txBody>
      </p:sp>
      <p:sp>
        <p:nvSpPr>
          <p:cNvPr id="7" name="Rounded Rectangle 6"/>
          <p:cNvSpPr/>
          <p:nvPr/>
        </p:nvSpPr>
        <p:spPr>
          <a:xfrm>
            <a:off x="1400175" y="1114425"/>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7825"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原因</a:t>
            </a:r>
          </a:p>
        </p:txBody>
      </p:sp>
      <p:sp>
        <p:nvSpPr>
          <p:cNvPr id="9" name="Rounded Rectangle 8"/>
          <p:cNvSpPr/>
          <p:nvPr/>
        </p:nvSpPr>
        <p:spPr>
          <a:xfrm>
            <a:off x="2390775" y="1114425"/>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38425"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お客様の作業</a:t>
            </a:r>
          </a:p>
        </p:txBody>
      </p:sp>
      <p:sp>
        <p:nvSpPr>
          <p:cNvPr id="11" name="Rounded Rectangle 10"/>
          <p:cNvSpPr/>
          <p:nvPr/>
        </p:nvSpPr>
        <p:spPr>
          <a:xfrm>
            <a:off x="4029075" y="1114425"/>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6725"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の設定</a:t>
            </a:r>
          </a:p>
        </p:txBody>
      </p:sp>
      <p:sp>
        <p:nvSpPr>
          <p:cNvPr id="13" name="Rounded Rectangle 12"/>
          <p:cNvSpPr/>
          <p:nvPr/>
        </p:nvSpPr>
        <p:spPr>
          <a:xfrm>
            <a:off x="5829300" y="1114425"/>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76950"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提供元に確認</a:t>
            </a:r>
          </a:p>
        </p:txBody>
      </p:sp>
      <p:sp>
        <p:nvSpPr>
          <p:cNvPr id="15" name="Rounded Rectangle 14"/>
          <p:cNvSpPr/>
          <p:nvPr/>
        </p:nvSpPr>
        <p:spPr>
          <a:xfrm>
            <a:off x="409575" y="1419225"/>
            <a:ext cx="5524500" cy="47625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症状: サインイン画面が出ない</a:t>
            </a:r>
          </a:p>
        </p:txBody>
      </p:sp>
      <p:sp>
        <p:nvSpPr>
          <p:cNvPr id="16" name="Rounded Rectangle 15"/>
          <p:cNvSpPr/>
          <p:nvPr/>
        </p:nvSpPr>
        <p:spPr>
          <a:xfrm>
            <a:off x="6257925" y="1419225"/>
            <a:ext cx="5524500" cy="4762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原因: AI エージェントが自分をアプリの名簿に登録できない</a:t>
            </a:r>
          </a:p>
        </p:txBody>
      </p:sp>
      <p:sp>
        <p:nvSpPr>
          <p:cNvPr id="17" name="Rounded Rectangle 16"/>
          <p:cNvSpPr/>
          <p:nvPr/>
        </p:nvSpPr>
        <p:spPr>
          <a:xfrm>
            <a:off x="409575" y="2028825"/>
            <a:ext cx="2190750" cy="4381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1. AI エージェント</a:t>
            </a:r>
          </a:p>
        </p:txBody>
      </p:sp>
      <p:sp>
        <p:nvSpPr>
          <p:cNvPr id="18" name="Rounded Rectangle 17"/>
          <p:cNvSpPr/>
          <p:nvPr/>
        </p:nvSpPr>
        <p:spPr>
          <a:xfrm>
            <a:off x="2752725" y="2028825"/>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client ID を入れる欄と、サインイン後に戻る先 (リダイレクト URI) を確かめる</a:t>
            </a:r>
          </a:p>
        </p:txBody>
      </p:sp>
      <p:sp>
        <p:nvSpPr>
          <p:cNvPr id="19" name="Rounded Rectangle 18"/>
          <p:cNvSpPr/>
          <p:nvPr/>
        </p:nvSpPr>
        <p:spPr>
          <a:xfrm>
            <a:off x="409575" y="2533650"/>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2. Entra ID</a:t>
            </a:r>
          </a:p>
        </p:txBody>
      </p:sp>
      <p:sp>
        <p:nvSpPr>
          <p:cNvPr id="20" name="Rounded Rectangle 19"/>
          <p:cNvSpPr/>
          <p:nvPr/>
        </p:nvSpPr>
        <p:spPr>
          <a:xfrm>
            <a:off x="2752725" y="2533650"/>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AI エージェント用のアプリを登録し、戻る先を入れる。client ID を控える</a:t>
            </a:r>
          </a:p>
        </p:txBody>
      </p:sp>
      <p:sp>
        <p:nvSpPr>
          <p:cNvPr id="21" name="Rounded Rectangle 20"/>
          <p:cNvSpPr/>
          <p:nvPr/>
        </p:nvSpPr>
        <p:spPr>
          <a:xfrm>
            <a:off x="409575" y="3038475"/>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3. Entra ID</a:t>
            </a:r>
          </a:p>
        </p:txBody>
      </p:sp>
      <p:sp>
        <p:nvSpPr>
          <p:cNvPr id="22" name="Rounded Rectangle 21"/>
          <p:cNvSpPr/>
          <p:nvPr/>
        </p:nvSpPr>
        <p:spPr>
          <a:xfrm>
            <a:off x="2752725" y="3038475"/>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このアプリで Gateway 用の scope を公開する (公式サンプルは 1 つのアプリで兼ねる)</a:t>
            </a:r>
          </a:p>
        </p:txBody>
      </p:sp>
      <p:sp>
        <p:nvSpPr>
          <p:cNvPr id="23" name="Rounded Rectangle 22"/>
          <p:cNvSpPr/>
          <p:nvPr/>
        </p:nvSpPr>
        <p:spPr>
          <a:xfrm>
            <a:off x="409575" y="3543300"/>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4. AI エージェント</a:t>
            </a:r>
          </a:p>
        </p:txBody>
      </p:sp>
      <p:sp>
        <p:nvSpPr>
          <p:cNvPr id="24" name="Rounded Rectangle 23"/>
          <p:cNvSpPr/>
          <p:nvPr/>
        </p:nvSpPr>
        <p:spPr>
          <a:xfrm>
            <a:off x="2752725" y="3543300"/>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控えた client ID を AI エージェントの管理画面に入れる</a:t>
            </a:r>
          </a:p>
        </p:txBody>
      </p:sp>
      <p:sp>
        <p:nvSpPr>
          <p:cNvPr id="25" name="Rounded Rectangle 24"/>
          <p:cNvSpPr/>
          <p:nvPr/>
        </p:nvSpPr>
        <p:spPr>
          <a:xfrm>
            <a:off x="409575" y="4048125"/>
            <a:ext cx="2190750" cy="4381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5. Gateway</a:t>
            </a:r>
          </a:p>
        </p:txBody>
      </p:sp>
      <p:sp>
        <p:nvSpPr>
          <p:cNvPr id="26" name="Rounded Rectangle 25"/>
          <p:cNvSpPr/>
          <p:nvPr/>
        </p:nvSpPr>
        <p:spPr>
          <a:xfrm>
            <a:off x="2752725" y="4048125"/>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allowed audiences に、このアプリの client ID を入れる</a:t>
            </a:r>
          </a:p>
        </p:txBody>
      </p:sp>
      <p:sp>
        <p:nvSpPr>
          <p:cNvPr id="27" name="Rounded Rectangle 26"/>
          <p:cNvSpPr/>
          <p:nvPr/>
        </p:nvSpPr>
        <p:spPr>
          <a:xfrm>
            <a:off x="409575" y="4591050"/>
            <a:ext cx="11372850" cy="4572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直ったかの確かめ方: サインイン画面が出て、サインイン後に Gateway の AI エージェント一覧が返る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FIX A-2</a:t>
            </a:r>
          </a:p>
        </p:txBody>
      </p:sp>
      <p:sp>
        <p:nvSpPr>
          <p:cNvPr id="3" name="TextBox 2"/>
          <p:cNvSpPr txBox="1"/>
          <p:nvPr/>
        </p:nvSpPr>
        <p:spPr>
          <a:xfrm>
            <a:off x="409575" y="476250"/>
            <a:ext cx="11449050" cy="333375"/>
          </a:xfrm>
          <a:prstGeom prst="rect">
            <a:avLst/>
          </a:prstGeom>
          <a:noFill/>
        </p:spPr>
        <p:txBody>
          <a:bodyPr wrap="square" lIns="0" rIns="0" tIns="0" bIns="0" anchor="ctr">
            <a:spAutoFit/>
          </a:bodyPr>
          <a:lstStyle/>
          <a:p>
            <a:pPr algn="l">
              <a:lnSpc>
                <a:spcPct val="122000"/>
              </a:lnSpc>
            </a:pPr>
            <a:r>
              <a:rPr sz="2100" b="1">
                <a:solidFill>
                  <a:srgbClr val="FFFFFF"/>
                </a:solidFill>
                <a:latin typeface="Amazon Ember"/>
                <a:ea typeface="メイリオ"/>
                <a:cs typeface="メイリオ"/>
              </a:rPr>
              <a:t>A の直し方 (方法 2): 自動登録の依頼に応える中継サーバーを、Gateway の手前に置く</a:t>
            </a:r>
          </a:p>
        </p:txBody>
      </p:sp>
      <p:sp>
        <p:nvSpPr>
          <p:cNvPr id="4" name="Rectangle 3"/>
          <p:cNvSpPr/>
          <p:nvPr/>
        </p:nvSpPr>
        <p:spPr>
          <a:xfrm>
            <a:off x="409575" y="866775"/>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114425"/>
            <a:ext cx="171450" cy="171450"/>
          </a:xfrm>
          <a:prstGeom prst="roundRect">
            <a:avLst>
              <a:gd name="adj" fmla="val 20000"/>
            </a:avLst>
          </a:prstGeom>
          <a:solidFill>
            <a:srgbClr val="DC3C5A"/>
          </a:solidFill>
          <a:ln w="1270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症状</a:t>
            </a:r>
          </a:p>
        </p:txBody>
      </p:sp>
      <p:sp>
        <p:nvSpPr>
          <p:cNvPr id="7" name="Rounded Rectangle 6"/>
          <p:cNvSpPr/>
          <p:nvPr/>
        </p:nvSpPr>
        <p:spPr>
          <a:xfrm>
            <a:off x="1400175" y="1114425"/>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7825"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原因</a:t>
            </a:r>
          </a:p>
        </p:txBody>
      </p:sp>
      <p:sp>
        <p:nvSpPr>
          <p:cNvPr id="9" name="Rounded Rectangle 8"/>
          <p:cNvSpPr/>
          <p:nvPr/>
        </p:nvSpPr>
        <p:spPr>
          <a:xfrm>
            <a:off x="2390775" y="1114425"/>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38425"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お客様の作業</a:t>
            </a:r>
          </a:p>
        </p:txBody>
      </p:sp>
      <p:sp>
        <p:nvSpPr>
          <p:cNvPr id="11" name="Rounded Rectangle 10"/>
          <p:cNvSpPr/>
          <p:nvPr/>
        </p:nvSpPr>
        <p:spPr>
          <a:xfrm>
            <a:off x="4029075" y="1114425"/>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6725"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の設定</a:t>
            </a:r>
          </a:p>
        </p:txBody>
      </p:sp>
      <p:sp>
        <p:nvSpPr>
          <p:cNvPr id="13" name="Rounded Rectangle 12"/>
          <p:cNvSpPr/>
          <p:nvPr/>
        </p:nvSpPr>
        <p:spPr>
          <a:xfrm>
            <a:off x="5829300" y="1114425"/>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76950" y="10572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提供元に確認</a:t>
            </a:r>
          </a:p>
        </p:txBody>
      </p:sp>
      <p:sp>
        <p:nvSpPr>
          <p:cNvPr id="15" name="Rounded Rectangle 14"/>
          <p:cNvSpPr/>
          <p:nvPr/>
        </p:nvSpPr>
        <p:spPr>
          <a:xfrm>
            <a:off x="409575" y="1419225"/>
            <a:ext cx="5524500" cy="47625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症状: サインイン画面が出ない</a:t>
            </a:r>
          </a:p>
        </p:txBody>
      </p:sp>
      <p:sp>
        <p:nvSpPr>
          <p:cNvPr id="16" name="Rounded Rectangle 15"/>
          <p:cNvSpPr/>
          <p:nvPr/>
        </p:nvSpPr>
        <p:spPr>
          <a:xfrm>
            <a:off x="6257925" y="1419225"/>
            <a:ext cx="5524500" cy="4762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原因: AI エージェントが自動登録しかできない</a:t>
            </a:r>
          </a:p>
        </p:txBody>
      </p:sp>
      <p:sp>
        <p:nvSpPr>
          <p:cNvPr id="17" name="Rounded Rectangle 16"/>
          <p:cNvSpPr/>
          <p:nvPr/>
        </p:nvSpPr>
        <p:spPr>
          <a:xfrm>
            <a:off x="409575" y="2028825"/>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1. Entra ID</a:t>
            </a:r>
          </a:p>
        </p:txBody>
      </p:sp>
      <p:sp>
        <p:nvSpPr>
          <p:cNvPr id="18" name="Rounded Rectangle 17"/>
          <p:cNvSpPr/>
          <p:nvPr/>
        </p:nvSpPr>
        <p:spPr>
          <a:xfrm>
            <a:off x="2752725" y="2028825"/>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AI エージェント用のアプリを前もって登録し、client ID を控える</a:t>
            </a:r>
          </a:p>
        </p:txBody>
      </p:sp>
      <p:sp>
        <p:nvSpPr>
          <p:cNvPr id="19" name="Rounded Rectangle 18"/>
          <p:cNvSpPr/>
          <p:nvPr/>
        </p:nvSpPr>
        <p:spPr>
          <a:xfrm>
            <a:off x="409575" y="2533650"/>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2. 中継サーバーを作る</a:t>
            </a:r>
          </a:p>
        </p:txBody>
      </p:sp>
      <p:sp>
        <p:nvSpPr>
          <p:cNvPr id="20" name="Rounded Rectangle 19"/>
          <p:cNvSpPr/>
          <p:nvPr/>
        </p:nvSpPr>
        <p:spPr>
          <a:xfrm>
            <a:off x="2752725" y="2533650"/>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API Gateway と Lambda で、MCP の呼び出しを Gateway へ渡す中継サーバーを作る</a:t>
            </a:r>
          </a:p>
        </p:txBody>
      </p:sp>
      <p:sp>
        <p:nvSpPr>
          <p:cNvPr id="21" name="Rounded Rectangle 20"/>
          <p:cNvSpPr/>
          <p:nvPr/>
        </p:nvSpPr>
        <p:spPr>
          <a:xfrm>
            <a:off x="409575" y="3038475"/>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3. 中継サーバーの案内</a:t>
            </a:r>
          </a:p>
        </p:txBody>
      </p:sp>
      <p:sp>
        <p:nvSpPr>
          <p:cNvPr id="22" name="Rounded Rectangle 21"/>
          <p:cNvSpPr/>
          <p:nvPr/>
        </p:nvSpPr>
        <p:spPr>
          <a:xfrm>
            <a:off x="2752725" y="3038475"/>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受付と発行所の場所の問い合わせに、Entra ID の場所を答える</a:t>
            </a:r>
          </a:p>
        </p:txBody>
      </p:sp>
      <p:sp>
        <p:nvSpPr>
          <p:cNvPr id="23" name="Rounded Rectangle 22"/>
          <p:cNvSpPr/>
          <p:nvPr/>
        </p:nvSpPr>
        <p:spPr>
          <a:xfrm>
            <a:off x="409575" y="3543300"/>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4. 中継サーバーの登録</a:t>
            </a:r>
          </a:p>
        </p:txBody>
      </p:sp>
      <p:sp>
        <p:nvSpPr>
          <p:cNvPr id="24" name="Rounded Rectangle 23"/>
          <p:cNvSpPr/>
          <p:nvPr/>
        </p:nvSpPr>
        <p:spPr>
          <a:xfrm>
            <a:off x="2752725" y="3543300"/>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AI エージェントの自動登録の依頼に、控えた client ID を返す</a:t>
            </a:r>
          </a:p>
        </p:txBody>
      </p:sp>
      <p:sp>
        <p:nvSpPr>
          <p:cNvPr id="25" name="Rounded Rectangle 24"/>
          <p:cNvSpPr/>
          <p:nvPr/>
        </p:nvSpPr>
        <p:spPr>
          <a:xfrm>
            <a:off x="409575" y="4048125"/>
            <a:ext cx="2190750" cy="4381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5. AI エージェント</a:t>
            </a:r>
          </a:p>
        </p:txBody>
      </p:sp>
      <p:sp>
        <p:nvSpPr>
          <p:cNvPr id="26" name="Rounded Rectangle 25"/>
          <p:cNvSpPr/>
          <p:nvPr/>
        </p:nvSpPr>
        <p:spPr>
          <a:xfrm>
            <a:off x="2752725" y="4048125"/>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MCP の接続先を中継サーバーの URL にできるかを確かめる</a:t>
            </a:r>
          </a:p>
        </p:txBody>
      </p:sp>
      <p:sp>
        <p:nvSpPr>
          <p:cNvPr id="27" name="Rounded Rectangle 26"/>
          <p:cNvSpPr/>
          <p:nvPr/>
        </p:nvSpPr>
        <p:spPr>
          <a:xfrm>
            <a:off x="409575" y="4591050"/>
            <a:ext cx="11372850" cy="4572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直ったかの確かめ方: AI エージェントが中継サーバーから client ID を受け取り、Entra ID でサインインして Gateway を呼べる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FIX B</a:t>
            </a:r>
          </a:p>
        </p:txBody>
      </p:sp>
      <p:sp>
        <p:nvSpPr>
          <p:cNvPr id="3" name="TextBox 2"/>
          <p:cNvSpPr txBox="1"/>
          <p:nvPr/>
        </p:nvSpPr>
        <p:spPr>
          <a:xfrm>
            <a:off x="409575" y="476250"/>
            <a:ext cx="11449050" cy="476250"/>
          </a:xfrm>
          <a:prstGeom prst="rect">
            <a:avLst/>
          </a:prstGeom>
          <a:noFill/>
        </p:spPr>
        <p:txBody>
          <a:bodyPr wrap="square" lIns="0" rIns="0" tIns="0" bIns="0" anchor="ctr">
            <a:spAutoFit/>
          </a:bodyPr>
          <a:lstStyle/>
          <a:p>
            <a:pPr algn="l">
              <a:lnSpc>
                <a:spcPct val="122000"/>
              </a:lnSpc>
            </a:pPr>
            <a:r>
              <a:rPr sz="3000" b="1">
                <a:solidFill>
                  <a:srgbClr val="FFFFFF"/>
                </a:solidFill>
                <a:latin typeface="Amazon Ember"/>
                <a:ea typeface="メイリオ"/>
                <a:cs typeface="メイリオ"/>
              </a:rPr>
              <a:t>B の直し方: 通行証の中身と、Gateway の照合条件を合わせる</a:t>
            </a:r>
          </a:p>
        </p:txBody>
      </p:sp>
      <p:sp>
        <p:nvSpPr>
          <p:cNvPr id="4" name="Rectangle 3"/>
          <p:cNvSpPr/>
          <p:nvPr/>
        </p:nvSpPr>
        <p:spPr>
          <a:xfrm>
            <a:off x="409575" y="100965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257300"/>
            <a:ext cx="171450" cy="171450"/>
          </a:xfrm>
          <a:prstGeom prst="roundRect">
            <a:avLst>
              <a:gd name="adj" fmla="val 20000"/>
            </a:avLst>
          </a:prstGeom>
          <a:solidFill>
            <a:srgbClr val="DC3C5A"/>
          </a:solidFill>
          <a:ln w="1270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20015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症状</a:t>
            </a:r>
          </a:p>
        </p:txBody>
      </p:sp>
      <p:sp>
        <p:nvSpPr>
          <p:cNvPr id="7" name="Rounded Rectangle 6"/>
          <p:cNvSpPr/>
          <p:nvPr/>
        </p:nvSpPr>
        <p:spPr>
          <a:xfrm>
            <a:off x="1400175" y="125730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7825" y="120015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原因</a:t>
            </a:r>
          </a:p>
        </p:txBody>
      </p:sp>
      <p:sp>
        <p:nvSpPr>
          <p:cNvPr id="9" name="Rounded Rectangle 8"/>
          <p:cNvSpPr/>
          <p:nvPr/>
        </p:nvSpPr>
        <p:spPr>
          <a:xfrm>
            <a:off x="2390775" y="125730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38425" y="120015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お客様の作業</a:t>
            </a:r>
          </a:p>
        </p:txBody>
      </p:sp>
      <p:sp>
        <p:nvSpPr>
          <p:cNvPr id="11" name="Rounded Rectangle 10"/>
          <p:cNvSpPr/>
          <p:nvPr/>
        </p:nvSpPr>
        <p:spPr>
          <a:xfrm>
            <a:off x="4029075" y="125730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6725" y="120015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の設定</a:t>
            </a:r>
          </a:p>
        </p:txBody>
      </p:sp>
      <p:sp>
        <p:nvSpPr>
          <p:cNvPr id="13" name="Rounded Rectangle 12"/>
          <p:cNvSpPr/>
          <p:nvPr/>
        </p:nvSpPr>
        <p:spPr>
          <a:xfrm>
            <a:off x="5829300" y="125730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76950" y="120015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提供元に確認</a:t>
            </a:r>
          </a:p>
        </p:txBody>
      </p:sp>
      <p:sp>
        <p:nvSpPr>
          <p:cNvPr id="15" name="Rounded Rectangle 14"/>
          <p:cNvSpPr/>
          <p:nvPr/>
        </p:nvSpPr>
        <p:spPr>
          <a:xfrm>
            <a:off x="409575" y="1562100"/>
            <a:ext cx="5524500" cy="47625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症状: サインインできたが、Gateway が 401 を返す</a:t>
            </a:r>
          </a:p>
        </p:txBody>
      </p:sp>
      <p:sp>
        <p:nvSpPr>
          <p:cNvPr id="16" name="Rounded Rectangle 15"/>
          <p:cNvSpPr/>
          <p:nvPr/>
        </p:nvSpPr>
        <p:spPr>
          <a:xfrm>
            <a:off x="6257925" y="1562100"/>
            <a:ext cx="5524500" cy="4762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原因: 通行証の宛先や権限が照合条件と合わない</a:t>
            </a:r>
          </a:p>
        </p:txBody>
      </p:sp>
      <p:sp>
        <p:nvSpPr>
          <p:cNvPr id="17" name="Rounded Rectangle 16"/>
          <p:cNvSpPr/>
          <p:nvPr/>
        </p:nvSpPr>
        <p:spPr>
          <a:xfrm>
            <a:off x="409575" y="2171700"/>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1. 原因を見る</a:t>
            </a:r>
          </a:p>
        </p:txBody>
      </p:sp>
      <p:sp>
        <p:nvSpPr>
          <p:cNvPr id="18" name="Rounded Rectangle 17"/>
          <p:cNvSpPr/>
          <p:nvPr/>
        </p:nvSpPr>
        <p:spPr>
          <a:xfrm>
            <a:off x="2752725" y="2171700"/>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AI エージェントが受け取ったトークンの中身を読み、iss、aud、scp の値を控える</a:t>
            </a:r>
          </a:p>
        </p:txBody>
      </p:sp>
      <p:sp>
        <p:nvSpPr>
          <p:cNvPr id="19" name="Rounded Rectangle 18"/>
          <p:cNvSpPr/>
          <p:nvPr/>
        </p:nvSpPr>
        <p:spPr>
          <a:xfrm>
            <a:off x="409575" y="2676525"/>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2. Entra ID</a:t>
            </a:r>
          </a:p>
        </p:txBody>
      </p:sp>
      <p:sp>
        <p:nvSpPr>
          <p:cNvPr id="20" name="Rounded Rectangle 19"/>
          <p:cNvSpPr/>
          <p:nvPr/>
        </p:nvSpPr>
        <p:spPr>
          <a:xfrm>
            <a:off x="2752725" y="2676525"/>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アプリの manifest で accessTokenAcceptedVersion=2 にする</a:t>
            </a:r>
          </a:p>
        </p:txBody>
      </p:sp>
      <p:sp>
        <p:nvSpPr>
          <p:cNvPr id="21" name="Rounded Rectangle 20"/>
          <p:cNvSpPr/>
          <p:nvPr/>
        </p:nvSpPr>
        <p:spPr>
          <a:xfrm>
            <a:off x="409575" y="3181350"/>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3. Entra ID</a:t>
            </a:r>
          </a:p>
        </p:txBody>
      </p:sp>
      <p:sp>
        <p:nvSpPr>
          <p:cNvPr id="22" name="Rounded Rectangle 21"/>
          <p:cNvSpPr/>
          <p:nvPr/>
        </p:nvSpPr>
        <p:spPr>
          <a:xfrm>
            <a:off x="2752725" y="3181350"/>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API を公開して scope を作り、AI エージェントがその scope を頼むようにする</a:t>
            </a:r>
          </a:p>
        </p:txBody>
      </p:sp>
      <p:sp>
        <p:nvSpPr>
          <p:cNvPr id="23" name="Rounded Rectangle 22"/>
          <p:cNvSpPr/>
          <p:nvPr/>
        </p:nvSpPr>
        <p:spPr>
          <a:xfrm>
            <a:off x="409575" y="3686175"/>
            <a:ext cx="2190750" cy="4381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4. Gateway</a:t>
            </a:r>
          </a:p>
        </p:txBody>
      </p:sp>
      <p:sp>
        <p:nvSpPr>
          <p:cNvPr id="24" name="Rounded Rectangle 23"/>
          <p:cNvSpPr/>
          <p:nvPr/>
        </p:nvSpPr>
        <p:spPr>
          <a:xfrm>
            <a:off x="2752725" y="3686175"/>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discovery URL を v2.0 のものにし、allowed audiences に scope を公開したアプリの ID を入れる</a:t>
            </a:r>
          </a:p>
        </p:txBody>
      </p:sp>
      <p:sp>
        <p:nvSpPr>
          <p:cNvPr id="25" name="Rounded Rectangle 24"/>
          <p:cNvSpPr/>
          <p:nvPr/>
        </p:nvSpPr>
        <p:spPr>
          <a:xfrm>
            <a:off x="409575" y="4191000"/>
            <a:ext cx="2190750" cy="4381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5. Gateway</a:t>
            </a:r>
          </a:p>
        </p:txBody>
      </p:sp>
      <p:sp>
        <p:nvSpPr>
          <p:cNvPr id="26" name="Rounded Rectangle 25"/>
          <p:cNvSpPr/>
          <p:nvPr/>
        </p:nvSpPr>
        <p:spPr>
          <a:xfrm>
            <a:off x="2752725" y="4191000"/>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allowed scopes に、作った scope を入れる</a:t>
            </a:r>
          </a:p>
        </p:txBody>
      </p:sp>
      <p:sp>
        <p:nvSpPr>
          <p:cNvPr id="27" name="Rounded Rectangle 26"/>
          <p:cNvSpPr/>
          <p:nvPr/>
        </p:nvSpPr>
        <p:spPr>
          <a:xfrm>
            <a:off x="409575" y="4733925"/>
            <a:ext cx="11372850" cy="4572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直ったかの確かめ方: 控えた iss、aud、scp が Gateway の条件と一致し、Gateway が 200 を返す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FIX C</a:t>
            </a:r>
          </a:p>
        </p:txBody>
      </p:sp>
      <p:sp>
        <p:nvSpPr>
          <p:cNvPr id="3" name="TextBox 2"/>
          <p:cNvSpPr txBox="1"/>
          <p:nvPr/>
        </p:nvSpPr>
        <p:spPr>
          <a:xfrm>
            <a:off x="409575" y="476250"/>
            <a:ext cx="11449050" cy="460375"/>
          </a:xfrm>
          <a:prstGeom prst="rect">
            <a:avLst/>
          </a:prstGeom>
          <a:noFill/>
        </p:spPr>
        <p:txBody>
          <a:bodyPr wrap="square" lIns="0" rIns="0" tIns="0" bIns="0" anchor="ctr">
            <a:spAutoFit/>
          </a:bodyPr>
          <a:lstStyle/>
          <a:p>
            <a:pPr algn="l">
              <a:lnSpc>
                <a:spcPct val="122000"/>
              </a:lnSpc>
            </a:pPr>
            <a:r>
              <a:rPr sz="2900" b="1">
                <a:solidFill>
                  <a:srgbClr val="FFFFFF"/>
                </a:solidFill>
                <a:latin typeface="Amazon Ember"/>
                <a:ea typeface="メイリオ"/>
                <a:cs typeface="メイリオ"/>
              </a:rPr>
              <a:t>C の直し方: AI エージェントが通行証をもらい直せるようにする</a:t>
            </a:r>
          </a:p>
        </p:txBody>
      </p:sp>
      <p:sp>
        <p:nvSpPr>
          <p:cNvPr id="4" name="Rectangle 3"/>
          <p:cNvSpPr/>
          <p:nvPr/>
        </p:nvSpPr>
        <p:spPr>
          <a:xfrm>
            <a:off x="409575" y="993775"/>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238250"/>
            <a:ext cx="171450" cy="171450"/>
          </a:xfrm>
          <a:prstGeom prst="roundRect">
            <a:avLst>
              <a:gd name="adj" fmla="val 20000"/>
            </a:avLst>
          </a:prstGeom>
          <a:solidFill>
            <a:srgbClr val="DC3C5A"/>
          </a:solidFill>
          <a:ln w="1270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181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症状</a:t>
            </a:r>
          </a:p>
        </p:txBody>
      </p:sp>
      <p:sp>
        <p:nvSpPr>
          <p:cNvPr id="7" name="Rounded Rectangle 6"/>
          <p:cNvSpPr/>
          <p:nvPr/>
        </p:nvSpPr>
        <p:spPr>
          <a:xfrm>
            <a:off x="1400175" y="12382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7825" y="1181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原因</a:t>
            </a:r>
          </a:p>
        </p:txBody>
      </p:sp>
      <p:sp>
        <p:nvSpPr>
          <p:cNvPr id="9" name="Rounded Rectangle 8"/>
          <p:cNvSpPr/>
          <p:nvPr/>
        </p:nvSpPr>
        <p:spPr>
          <a:xfrm>
            <a:off x="2390775" y="12382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38425" y="1181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お客様の作業</a:t>
            </a:r>
          </a:p>
        </p:txBody>
      </p:sp>
      <p:sp>
        <p:nvSpPr>
          <p:cNvPr id="11" name="Rounded Rectangle 10"/>
          <p:cNvSpPr/>
          <p:nvPr/>
        </p:nvSpPr>
        <p:spPr>
          <a:xfrm>
            <a:off x="4029075" y="12382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76725" y="1181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の設定</a:t>
            </a:r>
          </a:p>
        </p:txBody>
      </p:sp>
      <p:sp>
        <p:nvSpPr>
          <p:cNvPr id="13" name="Rounded Rectangle 12"/>
          <p:cNvSpPr/>
          <p:nvPr/>
        </p:nvSpPr>
        <p:spPr>
          <a:xfrm>
            <a:off x="5829300" y="12382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76950" y="11811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提供元に確認</a:t>
            </a:r>
          </a:p>
        </p:txBody>
      </p:sp>
      <p:sp>
        <p:nvSpPr>
          <p:cNvPr id="15" name="Rounded Rectangle 14"/>
          <p:cNvSpPr/>
          <p:nvPr/>
        </p:nvSpPr>
        <p:spPr>
          <a:xfrm>
            <a:off x="409575" y="1543050"/>
            <a:ext cx="5524500" cy="47625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症状: 最初は動くが、トークンの期限のころに止まる</a:t>
            </a:r>
          </a:p>
        </p:txBody>
      </p:sp>
      <p:sp>
        <p:nvSpPr>
          <p:cNvPr id="16" name="Rounded Rectangle 15"/>
          <p:cNvSpPr/>
          <p:nvPr/>
        </p:nvSpPr>
        <p:spPr>
          <a:xfrm>
            <a:off x="6257925" y="1543050"/>
            <a:ext cx="5524500" cy="4762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原因: AI エージェントが期限前にトークンを更新できていない</a:t>
            </a:r>
          </a:p>
        </p:txBody>
      </p:sp>
      <p:sp>
        <p:nvSpPr>
          <p:cNvPr id="17" name="Rounded Rectangle 16"/>
          <p:cNvSpPr/>
          <p:nvPr/>
        </p:nvSpPr>
        <p:spPr>
          <a:xfrm>
            <a:off x="409575" y="2152650"/>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1. 原因を見る</a:t>
            </a:r>
          </a:p>
        </p:txBody>
      </p:sp>
      <p:sp>
        <p:nvSpPr>
          <p:cNvPr id="18" name="Rounded Rectangle 17"/>
          <p:cNvSpPr/>
          <p:nvPr/>
        </p:nvSpPr>
        <p:spPr>
          <a:xfrm>
            <a:off x="2752725" y="2152650"/>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止まった時刻と、トークンの期限 (exp) の時刻が近いかを比べる</a:t>
            </a:r>
          </a:p>
        </p:txBody>
      </p:sp>
      <p:sp>
        <p:nvSpPr>
          <p:cNvPr id="19" name="Rounded Rectangle 18"/>
          <p:cNvSpPr/>
          <p:nvPr/>
        </p:nvSpPr>
        <p:spPr>
          <a:xfrm>
            <a:off x="409575" y="2657475"/>
            <a:ext cx="2190750" cy="4381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2. AI エージェント</a:t>
            </a:r>
          </a:p>
        </p:txBody>
      </p:sp>
      <p:sp>
        <p:nvSpPr>
          <p:cNvPr id="20" name="Rounded Rectangle 19"/>
          <p:cNvSpPr/>
          <p:nvPr/>
        </p:nvSpPr>
        <p:spPr>
          <a:xfrm>
            <a:off x="2752725" y="2657475"/>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リフレッシュトークンで更新できるか、offline_access の scope を頼めるかを確かめる</a:t>
            </a:r>
          </a:p>
        </p:txBody>
      </p:sp>
      <p:sp>
        <p:nvSpPr>
          <p:cNvPr id="21" name="Rounded Rectangle 20"/>
          <p:cNvSpPr/>
          <p:nvPr/>
        </p:nvSpPr>
        <p:spPr>
          <a:xfrm>
            <a:off x="409575" y="3162300"/>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3. Entra ID</a:t>
            </a:r>
          </a:p>
        </p:txBody>
      </p:sp>
      <p:sp>
        <p:nvSpPr>
          <p:cNvPr id="22" name="Rounded Rectangle 21"/>
          <p:cNvSpPr/>
          <p:nvPr/>
        </p:nvSpPr>
        <p:spPr>
          <a:xfrm>
            <a:off x="2752725" y="3162300"/>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アプリがリフレッシュトークンを出せるよう、offline_access を許可する</a:t>
            </a:r>
          </a:p>
        </p:txBody>
      </p:sp>
      <p:sp>
        <p:nvSpPr>
          <p:cNvPr id="23" name="Rounded Rectangle 22"/>
          <p:cNvSpPr/>
          <p:nvPr/>
        </p:nvSpPr>
        <p:spPr>
          <a:xfrm>
            <a:off x="409575" y="3667125"/>
            <a:ext cx="2190750" cy="4381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4. 判断</a:t>
            </a:r>
          </a:p>
        </p:txBody>
      </p:sp>
      <p:sp>
        <p:nvSpPr>
          <p:cNvPr id="24" name="Rounded Rectangle 23"/>
          <p:cNvSpPr/>
          <p:nvPr/>
        </p:nvSpPr>
        <p:spPr>
          <a:xfrm>
            <a:off x="2752725" y="3667125"/>
            <a:ext cx="9029700" cy="438150"/>
          </a:xfrm>
          <a:prstGeom prst="roundRect">
            <a:avLst>
              <a:gd name="adj" fmla="val 12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l">
              <a:lnSpc>
                <a:spcPct val="122000"/>
              </a:lnSpc>
            </a:pPr>
            <a:r>
              <a:rPr sz="1600" b="0">
                <a:solidFill>
                  <a:srgbClr val="F5F5F8"/>
                </a:solidFill>
                <a:latin typeface="Amazon Ember"/>
                <a:ea typeface="メイリオ"/>
                <a:cs typeface="メイリオ"/>
              </a:rPr>
              <a:t>AI エージェントが更新できないなら、Gateway の対象から外すか、期限ごとに再サインインにする</a:t>
            </a:r>
          </a:p>
        </p:txBody>
      </p:sp>
      <p:sp>
        <p:nvSpPr>
          <p:cNvPr id="25" name="Rounded Rectangle 24"/>
          <p:cNvSpPr/>
          <p:nvPr/>
        </p:nvSpPr>
        <p:spPr>
          <a:xfrm>
            <a:off x="409575" y="4210050"/>
            <a:ext cx="11372850" cy="4572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直ったかの確かめ方: トークンの期限を過ぎても、サインインし直さずに Gateway を呼べる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WIRING A-1</a:t>
            </a:r>
          </a:p>
        </p:txBody>
      </p:sp>
      <p:sp>
        <p:nvSpPr>
          <p:cNvPr id="3" name="TextBox 2"/>
          <p:cNvSpPr txBox="1"/>
          <p:nvPr/>
        </p:nvSpPr>
        <p:spPr>
          <a:xfrm>
            <a:off x="409575" y="476250"/>
            <a:ext cx="11449050" cy="396875"/>
          </a:xfrm>
          <a:prstGeom prst="rect">
            <a:avLst/>
          </a:prstGeom>
          <a:noFill/>
        </p:spPr>
        <p:txBody>
          <a:bodyPr wrap="square" lIns="0" rIns="0" tIns="0" bIns="0" anchor="ctr">
            <a:spAutoFit/>
          </a:bodyPr>
          <a:lstStyle/>
          <a:p>
            <a:pPr algn="l">
              <a:lnSpc>
                <a:spcPct val="122000"/>
              </a:lnSpc>
            </a:pPr>
            <a:r>
              <a:rPr sz="2500" b="1">
                <a:solidFill>
                  <a:srgbClr val="FFFFFF"/>
                </a:solidFill>
                <a:latin typeface="Amazon Ember"/>
                <a:ea typeface="メイリオ"/>
                <a:cs typeface="メイリオ"/>
              </a:rPr>
              <a:t>A の直し方 1: 管理者が前もって AI エージェントをアプリの名簿に載せる</a:t>
            </a:r>
          </a:p>
        </p:txBody>
      </p:sp>
      <p:sp>
        <p:nvSpPr>
          <p:cNvPr id="4" name="Rectangle 3"/>
          <p:cNvSpPr/>
          <p:nvPr/>
        </p:nvSpPr>
        <p:spPr>
          <a:xfrm>
            <a:off x="409575" y="930275"/>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171575"/>
            <a:ext cx="171450" cy="171450"/>
          </a:xfrm>
          <a:prstGeom prst="roundRect">
            <a:avLst>
              <a:gd name="adj" fmla="val 20000"/>
            </a:avLst>
          </a:prstGeom>
          <a:solidFill>
            <a:srgbClr val="DC3C5A"/>
          </a:solidFill>
          <a:ln w="1270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1144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止まる線</a:t>
            </a:r>
          </a:p>
        </p:txBody>
      </p:sp>
      <p:sp>
        <p:nvSpPr>
          <p:cNvPr id="7" name="Rounded Rectangle 6"/>
          <p:cNvSpPr/>
          <p:nvPr/>
        </p:nvSpPr>
        <p:spPr>
          <a:xfrm>
            <a:off x="1724025" y="1171575"/>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71675" y="11144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直した後に通る線</a:t>
            </a:r>
          </a:p>
        </p:txBody>
      </p:sp>
      <p:sp>
        <p:nvSpPr>
          <p:cNvPr id="9" name="Rounded Rectangle 8"/>
          <p:cNvSpPr/>
          <p:nvPr/>
        </p:nvSpPr>
        <p:spPr>
          <a:xfrm>
            <a:off x="3686175" y="1171575"/>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3825" y="11144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a:t>
            </a:r>
          </a:p>
        </p:txBody>
      </p:sp>
      <p:sp>
        <p:nvSpPr>
          <p:cNvPr id="11" name="Rounded Rectangle 10"/>
          <p:cNvSpPr/>
          <p:nvPr/>
        </p:nvSpPr>
        <p:spPr>
          <a:xfrm>
            <a:off x="4838700" y="1171575"/>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6350" y="111442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3" name="TextBox 12"/>
          <p:cNvSpPr txBox="1"/>
          <p:nvPr/>
        </p:nvSpPr>
        <p:spPr>
          <a:xfrm>
            <a:off x="409575" y="1476375"/>
            <a:ext cx="1333500" cy="381000"/>
          </a:xfrm>
          <a:prstGeom prst="rect">
            <a:avLst/>
          </a:prstGeom>
          <a:noFill/>
        </p:spPr>
        <p:txBody>
          <a:bodyPr wrap="square" lIns="0" rIns="0" tIns="0" bIns="0" anchor="ctr">
            <a:spAutoFit/>
          </a:bodyPr>
          <a:lstStyle/>
          <a:p>
            <a:pPr algn="l">
              <a:lnSpc>
                <a:spcPct val="122000"/>
              </a:lnSpc>
            </a:pPr>
            <a:r>
              <a:rPr sz="1900" b="1">
                <a:solidFill>
                  <a:srgbClr val="DC3C5A"/>
                </a:solidFill>
                <a:latin typeface="Amazon Ember"/>
                <a:ea typeface="メイリオ"/>
                <a:cs typeface="メイリオ"/>
              </a:rPr>
              <a:t>直す前</a:t>
            </a:r>
          </a:p>
        </p:txBody>
      </p:sp>
      <p:sp>
        <p:nvSpPr>
          <p:cNvPr id="14" name="TextBox 13"/>
          <p:cNvSpPr txBox="1"/>
          <p:nvPr/>
        </p:nvSpPr>
        <p:spPr>
          <a:xfrm>
            <a:off x="409575" y="3095625"/>
            <a:ext cx="1333500" cy="381000"/>
          </a:xfrm>
          <a:prstGeom prst="rect">
            <a:avLst/>
          </a:prstGeom>
          <a:noFill/>
        </p:spPr>
        <p:txBody>
          <a:bodyPr wrap="square" lIns="0" rIns="0" tIns="0" bIns="0" anchor="ctr">
            <a:spAutoFit/>
          </a:bodyPr>
          <a:lstStyle/>
          <a:p>
            <a:pPr algn="l">
              <a:lnSpc>
                <a:spcPct val="122000"/>
              </a:lnSpc>
            </a:pPr>
            <a:r>
              <a:rPr sz="1900" b="1">
                <a:solidFill>
                  <a:srgbClr val="24A046"/>
                </a:solidFill>
                <a:latin typeface="Amazon Ember"/>
                <a:ea typeface="メイリオ"/>
                <a:cs typeface="メイリオ"/>
              </a:rPr>
              <a:t>直した後</a:t>
            </a:r>
          </a:p>
        </p:txBody>
      </p:sp>
      <p:sp>
        <p:nvSpPr>
          <p:cNvPr id="15" name="Rounded Rectangle 14"/>
          <p:cNvSpPr/>
          <p:nvPr/>
        </p:nvSpPr>
        <p:spPr>
          <a:xfrm>
            <a:off x="1838325" y="1666875"/>
            <a:ext cx="20955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AI エージェント</a:t>
            </a:r>
          </a:p>
        </p:txBody>
      </p:sp>
      <p:sp>
        <p:nvSpPr>
          <p:cNvPr id="16" name="Rounded Rectangle 15"/>
          <p:cNvSpPr/>
          <p:nvPr/>
        </p:nvSpPr>
        <p:spPr>
          <a:xfrm>
            <a:off x="5838825" y="1666875"/>
            <a:ext cx="24765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Entra ID の</a:t>
            </a:r>
          </a:p>
          <a:p>
            <a:pPr algn="ctr">
              <a:lnSpc>
                <a:spcPct val="122000"/>
              </a:lnSpc>
            </a:pPr>
            <a:r>
              <a:rPr sz="1600" b="1">
                <a:solidFill>
                  <a:srgbClr val="F5F5F8"/>
                </a:solidFill>
                <a:latin typeface="Amazon Ember"/>
                <a:ea typeface="メイリオ"/>
                <a:cs typeface="メイリオ"/>
              </a:rPr>
              <a:t>アプリの名簿</a:t>
            </a:r>
          </a:p>
        </p:txBody>
      </p:sp>
      <p:cxnSp>
        <p:nvCxnSpPr>
          <p:cNvPr id="17" name="Connector 16"/>
          <p:cNvCxnSpPr>
            <a:stCxn id="15" idx="3"/>
            <a:endCxn id="16" idx="1"/>
          </p:cNvCxnSpPr>
          <p:nvPr/>
        </p:nvCxnSpPr>
        <p:spPr>
          <a:xfrm flipV="1">
            <a:off x="3933825" y="1971675"/>
            <a:ext cx="1905000" cy="0"/>
          </a:xfrm>
          <a:prstGeom prst="line">
            <a:avLst/>
          </a:prstGeom>
          <a:ln w="31750">
            <a:solidFill>
              <a:srgbClr val="DC3C5A"/>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981450" y="1381125"/>
            <a:ext cx="1905000" cy="285750"/>
          </a:xfrm>
          <a:prstGeom prst="rect">
            <a:avLst/>
          </a:prstGeom>
          <a:noFill/>
        </p:spPr>
        <p:txBody>
          <a:bodyPr wrap="square" lIns="0" rIns="0" tIns="0" bIns="0" anchor="ctr">
            <a:spAutoFit/>
          </a:bodyPr>
          <a:lstStyle/>
          <a:p>
            <a:pPr algn="ctr">
              <a:lnSpc>
                <a:spcPct val="122000"/>
              </a:lnSpc>
            </a:pPr>
            <a:r>
              <a:rPr sz="1500" b="0">
                <a:solidFill>
                  <a:srgbClr val="DC3C5A"/>
                </a:solidFill>
                <a:latin typeface="Amazon Ember"/>
                <a:ea typeface="メイリオ"/>
                <a:cs typeface="メイリオ"/>
              </a:rPr>
              <a:t>自分を登録したい</a:t>
            </a:r>
          </a:p>
        </p:txBody>
      </p:sp>
      <p:sp>
        <p:nvSpPr>
          <p:cNvPr id="19" name="Rounded Rectangle 18"/>
          <p:cNvSpPr/>
          <p:nvPr/>
        </p:nvSpPr>
        <p:spPr>
          <a:xfrm>
            <a:off x="8696325" y="1666875"/>
            <a:ext cx="3048000" cy="6096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受け付けられず止まる</a:t>
            </a:r>
          </a:p>
        </p:txBody>
      </p:sp>
      <p:sp>
        <p:nvSpPr>
          <p:cNvPr id="20" name="Rounded Rectangle 19"/>
          <p:cNvSpPr/>
          <p:nvPr/>
        </p:nvSpPr>
        <p:spPr>
          <a:xfrm>
            <a:off x="1838325" y="3095625"/>
            <a:ext cx="2095500" cy="5715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管理者</a:t>
            </a:r>
          </a:p>
        </p:txBody>
      </p:sp>
      <p:sp>
        <p:nvSpPr>
          <p:cNvPr id="21" name="Rounded Rectangle 20"/>
          <p:cNvSpPr/>
          <p:nvPr/>
        </p:nvSpPr>
        <p:spPr>
          <a:xfrm>
            <a:off x="4695825" y="3095625"/>
            <a:ext cx="24765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Entra ID の</a:t>
            </a:r>
          </a:p>
          <a:p>
            <a:pPr algn="ctr">
              <a:lnSpc>
                <a:spcPct val="122000"/>
              </a:lnSpc>
            </a:pPr>
            <a:r>
              <a:rPr sz="1600" b="1">
                <a:solidFill>
                  <a:srgbClr val="F5F5F8"/>
                </a:solidFill>
                <a:latin typeface="Amazon Ember"/>
                <a:ea typeface="メイリオ"/>
                <a:cs typeface="メイリオ"/>
              </a:rPr>
              <a:t>アプリの名簿</a:t>
            </a:r>
          </a:p>
        </p:txBody>
      </p:sp>
      <p:sp>
        <p:nvSpPr>
          <p:cNvPr id="22" name="Rounded Rectangle 21"/>
          <p:cNvSpPr/>
          <p:nvPr/>
        </p:nvSpPr>
        <p:spPr>
          <a:xfrm>
            <a:off x="1838325" y="4143375"/>
            <a:ext cx="20955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AI エージェント</a:t>
            </a:r>
          </a:p>
        </p:txBody>
      </p:sp>
      <p:sp>
        <p:nvSpPr>
          <p:cNvPr id="23" name="Rounded Rectangle 22"/>
          <p:cNvSpPr/>
          <p:nvPr/>
        </p:nvSpPr>
        <p:spPr>
          <a:xfrm>
            <a:off x="4695825" y="4143375"/>
            <a:ext cx="24765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Entra ID で</a:t>
            </a:r>
          </a:p>
          <a:p>
            <a:pPr algn="ctr">
              <a:lnSpc>
                <a:spcPct val="122000"/>
              </a:lnSpc>
            </a:pPr>
            <a:r>
              <a:rPr sz="1600" b="1">
                <a:solidFill>
                  <a:srgbClr val="F5F5F8"/>
                </a:solidFill>
                <a:latin typeface="Amazon Ember"/>
                <a:ea typeface="メイリオ"/>
                <a:cs typeface="メイリオ"/>
              </a:rPr>
              <a:t>サインイン</a:t>
            </a:r>
          </a:p>
        </p:txBody>
      </p:sp>
      <p:sp>
        <p:nvSpPr>
          <p:cNvPr id="24" name="Rounded Rectangle 23"/>
          <p:cNvSpPr/>
          <p:nvPr/>
        </p:nvSpPr>
        <p:spPr>
          <a:xfrm>
            <a:off x="7934325" y="4143375"/>
            <a:ext cx="190500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Gateway</a:t>
            </a:r>
          </a:p>
        </p:txBody>
      </p:sp>
      <p:sp>
        <p:nvSpPr>
          <p:cNvPr id="25" name="Rounded Rectangle 24"/>
          <p:cNvSpPr/>
          <p:nvPr/>
        </p:nvSpPr>
        <p:spPr>
          <a:xfrm>
            <a:off x="10410825" y="4143375"/>
            <a:ext cx="14287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SaaS</a:t>
            </a:r>
          </a:p>
        </p:txBody>
      </p:sp>
      <p:cxnSp>
        <p:nvCxnSpPr>
          <p:cNvPr id="26" name="Connector 25"/>
          <p:cNvCxnSpPr>
            <a:stCxn id="20" idx="3"/>
            <a:endCxn id="21" idx="1"/>
          </p:cNvCxnSpPr>
          <p:nvPr/>
        </p:nvCxnSpPr>
        <p:spPr>
          <a:xfrm flipV="1">
            <a:off x="3933825" y="3381375"/>
            <a:ext cx="762000" cy="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a:stCxn id="21" idx="2"/>
            <a:endCxn id="22" idx="0"/>
          </p:cNvCxnSpPr>
          <p:nvPr/>
        </p:nvCxnSpPr>
        <p:spPr>
          <a:xfrm flipH="1">
            <a:off x="2886075" y="3667125"/>
            <a:ext cx="3048000" cy="476250"/>
          </a:xfrm>
          <a:prstGeom prst="line">
            <a:avLst/>
          </a:prstGeom>
          <a:ln w="25400">
            <a:solidFill>
              <a:srgbClr val="24A046"/>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15075" y="3724275"/>
            <a:ext cx="3048000" cy="285750"/>
          </a:xfrm>
          <a:prstGeom prst="rect">
            <a:avLst/>
          </a:prstGeom>
          <a:noFill/>
        </p:spPr>
        <p:txBody>
          <a:bodyPr wrap="square" lIns="0" rIns="0" tIns="0" bIns="0" anchor="ctr">
            <a:spAutoFit/>
          </a:bodyPr>
          <a:lstStyle/>
          <a:p>
            <a:pPr algn="l">
              <a:lnSpc>
                <a:spcPct val="122000"/>
              </a:lnSpc>
            </a:pPr>
            <a:r>
              <a:rPr sz="1400" b="0">
                <a:solidFill>
                  <a:srgbClr val="24A046"/>
                </a:solidFill>
                <a:latin typeface="Amazon Ember"/>
                <a:ea typeface="メイリオ"/>
                <a:cs typeface="メイリオ"/>
              </a:rPr>
              <a:t>client ID を AI エージェントに設定</a:t>
            </a:r>
          </a:p>
        </p:txBody>
      </p:sp>
      <p:cxnSp>
        <p:nvCxnSpPr>
          <p:cNvPr id="29" name="Connector 28"/>
          <p:cNvCxnSpPr>
            <a:stCxn id="22" idx="3"/>
            <a:endCxn id="23" idx="1"/>
          </p:cNvCxnSpPr>
          <p:nvPr/>
        </p:nvCxnSpPr>
        <p:spPr>
          <a:xfrm flipV="1">
            <a:off x="3933825" y="4429125"/>
            <a:ext cx="762000" cy="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a:stCxn id="23" idx="3"/>
            <a:endCxn id="24" idx="1"/>
          </p:cNvCxnSpPr>
          <p:nvPr/>
        </p:nvCxnSpPr>
        <p:spPr>
          <a:xfrm flipV="1">
            <a:off x="7172325" y="4429125"/>
            <a:ext cx="762000" cy="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a:stCxn id="24" idx="3"/>
            <a:endCxn id="25" idx="1"/>
          </p:cNvCxnSpPr>
          <p:nvPr/>
        </p:nvCxnSpPr>
        <p:spPr>
          <a:xfrm flipV="1">
            <a:off x="9839325" y="4429125"/>
            <a:ext cx="571500" cy="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WIRING A-2</a:t>
            </a:r>
          </a:p>
        </p:txBody>
      </p:sp>
      <p:sp>
        <p:nvSpPr>
          <p:cNvPr id="3" name="TextBox 2"/>
          <p:cNvSpPr txBox="1"/>
          <p:nvPr/>
        </p:nvSpPr>
        <p:spPr>
          <a:xfrm>
            <a:off x="409575" y="476250"/>
            <a:ext cx="11449050" cy="373062"/>
          </a:xfrm>
          <a:prstGeom prst="rect">
            <a:avLst/>
          </a:prstGeom>
          <a:noFill/>
        </p:spPr>
        <p:txBody>
          <a:bodyPr wrap="square" lIns="0" rIns="0" tIns="0" bIns="0" anchor="ctr">
            <a:spAutoFit/>
          </a:bodyPr>
          <a:lstStyle/>
          <a:p>
            <a:pPr algn="l">
              <a:lnSpc>
                <a:spcPct val="122000"/>
              </a:lnSpc>
            </a:pPr>
            <a:r>
              <a:rPr sz="2350" b="1">
                <a:solidFill>
                  <a:srgbClr val="FFFFFF"/>
                </a:solidFill>
                <a:latin typeface="Amazon Ember"/>
                <a:ea typeface="メイリオ"/>
                <a:cs typeface="メイリオ"/>
              </a:rPr>
              <a:t>A の直し方 2: 自動登録の依頼に応える中継サーバーを、Gateway の手前に置く</a:t>
            </a:r>
          </a:p>
        </p:txBody>
      </p:sp>
      <p:sp>
        <p:nvSpPr>
          <p:cNvPr id="4" name="Rectangle 3"/>
          <p:cNvSpPr/>
          <p:nvPr/>
        </p:nvSpPr>
        <p:spPr>
          <a:xfrm>
            <a:off x="409575" y="906462"/>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152525"/>
            <a:ext cx="171450" cy="171450"/>
          </a:xfrm>
          <a:prstGeom prst="roundRect">
            <a:avLst>
              <a:gd name="adj" fmla="val 20000"/>
            </a:avLst>
          </a:prstGeom>
          <a:solidFill>
            <a:srgbClr val="DC3C5A"/>
          </a:solidFill>
          <a:ln w="1270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0953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止まる線</a:t>
            </a:r>
          </a:p>
        </p:txBody>
      </p:sp>
      <p:sp>
        <p:nvSpPr>
          <p:cNvPr id="7" name="Rounded Rectangle 6"/>
          <p:cNvSpPr/>
          <p:nvPr/>
        </p:nvSpPr>
        <p:spPr>
          <a:xfrm>
            <a:off x="1724025" y="1152525"/>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71675" y="10953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直した後に通る線</a:t>
            </a:r>
          </a:p>
        </p:txBody>
      </p:sp>
      <p:sp>
        <p:nvSpPr>
          <p:cNvPr id="9" name="Rounded Rectangle 8"/>
          <p:cNvSpPr/>
          <p:nvPr/>
        </p:nvSpPr>
        <p:spPr>
          <a:xfrm>
            <a:off x="3686175" y="1152525"/>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3825" y="10953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a:t>
            </a:r>
          </a:p>
        </p:txBody>
      </p:sp>
      <p:sp>
        <p:nvSpPr>
          <p:cNvPr id="11" name="Rounded Rectangle 10"/>
          <p:cNvSpPr/>
          <p:nvPr/>
        </p:nvSpPr>
        <p:spPr>
          <a:xfrm>
            <a:off x="4838700" y="1152525"/>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6350" y="10953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3" name="TextBox 12"/>
          <p:cNvSpPr txBox="1"/>
          <p:nvPr/>
        </p:nvSpPr>
        <p:spPr>
          <a:xfrm>
            <a:off x="409575" y="1457325"/>
            <a:ext cx="1333500" cy="381000"/>
          </a:xfrm>
          <a:prstGeom prst="rect">
            <a:avLst/>
          </a:prstGeom>
          <a:noFill/>
        </p:spPr>
        <p:txBody>
          <a:bodyPr wrap="square" lIns="0" rIns="0" tIns="0" bIns="0" anchor="ctr">
            <a:spAutoFit/>
          </a:bodyPr>
          <a:lstStyle/>
          <a:p>
            <a:pPr algn="l">
              <a:lnSpc>
                <a:spcPct val="122000"/>
              </a:lnSpc>
            </a:pPr>
            <a:r>
              <a:rPr sz="1900" b="1">
                <a:solidFill>
                  <a:srgbClr val="DC3C5A"/>
                </a:solidFill>
                <a:latin typeface="Amazon Ember"/>
                <a:ea typeface="メイリオ"/>
                <a:cs typeface="メイリオ"/>
              </a:rPr>
              <a:t>直す前</a:t>
            </a:r>
          </a:p>
        </p:txBody>
      </p:sp>
      <p:sp>
        <p:nvSpPr>
          <p:cNvPr id="14" name="TextBox 13"/>
          <p:cNvSpPr txBox="1"/>
          <p:nvPr/>
        </p:nvSpPr>
        <p:spPr>
          <a:xfrm>
            <a:off x="409575" y="3076575"/>
            <a:ext cx="1333500" cy="381000"/>
          </a:xfrm>
          <a:prstGeom prst="rect">
            <a:avLst/>
          </a:prstGeom>
          <a:noFill/>
        </p:spPr>
        <p:txBody>
          <a:bodyPr wrap="square" lIns="0" rIns="0" tIns="0" bIns="0" anchor="ctr">
            <a:spAutoFit/>
          </a:bodyPr>
          <a:lstStyle/>
          <a:p>
            <a:pPr algn="l">
              <a:lnSpc>
                <a:spcPct val="122000"/>
              </a:lnSpc>
            </a:pPr>
            <a:r>
              <a:rPr sz="1900" b="1">
                <a:solidFill>
                  <a:srgbClr val="24A046"/>
                </a:solidFill>
                <a:latin typeface="Amazon Ember"/>
                <a:ea typeface="メイリオ"/>
                <a:cs typeface="メイリオ"/>
              </a:rPr>
              <a:t>直した後</a:t>
            </a:r>
          </a:p>
        </p:txBody>
      </p:sp>
      <p:sp>
        <p:nvSpPr>
          <p:cNvPr id="15" name="Rounded Rectangle 14"/>
          <p:cNvSpPr/>
          <p:nvPr/>
        </p:nvSpPr>
        <p:spPr>
          <a:xfrm>
            <a:off x="1838325" y="1647825"/>
            <a:ext cx="20955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AI エージェント</a:t>
            </a:r>
          </a:p>
        </p:txBody>
      </p:sp>
      <p:sp>
        <p:nvSpPr>
          <p:cNvPr id="16" name="Rounded Rectangle 15"/>
          <p:cNvSpPr/>
          <p:nvPr/>
        </p:nvSpPr>
        <p:spPr>
          <a:xfrm>
            <a:off x="5838825" y="1647825"/>
            <a:ext cx="24765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Entra ID の</a:t>
            </a:r>
          </a:p>
          <a:p>
            <a:pPr algn="ctr">
              <a:lnSpc>
                <a:spcPct val="122000"/>
              </a:lnSpc>
            </a:pPr>
            <a:r>
              <a:rPr sz="1600" b="1">
                <a:solidFill>
                  <a:srgbClr val="F5F5F8"/>
                </a:solidFill>
                <a:latin typeface="Amazon Ember"/>
                <a:ea typeface="メイリオ"/>
                <a:cs typeface="メイリオ"/>
              </a:rPr>
              <a:t>アプリの名簿</a:t>
            </a:r>
          </a:p>
        </p:txBody>
      </p:sp>
      <p:cxnSp>
        <p:nvCxnSpPr>
          <p:cNvPr id="17" name="Connector 16"/>
          <p:cNvCxnSpPr>
            <a:stCxn id="15" idx="3"/>
            <a:endCxn id="16" idx="1"/>
          </p:cNvCxnSpPr>
          <p:nvPr/>
        </p:nvCxnSpPr>
        <p:spPr>
          <a:xfrm flipV="1">
            <a:off x="3933825" y="1952625"/>
            <a:ext cx="1905000" cy="0"/>
          </a:xfrm>
          <a:prstGeom prst="line">
            <a:avLst/>
          </a:prstGeom>
          <a:ln w="31750">
            <a:solidFill>
              <a:srgbClr val="DC3C5A"/>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981450" y="1362075"/>
            <a:ext cx="1905000" cy="285750"/>
          </a:xfrm>
          <a:prstGeom prst="rect">
            <a:avLst/>
          </a:prstGeom>
          <a:noFill/>
        </p:spPr>
        <p:txBody>
          <a:bodyPr wrap="square" lIns="0" rIns="0" tIns="0" bIns="0" anchor="ctr">
            <a:spAutoFit/>
          </a:bodyPr>
          <a:lstStyle/>
          <a:p>
            <a:pPr algn="ctr">
              <a:lnSpc>
                <a:spcPct val="122000"/>
              </a:lnSpc>
            </a:pPr>
            <a:r>
              <a:rPr sz="1500" b="0">
                <a:solidFill>
                  <a:srgbClr val="DC3C5A"/>
                </a:solidFill>
                <a:latin typeface="Amazon Ember"/>
                <a:ea typeface="メイリオ"/>
                <a:cs typeface="メイリオ"/>
              </a:rPr>
              <a:t>自分を登録したい</a:t>
            </a:r>
          </a:p>
        </p:txBody>
      </p:sp>
      <p:sp>
        <p:nvSpPr>
          <p:cNvPr id="19" name="Rounded Rectangle 18"/>
          <p:cNvSpPr/>
          <p:nvPr/>
        </p:nvSpPr>
        <p:spPr>
          <a:xfrm>
            <a:off x="8696325" y="1647825"/>
            <a:ext cx="3048000" cy="6096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受け付けられず止まる</a:t>
            </a:r>
          </a:p>
        </p:txBody>
      </p:sp>
      <p:sp>
        <p:nvSpPr>
          <p:cNvPr id="20" name="Rounded Rectangle 19"/>
          <p:cNvSpPr/>
          <p:nvPr/>
        </p:nvSpPr>
        <p:spPr>
          <a:xfrm>
            <a:off x="1838325" y="4124325"/>
            <a:ext cx="19050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AI エージェント</a:t>
            </a:r>
          </a:p>
        </p:txBody>
      </p:sp>
      <p:sp>
        <p:nvSpPr>
          <p:cNvPr id="21" name="Rounded Rectangle 20"/>
          <p:cNvSpPr/>
          <p:nvPr/>
        </p:nvSpPr>
        <p:spPr>
          <a:xfrm>
            <a:off x="4410075" y="3076575"/>
            <a:ext cx="2857500" cy="6667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400" b="1">
                <a:solidFill>
                  <a:srgbClr val="F5F5F8"/>
                </a:solidFill>
                <a:latin typeface="Amazon Ember"/>
                <a:ea typeface="メイリオ"/>
                <a:cs typeface="メイリオ"/>
              </a:rPr>
              <a:t>中継サーバー: 登録の依頼に</a:t>
            </a:r>
          </a:p>
          <a:p>
            <a:pPr algn="ctr">
              <a:lnSpc>
                <a:spcPct val="122000"/>
              </a:lnSpc>
            </a:pPr>
            <a:r>
              <a:rPr sz="1400" b="1">
                <a:solidFill>
                  <a:srgbClr val="F5F5F8"/>
                </a:solidFill>
                <a:latin typeface="Amazon Ember"/>
                <a:ea typeface="メイリオ"/>
                <a:cs typeface="メイリオ"/>
              </a:rPr>
              <a:t>登録済みの client ID を返す</a:t>
            </a:r>
          </a:p>
        </p:txBody>
      </p:sp>
      <p:sp>
        <p:nvSpPr>
          <p:cNvPr id="22" name="Rounded Rectangle 21"/>
          <p:cNvSpPr/>
          <p:nvPr/>
        </p:nvSpPr>
        <p:spPr>
          <a:xfrm>
            <a:off x="7934325" y="3076575"/>
            <a:ext cx="2095500" cy="6667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Entra ID で</a:t>
            </a:r>
          </a:p>
          <a:p>
            <a:pPr algn="ctr">
              <a:lnSpc>
                <a:spcPct val="122000"/>
              </a:lnSpc>
            </a:pPr>
            <a:r>
              <a:rPr sz="1600" b="1">
                <a:solidFill>
                  <a:srgbClr val="F5F5F8"/>
                </a:solidFill>
                <a:latin typeface="Amazon Ember"/>
                <a:ea typeface="メイリオ"/>
                <a:cs typeface="メイリオ"/>
              </a:rPr>
              <a:t>サインイン</a:t>
            </a:r>
          </a:p>
        </p:txBody>
      </p:sp>
      <p:sp>
        <p:nvSpPr>
          <p:cNvPr id="23" name="Rounded Rectangle 22"/>
          <p:cNvSpPr/>
          <p:nvPr/>
        </p:nvSpPr>
        <p:spPr>
          <a:xfrm>
            <a:off x="4410075" y="4124325"/>
            <a:ext cx="2857500" cy="5715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400" b="1">
                <a:solidFill>
                  <a:srgbClr val="F5F5F8"/>
                </a:solidFill>
                <a:latin typeface="Amazon Ember"/>
                <a:ea typeface="メイリオ"/>
                <a:cs typeface="メイリオ"/>
              </a:rPr>
              <a:t>中継サーバーが</a:t>
            </a:r>
          </a:p>
          <a:p>
            <a:pPr algn="ctr">
              <a:lnSpc>
                <a:spcPct val="122000"/>
              </a:lnSpc>
            </a:pPr>
            <a:r>
              <a:rPr sz="1400" b="1">
                <a:solidFill>
                  <a:srgbClr val="F5F5F8"/>
                </a:solidFill>
                <a:latin typeface="Amazon Ember"/>
                <a:ea typeface="メイリオ"/>
                <a:cs typeface="メイリオ"/>
              </a:rPr>
              <a:t>呼び出しを渡す</a:t>
            </a:r>
          </a:p>
        </p:txBody>
      </p:sp>
      <p:sp>
        <p:nvSpPr>
          <p:cNvPr id="24" name="Rounded Rectangle 23"/>
          <p:cNvSpPr/>
          <p:nvPr/>
        </p:nvSpPr>
        <p:spPr>
          <a:xfrm>
            <a:off x="7934325" y="4124325"/>
            <a:ext cx="209550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Gateway</a:t>
            </a:r>
          </a:p>
        </p:txBody>
      </p:sp>
      <p:sp>
        <p:nvSpPr>
          <p:cNvPr id="25" name="Rounded Rectangle 24"/>
          <p:cNvSpPr/>
          <p:nvPr/>
        </p:nvSpPr>
        <p:spPr>
          <a:xfrm>
            <a:off x="10601325" y="4124325"/>
            <a:ext cx="12382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SaaS</a:t>
            </a:r>
          </a:p>
        </p:txBody>
      </p:sp>
      <p:cxnSp>
        <p:nvCxnSpPr>
          <p:cNvPr id="26" name="Connector 25"/>
          <p:cNvCxnSpPr>
            <a:stCxn id="20" idx="0"/>
            <a:endCxn id="21" idx="1"/>
          </p:cNvCxnSpPr>
          <p:nvPr/>
        </p:nvCxnSpPr>
        <p:spPr>
          <a:xfrm flipV="1">
            <a:off x="2790825" y="3409950"/>
            <a:ext cx="1619250" cy="714375"/>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a:stCxn id="21" idx="3"/>
            <a:endCxn id="22" idx="1"/>
          </p:cNvCxnSpPr>
          <p:nvPr/>
        </p:nvCxnSpPr>
        <p:spPr>
          <a:xfrm flipV="1">
            <a:off x="7267575" y="3409950"/>
            <a:ext cx="666750" cy="0"/>
          </a:xfrm>
          <a:prstGeom prst="line">
            <a:avLst/>
          </a:prstGeom>
          <a:ln w="25400">
            <a:solidFill>
              <a:srgbClr val="24A046"/>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a:stCxn id="20" idx="3"/>
            <a:endCxn id="23" idx="1"/>
          </p:cNvCxnSpPr>
          <p:nvPr/>
        </p:nvCxnSpPr>
        <p:spPr>
          <a:xfrm flipV="1">
            <a:off x="3743325" y="4410075"/>
            <a:ext cx="666750" cy="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a:stCxn id="23" idx="3"/>
            <a:endCxn id="24" idx="1"/>
          </p:cNvCxnSpPr>
          <p:nvPr/>
        </p:nvCxnSpPr>
        <p:spPr>
          <a:xfrm flipV="1">
            <a:off x="7267575" y="4410075"/>
            <a:ext cx="666750" cy="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a:stCxn id="24" idx="3"/>
            <a:endCxn id="25" idx="1"/>
          </p:cNvCxnSpPr>
          <p:nvPr/>
        </p:nvCxnSpPr>
        <p:spPr>
          <a:xfrm flipV="1">
            <a:off x="10029825" y="4410075"/>
            <a:ext cx="571500" cy="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WIRING B</a:t>
            </a:r>
          </a:p>
        </p:txBody>
      </p:sp>
      <p:sp>
        <p:nvSpPr>
          <p:cNvPr id="3" name="TextBox 2"/>
          <p:cNvSpPr txBox="1"/>
          <p:nvPr/>
        </p:nvSpPr>
        <p:spPr>
          <a:xfrm>
            <a:off x="409575" y="476250"/>
            <a:ext cx="11449050" cy="492125"/>
          </a:xfrm>
          <a:prstGeom prst="rect">
            <a:avLst/>
          </a:prstGeom>
          <a:noFill/>
        </p:spPr>
        <p:txBody>
          <a:bodyPr wrap="square" lIns="0" rIns="0" tIns="0" bIns="0" anchor="ctr">
            <a:spAutoFit/>
          </a:bodyPr>
          <a:lstStyle/>
          <a:p>
            <a:pPr algn="l">
              <a:lnSpc>
                <a:spcPct val="122000"/>
              </a:lnSpc>
            </a:pPr>
            <a:r>
              <a:rPr sz="3100" b="1">
                <a:solidFill>
                  <a:srgbClr val="FFFFFF"/>
                </a:solidFill>
                <a:latin typeface="Amazon Ember"/>
                <a:ea typeface="メイリオ"/>
                <a:cs typeface="メイリオ"/>
              </a:rPr>
              <a:t>B の直し方: 通行証に書かれた宛先と、受付の条件をそろえる</a:t>
            </a:r>
          </a:p>
        </p:txBody>
      </p:sp>
      <p:sp>
        <p:nvSpPr>
          <p:cNvPr id="4" name="Rectangle 3"/>
          <p:cNvSpPr/>
          <p:nvPr/>
        </p:nvSpPr>
        <p:spPr>
          <a:xfrm>
            <a:off x="409575" y="1025525"/>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266825"/>
            <a:ext cx="171450" cy="171450"/>
          </a:xfrm>
          <a:prstGeom prst="roundRect">
            <a:avLst>
              <a:gd name="adj" fmla="val 20000"/>
            </a:avLst>
          </a:prstGeom>
          <a:solidFill>
            <a:srgbClr val="DC3C5A"/>
          </a:solidFill>
          <a:ln w="1270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2096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止まる線</a:t>
            </a:r>
          </a:p>
        </p:txBody>
      </p:sp>
      <p:sp>
        <p:nvSpPr>
          <p:cNvPr id="7" name="Rounded Rectangle 6"/>
          <p:cNvSpPr/>
          <p:nvPr/>
        </p:nvSpPr>
        <p:spPr>
          <a:xfrm>
            <a:off x="1724025" y="1266825"/>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71675" y="12096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直した後に通る線</a:t>
            </a:r>
          </a:p>
        </p:txBody>
      </p:sp>
      <p:sp>
        <p:nvSpPr>
          <p:cNvPr id="9" name="Rounded Rectangle 8"/>
          <p:cNvSpPr/>
          <p:nvPr/>
        </p:nvSpPr>
        <p:spPr>
          <a:xfrm>
            <a:off x="3686175" y="1266825"/>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3825" y="12096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a:t>
            </a:r>
          </a:p>
        </p:txBody>
      </p:sp>
      <p:sp>
        <p:nvSpPr>
          <p:cNvPr id="11" name="Rounded Rectangle 10"/>
          <p:cNvSpPr/>
          <p:nvPr/>
        </p:nvSpPr>
        <p:spPr>
          <a:xfrm>
            <a:off x="4838700" y="1266825"/>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6350" y="12096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3" name="TextBox 12"/>
          <p:cNvSpPr txBox="1"/>
          <p:nvPr/>
        </p:nvSpPr>
        <p:spPr>
          <a:xfrm>
            <a:off x="409575" y="1571625"/>
            <a:ext cx="1333500" cy="381000"/>
          </a:xfrm>
          <a:prstGeom prst="rect">
            <a:avLst/>
          </a:prstGeom>
          <a:noFill/>
        </p:spPr>
        <p:txBody>
          <a:bodyPr wrap="square" lIns="0" rIns="0" tIns="0" bIns="0" anchor="ctr">
            <a:spAutoFit/>
          </a:bodyPr>
          <a:lstStyle/>
          <a:p>
            <a:pPr algn="l">
              <a:lnSpc>
                <a:spcPct val="122000"/>
              </a:lnSpc>
            </a:pPr>
            <a:r>
              <a:rPr sz="1900" b="1">
                <a:solidFill>
                  <a:srgbClr val="DC3C5A"/>
                </a:solidFill>
                <a:latin typeface="Amazon Ember"/>
                <a:ea typeface="メイリオ"/>
                <a:cs typeface="メイリオ"/>
              </a:rPr>
              <a:t>直す前</a:t>
            </a:r>
          </a:p>
        </p:txBody>
      </p:sp>
      <p:sp>
        <p:nvSpPr>
          <p:cNvPr id="14" name="TextBox 13"/>
          <p:cNvSpPr txBox="1"/>
          <p:nvPr/>
        </p:nvSpPr>
        <p:spPr>
          <a:xfrm>
            <a:off x="409575" y="3190875"/>
            <a:ext cx="1333500" cy="381000"/>
          </a:xfrm>
          <a:prstGeom prst="rect">
            <a:avLst/>
          </a:prstGeom>
          <a:noFill/>
        </p:spPr>
        <p:txBody>
          <a:bodyPr wrap="square" lIns="0" rIns="0" tIns="0" bIns="0" anchor="ctr">
            <a:spAutoFit/>
          </a:bodyPr>
          <a:lstStyle/>
          <a:p>
            <a:pPr algn="l">
              <a:lnSpc>
                <a:spcPct val="122000"/>
              </a:lnSpc>
            </a:pPr>
            <a:r>
              <a:rPr sz="1900" b="1">
                <a:solidFill>
                  <a:srgbClr val="24A046"/>
                </a:solidFill>
                <a:latin typeface="Amazon Ember"/>
                <a:ea typeface="メイリオ"/>
                <a:cs typeface="メイリオ"/>
              </a:rPr>
              <a:t>直した後</a:t>
            </a:r>
          </a:p>
        </p:txBody>
      </p:sp>
      <p:sp>
        <p:nvSpPr>
          <p:cNvPr id="15" name="Rounded Rectangle 14"/>
          <p:cNvSpPr/>
          <p:nvPr/>
        </p:nvSpPr>
        <p:spPr>
          <a:xfrm>
            <a:off x="1838325" y="1762125"/>
            <a:ext cx="3429000" cy="6096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通行証の宛先 aud</a:t>
            </a:r>
          </a:p>
          <a:p>
            <a:pPr algn="ctr">
              <a:lnSpc>
                <a:spcPct val="122000"/>
              </a:lnSpc>
            </a:pPr>
            <a:r>
              <a:rPr sz="1600" b="1">
                <a:solidFill>
                  <a:srgbClr val="F5F5F8"/>
                </a:solidFill>
                <a:latin typeface="Amazon Ember"/>
                <a:ea typeface="メイリオ"/>
                <a:cs typeface="メイリオ"/>
              </a:rPr>
              <a:t>= 別のアプリ</a:t>
            </a:r>
          </a:p>
        </p:txBody>
      </p:sp>
      <p:sp>
        <p:nvSpPr>
          <p:cNvPr id="16" name="Rounded Rectangle 15"/>
          <p:cNvSpPr/>
          <p:nvPr/>
        </p:nvSpPr>
        <p:spPr>
          <a:xfrm>
            <a:off x="6315075" y="1762125"/>
            <a:ext cx="2857500" cy="6096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Gateway の条件</a:t>
            </a:r>
          </a:p>
          <a:p>
            <a:pPr algn="ctr">
              <a:lnSpc>
                <a:spcPct val="122000"/>
              </a:lnSpc>
            </a:pPr>
            <a:r>
              <a:rPr sz="1600" b="1">
                <a:solidFill>
                  <a:srgbClr val="F5F5F8"/>
                </a:solidFill>
                <a:latin typeface="Amazon Ember"/>
                <a:ea typeface="メイリオ"/>
                <a:cs typeface="メイリオ"/>
              </a:rPr>
              <a:t>= 権限を公開したアプリ</a:t>
            </a:r>
          </a:p>
        </p:txBody>
      </p:sp>
      <p:cxnSp>
        <p:nvCxnSpPr>
          <p:cNvPr id="17" name="Connector 16"/>
          <p:cNvCxnSpPr>
            <a:stCxn id="15" idx="3"/>
            <a:endCxn id="16" idx="1"/>
          </p:cNvCxnSpPr>
          <p:nvPr/>
        </p:nvCxnSpPr>
        <p:spPr>
          <a:xfrm flipV="1">
            <a:off x="5267325" y="2066925"/>
            <a:ext cx="1047750" cy="0"/>
          </a:xfrm>
          <a:prstGeom prst="line">
            <a:avLst/>
          </a:prstGeom>
          <a:ln w="31750">
            <a:solidFill>
              <a:srgbClr val="DC3C5A"/>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648825" y="1762125"/>
            <a:ext cx="2095500" cy="6096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401 で止まる</a:t>
            </a:r>
          </a:p>
        </p:txBody>
      </p:sp>
      <p:sp>
        <p:nvSpPr>
          <p:cNvPr id="19" name="Rounded Rectangle 18"/>
          <p:cNvSpPr/>
          <p:nvPr/>
        </p:nvSpPr>
        <p:spPr>
          <a:xfrm>
            <a:off x="1838325" y="3381375"/>
            <a:ext cx="2667000" cy="66675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アプリで Gateway</a:t>
            </a:r>
          </a:p>
          <a:p>
            <a:pPr algn="ctr">
              <a:lnSpc>
                <a:spcPct val="122000"/>
              </a:lnSpc>
            </a:pPr>
            <a:r>
              <a:rPr sz="1600" b="1">
                <a:solidFill>
                  <a:srgbClr val="F5F5F8"/>
                </a:solidFill>
                <a:latin typeface="Amazon Ember"/>
                <a:ea typeface="メイリオ"/>
                <a:cs typeface="メイリオ"/>
              </a:rPr>
              <a:t>用の scope を公開</a:t>
            </a:r>
          </a:p>
        </p:txBody>
      </p:sp>
      <p:sp>
        <p:nvSpPr>
          <p:cNvPr id="20" name="Rounded Rectangle 19"/>
          <p:cNvSpPr/>
          <p:nvPr/>
        </p:nvSpPr>
        <p:spPr>
          <a:xfrm>
            <a:off x="5076825" y="3381375"/>
            <a:ext cx="2857500" cy="6667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通行証の宛先と権限</a:t>
            </a:r>
          </a:p>
          <a:p>
            <a:pPr algn="ctr">
              <a:lnSpc>
                <a:spcPct val="122000"/>
              </a:lnSpc>
            </a:pPr>
            <a:r>
              <a:rPr sz="1600" b="1">
                <a:solidFill>
                  <a:srgbClr val="F5F5F8"/>
                </a:solidFill>
                <a:latin typeface="Amazon Ember"/>
                <a:ea typeface="メイリオ"/>
                <a:cs typeface="メイリオ"/>
              </a:rPr>
              <a:t>= 公開したアプリと scope</a:t>
            </a:r>
          </a:p>
        </p:txBody>
      </p:sp>
      <p:sp>
        <p:nvSpPr>
          <p:cNvPr id="21" name="Rounded Rectangle 20"/>
          <p:cNvSpPr/>
          <p:nvPr/>
        </p:nvSpPr>
        <p:spPr>
          <a:xfrm>
            <a:off x="8505825" y="3381375"/>
            <a:ext cx="1905000" cy="66675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Gateway の条件</a:t>
            </a:r>
          </a:p>
        </p:txBody>
      </p:sp>
      <p:sp>
        <p:nvSpPr>
          <p:cNvPr id="22" name="Rounded Rectangle 21"/>
          <p:cNvSpPr/>
          <p:nvPr/>
        </p:nvSpPr>
        <p:spPr>
          <a:xfrm>
            <a:off x="10791825" y="3381375"/>
            <a:ext cx="1047750" cy="6667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900" b="1">
                <a:solidFill>
                  <a:srgbClr val="F5F5F8"/>
                </a:solidFill>
                <a:latin typeface="Amazon Ember"/>
                <a:ea typeface="メイリオ"/>
                <a:cs typeface="メイリオ"/>
              </a:rPr>
              <a:t>200</a:t>
            </a:r>
          </a:p>
        </p:txBody>
      </p:sp>
      <p:cxnSp>
        <p:nvCxnSpPr>
          <p:cNvPr id="23" name="Connector 22"/>
          <p:cNvCxnSpPr>
            <a:stCxn id="19" idx="3"/>
            <a:endCxn id="20" idx="1"/>
          </p:cNvCxnSpPr>
          <p:nvPr/>
        </p:nvCxnSpPr>
        <p:spPr>
          <a:xfrm flipV="1">
            <a:off x="4505325" y="3714750"/>
            <a:ext cx="571500" cy="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a:stCxn id="20" idx="3"/>
            <a:endCxn id="21" idx="1"/>
          </p:cNvCxnSpPr>
          <p:nvPr/>
        </p:nvCxnSpPr>
        <p:spPr>
          <a:xfrm flipV="1">
            <a:off x="7934325" y="3714750"/>
            <a:ext cx="571500" cy="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a:stCxn id="21" idx="3"/>
            <a:endCxn id="22" idx="1"/>
          </p:cNvCxnSpPr>
          <p:nvPr/>
        </p:nvCxnSpPr>
        <p:spPr>
          <a:xfrm flipV="1">
            <a:off x="10410825" y="3714750"/>
            <a:ext cx="381000" cy="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WIRING C</a:t>
            </a:r>
          </a:p>
        </p:txBody>
      </p:sp>
      <p:sp>
        <p:nvSpPr>
          <p:cNvPr id="3" name="TextBox 2"/>
          <p:cNvSpPr txBox="1"/>
          <p:nvPr/>
        </p:nvSpPr>
        <p:spPr>
          <a:xfrm>
            <a:off x="409575" y="476250"/>
            <a:ext cx="11449050" cy="539750"/>
          </a:xfrm>
          <a:prstGeom prst="rect">
            <a:avLst/>
          </a:prstGeom>
          <a:noFill/>
        </p:spPr>
        <p:txBody>
          <a:bodyPr wrap="square" lIns="0" rIns="0" tIns="0" bIns="0" anchor="ctr">
            <a:spAutoFit/>
          </a:bodyPr>
          <a:lstStyle/>
          <a:p>
            <a:pPr algn="l">
              <a:lnSpc>
                <a:spcPct val="122000"/>
              </a:lnSpc>
            </a:pPr>
            <a:r>
              <a:rPr sz="3400" b="1">
                <a:solidFill>
                  <a:srgbClr val="FFFFFF"/>
                </a:solidFill>
                <a:latin typeface="Amazon Ember"/>
                <a:ea typeface="メイリオ"/>
                <a:cs typeface="メイリオ"/>
              </a:rPr>
              <a:t>C の直し方: 期限の前に、通行証をもらい直す</a:t>
            </a:r>
          </a:p>
        </p:txBody>
      </p:sp>
      <p:sp>
        <p:nvSpPr>
          <p:cNvPr id="4" name="Rectangle 3"/>
          <p:cNvSpPr/>
          <p:nvPr/>
        </p:nvSpPr>
        <p:spPr>
          <a:xfrm>
            <a:off x="409575" y="107315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314450"/>
            <a:ext cx="171450" cy="171450"/>
          </a:xfrm>
          <a:prstGeom prst="roundRect">
            <a:avLst>
              <a:gd name="adj" fmla="val 20000"/>
            </a:avLst>
          </a:prstGeom>
          <a:solidFill>
            <a:srgbClr val="DC3C5A"/>
          </a:solidFill>
          <a:ln w="1270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止まる線</a:t>
            </a:r>
          </a:p>
        </p:txBody>
      </p:sp>
      <p:sp>
        <p:nvSpPr>
          <p:cNvPr id="7" name="Rounded Rectangle 6"/>
          <p:cNvSpPr/>
          <p:nvPr/>
        </p:nvSpPr>
        <p:spPr>
          <a:xfrm>
            <a:off x="1724025" y="13144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7167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直した後に通る線</a:t>
            </a:r>
          </a:p>
        </p:txBody>
      </p:sp>
      <p:sp>
        <p:nvSpPr>
          <p:cNvPr id="9" name="Rounded Rectangle 8"/>
          <p:cNvSpPr/>
          <p:nvPr/>
        </p:nvSpPr>
        <p:spPr>
          <a:xfrm>
            <a:off x="3686175" y="13144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38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a:t>
            </a:r>
          </a:p>
        </p:txBody>
      </p:sp>
      <p:sp>
        <p:nvSpPr>
          <p:cNvPr id="11" name="Rounded Rectangle 10"/>
          <p:cNvSpPr/>
          <p:nvPr/>
        </p:nvSpPr>
        <p:spPr>
          <a:xfrm>
            <a:off x="4838700" y="13144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86350"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3" name="TextBox 12"/>
          <p:cNvSpPr txBox="1"/>
          <p:nvPr/>
        </p:nvSpPr>
        <p:spPr>
          <a:xfrm>
            <a:off x="409575" y="1619250"/>
            <a:ext cx="1333500" cy="381000"/>
          </a:xfrm>
          <a:prstGeom prst="rect">
            <a:avLst/>
          </a:prstGeom>
          <a:noFill/>
        </p:spPr>
        <p:txBody>
          <a:bodyPr wrap="square" lIns="0" rIns="0" tIns="0" bIns="0" anchor="ctr">
            <a:spAutoFit/>
          </a:bodyPr>
          <a:lstStyle/>
          <a:p>
            <a:pPr algn="l">
              <a:lnSpc>
                <a:spcPct val="122000"/>
              </a:lnSpc>
            </a:pPr>
            <a:r>
              <a:rPr sz="1900" b="1">
                <a:solidFill>
                  <a:srgbClr val="DC3C5A"/>
                </a:solidFill>
                <a:latin typeface="Amazon Ember"/>
                <a:ea typeface="メイリオ"/>
                <a:cs typeface="メイリオ"/>
              </a:rPr>
              <a:t>直す前</a:t>
            </a:r>
          </a:p>
        </p:txBody>
      </p:sp>
      <p:sp>
        <p:nvSpPr>
          <p:cNvPr id="14" name="TextBox 13"/>
          <p:cNvSpPr txBox="1"/>
          <p:nvPr/>
        </p:nvSpPr>
        <p:spPr>
          <a:xfrm>
            <a:off x="409575" y="3238500"/>
            <a:ext cx="1333500" cy="381000"/>
          </a:xfrm>
          <a:prstGeom prst="rect">
            <a:avLst/>
          </a:prstGeom>
          <a:noFill/>
        </p:spPr>
        <p:txBody>
          <a:bodyPr wrap="square" lIns="0" rIns="0" tIns="0" bIns="0" anchor="ctr">
            <a:spAutoFit/>
          </a:bodyPr>
          <a:lstStyle/>
          <a:p>
            <a:pPr algn="l">
              <a:lnSpc>
                <a:spcPct val="122000"/>
              </a:lnSpc>
            </a:pPr>
            <a:r>
              <a:rPr sz="1900" b="1">
                <a:solidFill>
                  <a:srgbClr val="24A046"/>
                </a:solidFill>
                <a:latin typeface="Amazon Ember"/>
                <a:ea typeface="メイリオ"/>
                <a:cs typeface="メイリオ"/>
              </a:rPr>
              <a:t>直した後</a:t>
            </a:r>
          </a:p>
        </p:txBody>
      </p:sp>
      <p:sp>
        <p:nvSpPr>
          <p:cNvPr id="15" name="Rounded Rectangle 14"/>
          <p:cNvSpPr/>
          <p:nvPr/>
        </p:nvSpPr>
        <p:spPr>
          <a:xfrm>
            <a:off x="1838325" y="1809750"/>
            <a:ext cx="19050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AI エージェント</a:t>
            </a:r>
          </a:p>
        </p:txBody>
      </p:sp>
      <p:sp>
        <p:nvSpPr>
          <p:cNvPr id="16" name="Rounded Rectangle 15"/>
          <p:cNvSpPr/>
          <p:nvPr/>
        </p:nvSpPr>
        <p:spPr>
          <a:xfrm>
            <a:off x="4314825" y="1809750"/>
            <a:ext cx="2476500" cy="6096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通行証</a:t>
            </a:r>
          </a:p>
          <a:p>
            <a:pPr algn="ctr">
              <a:lnSpc>
                <a:spcPct val="122000"/>
              </a:lnSpc>
            </a:pPr>
            <a:r>
              <a:rPr sz="1600" b="1">
                <a:solidFill>
                  <a:srgbClr val="F5F5F8"/>
                </a:solidFill>
                <a:latin typeface="Amazon Ember"/>
                <a:ea typeface="メイリオ"/>
                <a:cs typeface="メイリオ"/>
              </a:rPr>
              <a:t>期限が来る</a:t>
            </a:r>
          </a:p>
        </p:txBody>
      </p:sp>
      <p:sp>
        <p:nvSpPr>
          <p:cNvPr id="17" name="Rounded Rectangle 16"/>
          <p:cNvSpPr/>
          <p:nvPr/>
        </p:nvSpPr>
        <p:spPr>
          <a:xfrm>
            <a:off x="7362825" y="1809750"/>
            <a:ext cx="1905000" cy="6096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Gateway</a:t>
            </a:r>
          </a:p>
        </p:txBody>
      </p:sp>
      <p:cxnSp>
        <p:nvCxnSpPr>
          <p:cNvPr id="18" name="Connector 17"/>
          <p:cNvCxnSpPr>
            <a:stCxn id="15" idx="3"/>
            <a:endCxn id="16" idx="1"/>
          </p:cNvCxnSpPr>
          <p:nvPr/>
        </p:nvCxnSpPr>
        <p:spPr>
          <a:xfrm flipV="1">
            <a:off x="3743325" y="2114550"/>
            <a:ext cx="571500" cy="0"/>
          </a:xfrm>
          <a:prstGeom prst="line">
            <a:avLst/>
          </a:prstGeom>
          <a:ln w="25400">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a:stCxn id="16" idx="3"/>
            <a:endCxn id="17" idx="1"/>
          </p:cNvCxnSpPr>
          <p:nvPr/>
        </p:nvCxnSpPr>
        <p:spPr>
          <a:xfrm flipV="1">
            <a:off x="6791325" y="2114550"/>
            <a:ext cx="571500" cy="0"/>
          </a:xfrm>
          <a:prstGeom prst="line">
            <a:avLst/>
          </a:prstGeom>
          <a:ln w="31750">
            <a:solidFill>
              <a:srgbClr val="DC3C5A"/>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744075" y="1809750"/>
            <a:ext cx="2000250" cy="60960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期限で止まる</a:t>
            </a:r>
          </a:p>
        </p:txBody>
      </p:sp>
      <p:sp>
        <p:nvSpPr>
          <p:cNvPr id="21" name="Rounded Rectangle 20"/>
          <p:cNvSpPr/>
          <p:nvPr/>
        </p:nvSpPr>
        <p:spPr>
          <a:xfrm>
            <a:off x="1838325" y="3905250"/>
            <a:ext cx="19050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AI エージェント</a:t>
            </a:r>
          </a:p>
        </p:txBody>
      </p:sp>
      <p:sp>
        <p:nvSpPr>
          <p:cNvPr id="22" name="Rounded Rectangle 21"/>
          <p:cNvSpPr/>
          <p:nvPr/>
        </p:nvSpPr>
        <p:spPr>
          <a:xfrm>
            <a:off x="4314825" y="3238500"/>
            <a:ext cx="24765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500" b="1">
                <a:solidFill>
                  <a:srgbClr val="F5F5F8"/>
                </a:solidFill>
                <a:latin typeface="Amazon Ember"/>
                <a:ea typeface="メイリオ"/>
                <a:cs typeface="メイリオ"/>
              </a:rPr>
              <a:t>Entra ID</a:t>
            </a:r>
          </a:p>
          <a:p>
            <a:pPr algn="ctr">
              <a:lnSpc>
                <a:spcPct val="122000"/>
              </a:lnSpc>
            </a:pPr>
            <a:r>
              <a:rPr sz="1500" b="1">
                <a:solidFill>
                  <a:srgbClr val="F5F5F8"/>
                </a:solidFill>
                <a:latin typeface="Amazon Ember"/>
                <a:ea typeface="メイリオ"/>
                <a:cs typeface="メイリオ"/>
              </a:rPr>
              <a:t>リフレッシュトークン</a:t>
            </a:r>
          </a:p>
        </p:txBody>
      </p:sp>
      <p:sp>
        <p:nvSpPr>
          <p:cNvPr id="23" name="Rounded Rectangle 22"/>
          <p:cNvSpPr/>
          <p:nvPr/>
        </p:nvSpPr>
        <p:spPr>
          <a:xfrm>
            <a:off x="4314825" y="4191000"/>
            <a:ext cx="2476500" cy="6096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新しい通行証</a:t>
            </a:r>
          </a:p>
        </p:txBody>
      </p:sp>
      <p:sp>
        <p:nvSpPr>
          <p:cNvPr id="24" name="Rounded Rectangle 23"/>
          <p:cNvSpPr/>
          <p:nvPr/>
        </p:nvSpPr>
        <p:spPr>
          <a:xfrm>
            <a:off x="7362825" y="4191000"/>
            <a:ext cx="1905000" cy="6096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Gateway</a:t>
            </a:r>
          </a:p>
        </p:txBody>
      </p:sp>
      <p:sp>
        <p:nvSpPr>
          <p:cNvPr id="25" name="Rounded Rectangle 24"/>
          <p:cNvSpPr/>
          <p:nvPr/>
        </p:nvSpPr>
        <p:spPr>
          <a:xfrm>
            <a:off x="9839325" y="4191000"/>
            <a:ext cx="1905000" cy="6096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SaaS</a:t>
            </a:r>
          </a:p>
        </p:txBody>
      </p:sp>
      <p:cxnSp>
        <p:nvCxnSpPr>
          <p:cNvPr id="26" name="Connector 25"/>
          <p:cNvCxnSpPr>
            <a:stCxn id="21" idx="0"/>
            <a:endCxn id="22" idx="1"/>
          </p:cNvCxnSpPr>
          <p:nvPr/>
        </p:nvCxnSpPr>
        <p:spPr>
          <a:xfrm flipV="1">
            <a:off x="2790825" y="3543300"/>
            <a:ext cx="1524000" cy="36195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a:stCxn id="22" idx="2"/>
            <a:endCxn id="23" idx="0"/>
          </p:cNvCxnSpPr>
          <p:nvPr/>
        </p:nvCxnSpPr>
        <p:spPr>
          <a:xfrm flipH="1">
            <a:off x="5553075" y="3848100"/>
            <a:ext cx="0" cy="34290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a:stCxn id="23" idx="3"/>
            <a:endCxn id="24" idx="1"/>
          </p:cNvCxnSpPr>
          <p:nvPr/>
        </p:nvCxnSpPr>
        <p:spPr>
          <a:xfrm flipV="1">
            <a:off x="6791325" y="4495800"/>
            <a:ext cx="571500" cy="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a:stCxn id="24" idx="3"/>
            <a:endCxn id="25" idx="1"/>
          </p:cNvCxnSpPr>
          <p:nvPr/>
        </p:nvCxnSpPr>
        <p:spPr>
          <a:xfrm flipV="1">
            <a:off x="9267825" y="4495800"/>
            <a:ext cx="571500" cy="0"/>
          </a:xfrm>
          <a:prstGeom prst="line">
            <a:avLst/>
          </a:prstGeom>
          <a:ln w="31750">
            <a:solidFill>
              <a:srgbClr val="24A04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981825" y="3333750"/>
            <a:ext cx="2857500" cy="381000"/>
          </a:xfrm>
          <a:prstGeom prst="rect">
            <a:avLst/>
          </a:prstGeom>
          <a:noFill/>
        </p:spPr>
        <p:txBody>
          <a:bodyPr wrap="square" lIns="0" rIns="0" tIns="0" bIns="0" anchor="ctr">
            <a:spAutoFit/>
          </a:bodyPr>
          <a:lstStyle/>
          <a:p>
            <a:pPr algn="l">
              <a:lnSpc>
                <a:spcPct val="122000"/>
              </a:lnSpc>
            </a:pPr>
            <a:r>
              <a:rPr sz="1400" b="0">
                <a:solidFill>
                  <a:srgbClr val="24A046"/>
                </a:solidFill>
                <a:latin typeface="Amazon Ember"/>
                <a:ea typeface="メイリオ"/>
                <a:cs typeface="メイリオ"/>
              </a:rPr>
              <a:t>期限の前にもらい直す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AUDIT LOG</a:t>
            </a:r>
          </a:p>
        </p:txBody>
      </p:sp>
      <p:sp>
        <p:nvSpPr>
          <p:cNvPr id="3" name="TextBox 2"/>
          <p:cNvSpPr txBox="1"/>
          <p:nvPr/>
        </p:nvSpPr>
        <p:spPr>
          <a:xfrm>
            <a:off x="409575" y="476250"/>
            <a:ext cx="11449050" cy="381000"/>
          </a:xfrm>
          <a:prstGeom prst="rect">
            <a:avLst/>
          </a:prstGeom>
          <a:noFill/>
        </p:spPr>
        <p:txBody>
          <a:bodyPr wrap="square" lIns="0" rIns="0" tIns="0" bIns="0" anchor="ctr">
            <a:spAutoFit/>
          </a:bodyPr>
          <a:lstStyle/>
          <a:p>
            <a:pPr algn="l">
              <a:lnSpc>
                <a:spcPct val="122000"/>
              </a:lnSpc>
            </a:pPr>
            <a:r>
              <a:rPr sz="2400" b="1">
                <a:solidFill>
                  <a:srgbClr val="FFFFFF"/>
                </a:solidFill>
                <a:latin typeface="Amazon Ember"/>
                <a:ea typeface="メイリオ"/>
                <a:cs typeface="メイリオ"/>
              </a:rPr>
              <a:t>AppFabric は freee に対応しておらず、GitHub だけなら使わなくて済む</a:t>
            </a:r>
          </a:p>
        </p:txBody>
      </p:sp>
      <p:sp>
        <p:nvSpPr>
          <p:cNvPr id="4" name="Rectangle 3"/>
          <p:cNvSpPr/>
          <p:nvPr/>
        </p:nvSpPr>
        <p:spPr>
          <a:xfrm>
            <a:off x="409575" y="91440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1620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1049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7" name="Rounded Rectangle 6"/>
          <p:cNvSpPr/>
          <p:nvPr/>
        </p:nvSpPr>
        <p:spPr>
          <a:xfrm>
            <a:off x="2209800" y="11620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57450" y="11049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9" name="Rounded Rectangle 8"/>
          <p:cNvSpPr/>
          <p:nvPr/>
        </p:nvSpPr>
        <p:spPr>
          <a:xfrm>
            <a:off x="4333875" y="11620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525" y="11049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1" name="Rounded Rectangle 10"/>
          <p:cNvSpPr/>
          <p:nvPr/>
        </p:nvSpPr>
        <p:spPr>
          <a:xfrm>
            <a:off x="5810250" y="11620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57900" y="11049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3" name="TextBox 12"/>
          <p:cNvSpPr txBox="1"/>
          <p:nvPr/>
        </p:nvSpPr>
        <p:spPr>
          <a:xfrm>
            <a:off x="409575" y="1466850"/>
            <a:ext cx="5467350" cy="3429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AppFabric を通す</a:t>
            </a:r>
          </a:p>
        </p:txBody>
      </p:sp>
      <p:sp>
        <p:nvSpPr>
          <p:cNvPr id="14" name="TextBox 13"/>
          <p:cNvSpPr txBox="1"/>
          <p:nvPr/>
        </p:nvSpPr>
        <p:spPr>
          <a:xfrm>
            <a:off x="6315075" y="1466850"/>
            <a:ext cx="5467350" cy="3429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今回の案: GitHub から直接送る</a:t>
            </a:r>
          </a:p>
        </p:txBody>
      </p:sp>
      <p:sp>
        <p:nvSpPr>
          <p:cNvPr id="15" name="Rounded Rectangle 14"/>
          <p:cNvSpPr/>
          <p:nvPr/>
        </p:nvSpPr>
        <p:spPr>
          <a:xfrm>
            <a:off x="600075" y="2038350"/>
            <a:ext cx="20955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GitHub</a:t>
            </a:r>
          </a:p>
        </p:txBody>
      </p:sp>
      <p:sp>
        <p:nvSpPr>
          <p:cNvPr id="16" name="Rounded Rectangle 15"/>
          <p:cNvSpPr/>
          <p:nvPr/>
        </p:nvSpPr>
        <p:spPr>
          <a:xfrm>
            <a:off x="600075" y="2895600"/>
            <a:ext cx="20955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freee</a:t>
            </a:r>
          </a:p>
        </p:txBody>
      </p:sp>
      <p:sp>
        <p:nvSpPr>
          <p:cNvPr id="17" name="Rounded Rectangle 16"/>
          <p:cNvSpPr/>
          <p:nvPr/>
        </p:nvSpPr>
        <p:spPr>
          <a:xfrm>
            <a:off x="3267075" y="2038350"/>
            <a:ext cx="228600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AppFabric</a:t>
            </a:r>
          </a:p>
        </p:txBody>
      </p:sp>
      <p:sp>
        <p:nvSpPr>
          <p:cNvPr id="18" name="Rounded Rectangle 17"/>
          <p:cNvSpPr/>
          <p:nvPr/>
        </p:nvSpPr>
        <p:spPr>
          <a:xfrm>
            <a:off x="3267075" y="3371850"/>
            <a:ext cx="228600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S3</a:t>
            </a:r>
          </a:p>
        </p:txBody>
      </p:sp>
      <p:cxnSp>
        <p:nvCxnSpPr>
          <p:cNvPr id="19" name="Connector 18"/>
          <p:cNvCxnSpPr>
            <a:stCxn id="15" idx="3"/>
            <a:endCxn id="17" idx="1"/>
          </p:cNvCxnSpPr>
          <p:nvPr/>
        </p:nvCxnSpPr>
        <p:spPr>
          <a:xfrm flipV="1">
            <a:off x="2695575" y="2324100"/>
            <a:ext cx="5715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a:stCxn id="17" idx="2"/>
            <a:endCxn id="18" idx="0"/>
          </p:cNvCxnSpPr>
          <p:nvPr/>
        </p:nvCxnSpPr>
        <p:spPr>
          <a:xfrm flipH="1">
            <a:off x="4410075" y="2609850"/>
            <a:ext cx="0" cy="7620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00075" y="3752850"/>
            <a:ext cx="2095500" cy="476250"/>
          </a:xfrm>
          <a:prstGeom prst="roundRect">
            <a:avLst>
              <a:gd name="adj" fmla="val 12000"/>
            </a:avLst>
          </a:prstGeom>
          <a:solidFill>
            <a:srgbClr val="501222"/>
          </a:solidFill>
          <a:ln w="19050">
            <a:solidFill>
              <a:srgbClr val="DC3C5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非対応</a:t>
            </a:r>
          </a:p>
        </p:txBody>
      </p:sp>
      <p:sp>
        <p:nvSpPr>
          <p:cNvPr id="22" name="Rounded Rectangle 21"/>
          <p:cNvSpPr/>
          <p:nvPr/>
        </p:nvSpPr>
        <p:spPr>
          <a:xfrm>
            <a:off x="600075" y="4419600"/>
            <a:ext cx="4953000" cy="5334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利用者 1 人あたり月 3 ドル</a:t>
            </a:r>
          </a:p>
        </p:txBody>
      </p:sp>
      <p:sp>
        <p:nvSpPr>
          <p:cNvPr id="23" name="Rounded Rectangle 22"/>
          <p:cNvSpPr/>
          <p:nvPr/>
        </p:nvSpPr>
        <p:spPr>
          <a:xfrm>
            <a:off x="6505575" y="2038350"/>
            <a:ext cx="209550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GitHub</a:t>
            </a:r>
          </a:p>
        </p:txBody>
      </p:sp>
      <p:sp>
        <p:nvSpPr>
          <p:cNvPr id="24" name="Rounded Rectangle 23"/>
          <p:cNvSpPr/>
          <p:nvPr/>
        </p:nvSpPr>
        <p:spPr>
          <a:xfrm>
            <a:off x="9363075" y="2038350"/>
            <a:ext cx="219075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S3</a:t>
            </a:r>
          </a:p>
        </p:txBody>
      </p:sp>
      <p:cxnSp>
        <p:nvCxnSpPr>
          <p:cNvPr id="25" name="Connector 24"/>
          <p:cNvCxnSpPr>
            <a:stCxn id="23" idx="3"/>
            <a:endCxn id="24" idx="1"/>
          </p:cNvCxnSpPr>
          <p:nvPr/>
        </p:nvCxnSpPr>
        <p:spPr>
          <a:xfrm flipV="1">
            <a:off x="8601075" y="2324100"/>
            <a:ext cx="7620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505575" y="2895600"/>
            <a:ext cx="5048250" cy="5715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Enterprise Cloud の送信機能を使う</a:t>
            </a:r>
          </a:p>
        </p:txBody>
      </p:sp>
      <p:sp>
        <p:nvSpPr>
          <p:cNvPr id="27" name="Rounded Rectangle 26"/>
          <p:cNvSpPr/>
          <p:nvPr/>
        </p:nvSpPr>
        <p:spPr>
          <a:xfrm>
            <a:off x="6505575" y="3657600"/>
            <a:ext cx="5048250" cy="5334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freee は取り方を確認する</a:t>
            </a:r>
          </a:p>
        </p:txBody>
      </p:sp>
      <p:sp>
        <p:nvSpPr>
          <p:cNvPr id="28" name="Rounded Rectangle 27"/>
          <p:cNvSpPr/>
          <p:nvPr/>
        </p:nvSpPr>
        <p:spPr>
          <a:xfrm>
            <a:off x="6505575" y="4419600"/>
            <a:ext cx="5048250" cy="5334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AppFabric の利用者ごとの料金はない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AUDIT LOG</a:t>
            </a:r>
          </a:p>
        </p:txBody>
      </p:sp>
      <p:sp>
        <p:nvSpPr>
          <p:cNvPr id="3" name="TextBox 2"/>
          <p:cNvSpPr txBox="1"/>
          <p:nvPr/>
        </p:nvSpPr>
        <p:spPr>
          <a:xfrm>
            <a:off x="409575" y="476250"/>
            <a:ext cx="11449050" cy="492125"/>
          </a:xfrm>
          <a:prstGeom prst="rect">
            <a:avLst/>
          </a:prstGeom>
          <a:noFill/>
        </p:spPr>
        <p:txBody>
          <a:bodyPr wrap="square" lIns="0" rIns="0" tIns="0" bIns="0" anchor="ctr">
            <a:spAutoFit/>
          </a:bodyPr>
          <a:lstStyle/>
          <a:p>
            <a:pPr algn="l">
              <a:lnSpc>
                <a:spcPct val="122000"/>
              </a:lnSpc>
            </a:pPr>
            <a:r>
              <a:rPr sz="3100" b="1">
                <a:solidFill>
                  <a:srgbClr val="FFFFFF"/>
                </a:solidFill>
                <a:latin typeface="Amazon Ember"/>
                <a:ea typeface="メイリオ"/>
                <a:cs typeface="メイリオ"/>
              </a:rPr>
              <a:t>freee は、監査ログの取り方を freee 社に確かめるのが先</a:t>
            </a:r>
          </a:p>
        </p:txBody>
      </p:sp>
      <p:sp>
        <p:nvSpPr>
          <p:cNvPr id="4" name="Rectangle 3"/>
          <p:cNvSpPr/>
          <p:nvPr/>
        </p:nvSpPr>
        <p:spPr>
          <a:xfrm>
            <a:off x="409575" y="1025525"/>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266825"/>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2096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確かめること</a:t>
            </a:r>
          </a:p>
        </p:txBody>
      </p:sp>
      <p:sp>
        <p:nvSpPr>
          <p:cNvPr id="7" name="Rounded Rectangle 6"/>
          <p:cNvSpPr/>
          <p:nvPr/>
        </p:nvSpPr>
        <p:spPr>
          <a:xfrm>
            <a:off x="2047875" y="1266825"/>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95525" y="1209675"/>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取れなかったときの案</a:t>
            </a:r>
          </a:p>
        </p:txBody>
      </p:sp>
      <p:sp>
        <p:nvSpPr>
          <p:cNvPr id="9" name="Rounded Rectangle 8"/>
          <p:cNvSpPr/>
          <p:nvPr/>
        </p:nvSpPr>
        <p:spPr>
          <a:xfrm>
            <a:off x="409575" y="1571625"/>
            <a:ext cx="7239000" cy="5524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ログイン、権限の変更、帳票の作成・修正・削除の記録が取れるか</a:t>
            </a:r>
          </a:p>
        </p:txBody>
      </p:sp>
      <p:sp>
        <p:nvSpPr>
          <p:cNvPr id="10" name="Rounded Rectangle 9"/>
          <p:cNvSpPr/>
          <p:nvPr/>
        </p:nvSpPr>
        <p:spPr>
          <a:xfrm>
            <a:off x="409575" y="2257425"/>
            <a:ext cx="7239000" cy="5524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取り方は API か、画面からの書き出しか</a:t>
            </a:r>
          </a:p>
        </p:txBody>
      </p:sp>
      <p:sp>
        <p:nvSpPr>
          <p:cNvPr id="11" name="Rounded Rectangle 10"/>
          <p:cNvSpPr/>
          <p:nvPr/>
        </p:nvSpPr>
        <p:spPr>
          <a:xfrm>
            <a:off x="409575" y="2943225"/>
            <a:ext cx="7239000" cy="5524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何日分さかのぼれるか、保管される期間</a:t>
            </a:r>
          </a:p>
        </p:txBody>
      </p:sp>
      <p:sp>
        <p:nvSpPr>
          <p:cNvPr id="12" name="Rounded Rectangle 11"/>
          <p:cNvSpPr/>
          <p:nvPr/>
        </p:nvSpPr>
        <p:spPr>
          <a:xfrm>
            <a:off x="409575" y="3629025"/>
            <a:ext cx="7239000" cy="55245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必要なプランと料金</a:t>
            </a:r>
          </a:p>
        </p:txBody>
      </p:sp>
      <p:sp>
        <p:nvSpPr>
          <p:cNvPr id="13" name="Rounded Rectangle 12"/>
          <p:cNvSpPr/>
          <p:nvPr/>
        </p:nvSpPr>
        <p:spPr>
          <a:xfrm>
            <a:off x="8124825" y="1571625"/>
            <a:ext cx="3657600" cy="12382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書き出ししかなければ</a:t>
            </a:r>
          </a:p>
          <a:p>
            <a:pPr algn="ctr">
              <a:lnSpc>
                <a:spcPct val="122000"/>
              </a:lnSpc>
            </a:pPr>
            <a:r>
              <a:rPr sz="1700" b="1">
                <a:solidFill>
                  <a:srgbClr val="F5F5F8"/>
                </a:solidFill>
                <a:latin typeface="Amazon Ember"/>
                <a:ea typeface="メイリオ"/>
                <a:cs typeface="メイリオ"/>
              </a:rPr>
              <a:t>人が定期的に S3 へ置く</a:t>
            </a:r>
          </a:p>
        </p:txBody>
      </p:sp>
      <p:sp>
        <p:nvSpPr>
          <p:cNvPr id="14" name="Rounded Rectangle 13"/>
          <p:cNvSpPr/>
          <p:nvPr/>
        </p:nvSpPr>
        <p:spPr>
          <a:xfrm>
            <a:off x="8124825" y="3076575"/>
            <a:ext cx="3657600" cy="123825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取れなければ</a:t>
            </a:r>
          </a:p>
          <a:p>
            <a:pPr algn="ctr">
              <a:lnSpc>
                <a:spcPct val="122000"/>
              </a:lnSpc>
            </a:pPr>
            <a:r>
              <a:rPr sz="1700" b="1">
                <a:solidFill>
                  <a:srgbClr val="F5F5F8"/>
                </a:solidFill>
                <a:latin typeface="Amazon Ember"/>
                <a:ea typeface="メイリオ"/>
                <a:cs typeface="メイリオ"/>
              </a:rPr>
              <a:t>見張らないことを</a:t>
            </a:r>
          </a:p>
          <a:p>
            <a:pPr algn="ctr">
              <a:lnSpc>
                <a:spcPct val="122000"/>
              </a:lnSpc>
            </a:pPr>
            <a:r>
              <a:rPr sz="1700" b="1">
                <a:solidFill>
                  <a:srgbClr val="F5F5F8"/>
                </a:solidFill>
                <a:latin typeface="Amazon Ember"/>
                <a:ea typeface="メイリオ"/>
                <a:cs typeface="メイリオ"/>
              </a:rPr>
              <a:t>お客様が判断する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AUDIT LOG</a:t>
            </a:r>
          </a:p>
        </p:txBody>
      </p:sp>
      <p:sp>
        <p:nvSpPr>
          <p:cNvPr id="3" name="TextBox 2"/>
          <p:cNvSpPr txBox="1"/>
          <p:nvPr/>
        </p:nvSpPr>
        <p:spPr>
          <a:xfrm>
            <a:off x="409575" y="476250"/>
            <a:ext cx="11449050" cy="539750"/>
          </a:xfrm>
          <a:prstGeom prst="rect">
            <a:avLst/>
          </a:prstGeom>
          <a:noFill/>
        </p:spPr>
        <p:txBody>
          <a:bodyPr wrap="square" lIns="0" rIns="0" tIns="0" bIns="0" anchor="ctr">
            <a:spAutoFit/>
          </a:bodyPr>
          <a:lstStyle/>
          <a:p>
            <a:pPr algn="l">
              <a:lnSpc>
                <a:spcPct val="122000"/>
              </a:lnSpc>
            </a:pPr>
            <a:r>
              <a:rPr sz="3400" b="1">
                <a:solidFill>
                  <a:srgbClr val="FFFFFF"/>
                </a:solidFill>
                <a:latin typeface="Amazon Ember"/>
                <a:ea typeface="メイリオ"/>
                <a:cs typeface="メイリオ"/>
              </a:rPr>
              <a:t>推奨構成: S3 に集め、定型 SQL を定期実行して通知</a:t>
            </a:r>
          </a:p>
        </p:txBody>
      </p:sp>
      <p:sp>
        <p:nvSpPr>
          <p:cNvPr id="4" name="Rectangle 3"/>
          <p:cNvSpPr/>
          <p:nvPr/>
        </p:nvSpPr>
        <p:spPr>
          <a:xfrm>
            <a:off x="409575" y="107315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314450"/>
            <a:ext cx="171450" cy="171450"/>
          </a:xfrm>
          <a:prstGeom prst="roundRect">
            <a:avLst>
              <a:gd name="adj" fmla="val 20000"/>
            </a:avLst>
          </a:prstGeom>
          <a:solidFill>
            <a:srgbClr val="2896F0"/>
          </a:solidFill>
          <a:ln w="1270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AWS が提供</a:t>
            </a:r>
          </a:p>
        </p:txBody>
      </p:sp>
      <p:sp>
        <p:nvSpPr>
          <p:cNvPr id="7" name="Rounded Rectangle 6"/>
          <p:cNvSpPr/>
          <p:nvPr/>
        </p:nvSpPr>
        <p:spPr>
          <a:xfrm>
            <a:off x="2209800" y="13144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457450"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お客様が設定・作る</a:t>
            </a:r>
          </a:p>
        </p:txBody>
      </p:sp>
      <p:sp>
        <p:nvSpPr>
          <p:cNvPr id="9" name="Rounded Rectangle 8"/>
          <p:cNvSpPr/>
          <p:nvPr/>
        </p:nvSpPr>
        <p:spPr>
          <a:xfrm>
            <a:off x="4333875" y="1314450"/>
            <a:ext cx="171450" cy="171450"/>
          </a:xfrm>
          <a:prstGeom prst="roundRect">
            <a:avLst>
              <a:gd name="adj" fmla="val 20000"/>
            </a:avLst>
          </a:prstGeom>
          <a:solidFill>
            <a:srgbClr val="6E727A"/>
          </a:solidFill>
          <a:ln w="1270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5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他社の製品</a:t>
            </a:r>
          </a:p>
        </p:txBody>
      </p:sp>
      <p:sp>
        <p:nvSpPr>
          <p:cNvPr id="11" name="Rounded Rectangle 10"/>
          <p:cNvSpPr/>
          <p:nvPr/>
        </p:nvSpPr>
        <p:spPr>
          <a:xfrm>
            <a:off x="5810250" y="13144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57900"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注意</a:t>
            </a:r>
          </a:p>
        </p:txBody>
      </p:sp>
      <p:sp>
        <p:nvSpPr>
          <p:cNvPr id="13" name="Rounded Rectangle 12"/>
          <p:cNvSpPr/>
          <p:nvPr/>
        </p:nvSpPr>
        <p:spPr>
          <a:xfrm>
            <a:off x="409575" y="1809750"/>
            <a:ext cx="2190750" cy="571500"/>
          </a:xfrm>
          <a:prstGeom prst="roundRect">
            <a:avLst>
              <a:gd name="adj" fmla="val 12000"/>
            </a:avLst>
          </a:prstGeom>
          <a:solidFill>
            <a:srgbClr val="343840"/>
          </a:solidFill>
          <a:ln w="19050">
            <a:solidFill>
              <a:srgbClr val="6E727A"/>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GitHub</a:t>
            </a:r>
          </a:p>
        </p:txBody>
      </p:sp>
      <p:sp>
        <p:nvSpPr>
          <p:cNvPr id="14" name="Rounded Rectangle 13"/>
          <p:cNvSpPr/>
          <p:nvPr/>
        </p:nvSpPr>
        <p:spPr>
          <a:xfrm>
            <a:off x="409575" y="2667000"/>
            <a:ext cx="219075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CloudTrail</a:t>
            </a:r>
          </a:p>
        </p:txBody>
      </p:sp>
      <p:sp>
        <p:nvSpPr>
          <p:cNvPr id="15" name="Rounded Rectangle 14"/>
          <p:cNvSpPr/>
          <p:nvPr/>
        </p:nvSpPr>
        <p:spPr>
          <a:xfrm>
            <a:off x="3076575" y="1562100"/>
            <a:ext cx="2571750" cy="1905000"/>
          </a:xfrm>
          <a:prstGeom prst="roundRect">
            <a:avLst>
              <a:gd name="adj" fmla="val 5000"/>
            </a:avLst>
          </a:prstGeom>
          <a:noFill/>
          <a:ln w="19050">
            <a:solidFill>
              <a:srgbClr val="A0A0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71825" y="3048000"/>
            <a:ext cx="2381250" cy="323850"/>
          </a:xfrm>
          <a:prstGeom prst="rect">
            <a:avLst/>
          </a:prstGeom>
          <a:noFill/>
        </p:spPr>
        <p:txBody>
          <a:bodyPr wrap="square" lIns="0" rIns="0" tIns="0" bIns="0" anchor="ctr">
            <a:spAutoFit/>
          </a:bodyPr>
          <a:lstStyle/>
          <a:p>
            <a:pPr algn="ctr">
              <a:lnSpc>
                <a:spcPct val="122000"/>
              </a:lnSpc>
            </a:pPr>
            <a:r>
              <a:rPr sz="1500" b="0">
                <a:solidFill>
                  <a:srgbClr val="A0A0A8"/>
                </a:solidFill>
                <a:latin typeface="Amazon Ember"/>
                <a:ea typeface="メイリオ"/>
                <a:cs typeface="メイリオ"/>
              </a:rPr>
              <a:t>ログ専用のアカウント</a:t>
            </a:r>
          </a:p>
        </p:txBody>
      </p:sp>
      <p:sp>
        <p:nvSpPr>
          <p:cNvPr id="17" name="Rounded Rectangle 16"/>
          <p:cNvSpPr/>
          <p:nvPr/>
        </p:nvSpPr>
        <p:spPr>
          <a:xfrm>
            <a:off x="3362325" y="2095500"/>
            <a:ext cx="2000250" cy="7620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S3</a:t>
            </a:r>
          </a:p>
          <a:p>
            <a:pPr algn="ctr">
              <a:lnSpc>
                <a:spcPct val="122000"/>
              </a:lnSpc>
            </a:pPr>
            <a:r>
              <a:rPr sz="1800" b="1">
                <a:solidFill>
                  <a:srgbClr val="F5F5F8"/>
                </a:solidFill>
                <a:latin typeface="Amazon Ember"/>
                <a:ea typeface="メイリオ"/>
                <a:cs typeface="メイリオ"/>
              </a:rPr>
              <a:t>ログの原本</a:t>
            </a:r>
          </a:p>
        </p:txBody>
      </p:sp>
      <p:sp>
        <p:nvSpPr>
          <p:cNvPr id="18" name="Rounded Rectangle 17"/>
          <p:cNvSpPr/>
          <p:nvPr/>
        </p:nvSpPr>
        <p:spPr>
          <a:xfrm>
            <a:off x="6505575" y="2095500"/>
            <a:ext cx="2190750" cy="7620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800" b="1">
                <a:solidFill>
                  <a:srgbClr val="F5F5F8"/>
                </a:solidFill>
                <a:latin typeface="Amazon Ember"/>
                <a:ea typeface="メイリオ"/>
                <a:cs typeface="メイリオ"/>
              </a:rPr>
              <a:t>Athena</a:t>
            </a:r>
          </a:p>
          <a:p>
            <a:pPr algn="ctr">
              <a:lnSpc>
                <a:spcPct val="122000"/>
              </a:lnSpc>
            </a:pPr>
            <a:r>
              <a:rPr sz="1800" b="1">
                <a:solidFill>
                  <a:srgbClr val="F5F5F8"/>
                </a:solidFill>
                <a:latin typeface="Amazon Ember"/>
                <a:ea typeface="メイリオ"/>
                <a:cs typeface="メイリオ"/>
              </a:rPr>
              <a:t>定型 SQL</a:t>
            </a:r>
          </a:p>
        </p:txBody>
      </p:sp>
      <p:sp>
        <p:nvSpPr>
          <p:cNvPr id="19" name="Rounded Rectangle 18"/>
          <p:cNvSpPr/>
          <p:nvPr/>
        </p:nvSpPr>
        <p:spPr>
          <a:xfrm>
            <a:off x="3267075" y="4095750"/>
            <a:ext cx="2286000" cy="6096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EventBridge</a:t>
            </a:r>
          </a:p>
          <a:p>
            <a:pPr algn="ctr">
              <a:lnSpc>
                <a:spcPct val="122000"/>
              </a:lnSpc>
            </a:pPr>
            <a:r>
              <a:rPr sz="1600" b="1">
                <a:solidFill>
                  <a:srgbClr val="F5F5F8"/>
                </a:solidFill>
                <a:latin typeface="Amazon Ember"/>
                <a:ea typeface="メイリオ"/>
                <a:cs typeface="メイリオ"/>
              </a:rPr>
              <a:t>Scheduler</a:t>
            </a:r>
          </a:p>
        </p:txBody>
      </p:sp>
      <p:sp>
        <p:nvSpPr>
          <p:cNvPr id="20" name="Rounded Rectangle 19"/>
          <p:cNvSpPr/>
          <p:nvPr/>
        </p:nvSpPr>
        <p:spPr>
          <a:xfrm>
            <a:off x="6505575" y="4095750"/>
            <a:ext cx="2190750" cy="6096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Step Functions</a:t>
            </a:r>
          </a:p>
        </p:txBody>
      </p:sp>
      <p:sp>
        <p:nvSpPr>
          <p:cNvPr id="21" name="Rounded Rectangle 20"/>
          <p:cNvSpPr/>
          <p:nvPr/>
        </p:nvSpPr>
        <p:spPr>
          <a:xfrm>
            <a:off x="9553575" y="3619500"/>
            <a:ext cx="219075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SNS で通知</a:t>
            </a:r>
          </a:p>
        </p:txBody>
      </p:sp>
      <p:sp>
        <p:nvSpPr>
          <p:cNvPr id="22" name="Rounded Rectangle 21"/>
          <p:cNvSpPr/>
          <p:nvPr/>
        </p:nvSpPr>
        <p:spPr>
          <a:xfrm>
            <a:off x="9553575" y="4476750"/>
            <a:ext cx="2190750" cy="571500"/>
          </a:xfrm>
          <a:prstGeom prst="roundRect">
            <a:avLst>
              <a:gd name="adj" fmla="val 12000"/>
            </a:avLst>
          </a:prstGeom>
          <a:solidFill>
            <a:srgbClr val="102C48"/>
          </a:solidFill>
          <a:ln w="19050">
            <a:solidFill>
              <a:srgbClr val="2896F0"/>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600" b="1">
                <a:solidFill>
                  <a:srgbClr val="F5F5F8"/>
                </a:solidFill>
                <a:latin typeface="Amazon Ember"/>
                <a:ea typeface="メイリオ"/>
                <a:cs typeface="メイリオ"/>
              </a:rPr>
              <a:t>通知済みの記録</a:t>
            </a:r>
          </a:p>
        </p:txBody>
      </p:sp>
      <p:cxnSp>
        <p:nvCxnSpPr>
          <p:cNvPr id="23" name="Connector 22"/>
          <p:cNvCxnSpPr>
            <a:stCxn id="13" idx="3"/>
            <a:endCxn id="17" idx="1"/>
          </p:cNvCxnSpPr>
          <p:nvPr/>
        </p:nvCxnSpPr>
        <p:spPr>
          <a:xfrm>
            <a:off x="2600325" y="2095500"/>
            <a:ext cx="762000" cy="3810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a:stCxn id="14" idx="3"/>
            <a:endCxn id="17" idx="1"/>
          </p:cNvCxnSpPr>
          <p:nvPr/>
        </p:nvCxnSpPr>
        <p:spPr>
          <a:xfrm flipV="1">
            <a:off x="2600325" y="2476500"/>
            <a:ext cx="762000" cy="47625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a:stCxn id="17" idx="3"/>
            <a:endCxn id="18" idx="1"/>
          </p:cNvCxnSpPr>
          <p:nvPr/>
        </p:nvCxnSpPr>
        <p:spPr>
          <a:xfrm flipV="1">
            <a:off x="5362575" y="2476500"/>
            <a:ext cx="11430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a:stCxn id="19" idx="3"/>
            <a:endCxn id="20" idx="1"/>
          </p:cNvCxnSpPr>
          <p:nvPr/>
        </p:nvCxnSpPr>
        <p:spPr>
          <a:xfrm flipV="1">
            <a:off x="5553075" y="4400550"/>
            <a:ext cx="952500" cy="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a:stCxn id="20" idx="0"/>
            <a:endCxn id="18" idx="2"/>
          </p:cNvCxnSpPr>
          <p:nvPr/>
        </p:nvCxnSpPr>
        <p:spPr>
          <a:xfrm flipH="1" flipV="1">
            <a:off x="7600950" y="2857500"/>
            <a:ext cx="0" cy="123825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a:stCxn id="20" idx="3"/>
            <a:endCxn id="21" idx="1"/>
          </p:cNvCxnSpPr>
          <p:nvPr/>
        </p:nvCxnSpPr>
        <p:spPr>
          <a:xfrm flipV="1">
            <a:off x="8696325" y="3905250"/>
            <a:ext cx="857250" cy="495300"/>
          </a:xfrm>
          <a:prstGeom prst="line">
            <a:avLst/>
          </a:prstGeom>
          <a:ln w="25400">
            <a:solidFill>
              <a:srgbClr val="F5F5F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a:stCxn id="20" idx="3"/>
            <a:endCxn id="22" idx="1"/>
          </p:cNvCxnSpPr>
          <p:nvPr/>
        </p:nvCxnSpPr>
        <p:spPr>
          <a:xfrm>
            <a:off x="8696325" y="4400550"/>
            <a:ext cx="857250" cy="361950"/>
          </a:xfrm>
          <a:prstGeom prst="line">
            <a:avLst/>
          </a:prstGeom>
          <a:ln w="15875">
            <a:solidFill>
              <a:srgbClr val="A0A0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315075" y="1905000"/>
            <a:ext cx="5619750" cy="3333750"/>
          </a:xfrm>
          <a:prstGeom prst="roundRect">
            <a:avLst>
              <a:gd name="adj" fmla="val 4000"/>
            </a:avLst>
          </a:prstGeom>
          <a:no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82075" y="1905000"/>
            <a:ext cx="2857500" cy="323850"/>
          </a:xfrm>
          <a:prstGeom prst="rect">
            <a:avLst/>
          </a:prstGeom>
          <a:noFill/>
        </p:spPr>
        <p:txBody>
          <a:bodyPr wrap="square" lIns="0" rIns="0" tIns="0" bIns="0" anchor="ctr">
            <a:spAutoFit/>
          </a:bodyPr>
          <a:lstStyle/>
          <a:p>
            <a:pPr algn="r">
              <a:lnSpc>
                <a:spcPct val="122000"/>
              </a:lnSpc>
            </a:pPr>
            <a:r>
              <a:rPr sz="1500" b="0">
                <a:solidFill>
                  <a:srgbClr val="24A046"/>
                </a:solidFill>
                <a:latin typeface="Amazon Ember"/>
                <a:ea typeface="メイリオ"/>
                <a:cs typeface="メイリオ"/>
              </a:rPr>
              <a:t>お客様が作る部分</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AUDIT LOG</a:t>
            </a:r>
          </a:p>
        </p:txBody>
      </p:sp>
      <p:sp>
        <p:nvSpPr>
          <p:cNvPr id="3" name="TextBox 2"/>
          <p:cNvSpPr txBox="1"/>
          <p:nvPr/>
        </p:nvSpPr>
        <p:spPr>
          <a:xfrm>
            <a:off x="409575" y="476250"/>
            <a:ext cx="11449050" cy="539750"/>
          </a:xfrm>
          <a:prstGeom prst="rect">
            <a:avLst/>
          </a:prstGeom>
          <a:noFill/>
        </p:spPr>
        <p:txBody>
          <a:bodyPr wrap="square" lIns="0" rIns="0" tIns="0" bIns="0" anchor="ctr">
            <a:spAutoFit/>
          </a:bodyPr>
          <a:lstStyle/>
          <a:p>
            <a:pPr algn="l">
              <a:lnSpc>
                <a:spcPct val="122000"/>
              </a:lnSpc>
            </a:pPr>
            <a:r>
              <a:rPr sz="3400" b="1">
                <a:solidFill>
                  <a:srgbClr val="FFFFFF"/>
                </a:solidFill>
                <a:latin typeface="Amazon Ember"/>
                <a:ea typeface="メイリオ"/>
                <a:cs typeface="メイリオ"/>
              </a:rPr>
              <a:t>ログを証拠として残すための 3 つの備え</a:t>
            </a:r>
          </a:p>
        </p:txBody>
      </p:sp>
      <p:sp>
        <p:nvSpPr>
          <p:cNvPr id="4" name="Rectangle 3"/>
          <p:cNvSpPr/>
          <p:nvPr/>
        </p:nvSpPr>
        <p:spPr>
          <a:xfrm>
            <a:off x="409575" y="107315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257300"/>
            <a:ext cx="3676650" cy="3619500"/>
          </a:xfrm>
          <a:prstGeom prst="roundRect">
            <a:avLst>
              <a:gd name="adj" fmla="val 4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0075" y="1390650"/>
            <a:ext cx="3295650" cy="381000"/>
          </a:xfrm>
          <a:prstGeom prst="rect">
            <a:avLst/>
          </a:prstGeom>
          <a:noFill/>
        </p:spPr>
        <p:txBody>
          <a:bodyPr wrap="square" lIns="0" rIns="0" tIns="0" bIns="0" anchor="ctr">
            <a:spAutoFit/>
          </a:bodyPr>
          <a:lstStyle/>
          <a:p>
            <a:pPr algn="ctr">
              <a:lnSpc>
                <a:spcPct val="122000"/>
              </a:lnSpc>
            </a:pPr>
            <a:r>
              <a:rPr sz="2100" b="1">
                <a:solidFill>
                  <a:srgbClr val="24A046"/>
                </a:solidFill>
                <a:latin typeface="Amazon Ember"/>
                <a:ea typeface="メイリオ"/>
                <a:cs typeface="メイリオ"/>
              </a:rPr>
              <a:t>消されない</a:t>
            </a:r>
          </a:p>
        </p:txBody>
      </p:sp>
      <p:sp>
        <p:nvSpPr>
          <p:cNvPr id="7" name="Rounded Rectangle 6"/>
          <p:cNvSpPr/>
          <p:nvPr/>
        </p:nvSpPr>
        <p:spPr>
          <a:xfrm>
            <a:off x="600075" y="1962150"/>
            <a:ext cx="3295650" cy="7620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ログ専用のアカウントに置く</a:t>
            </a:r>
          </a:p>
        </p:txBody>
      </p:sp>
      <p:sp>
        <p:nvSpPr>
          <p:cNvPr id="8" name="Rounded Rectangle 7"/>
          <p:cNvSpPr/>
          <p:nvPr/>
        </p:nvSpPr>
        <p:spPr>
          <a:xfrm>
            <a:off x="600075" y="2895600"/>
            <a:ext cx="3295650" cy="7620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Object Lock で決めた期間は消せない</a:t>
            </a:r>
          </a:p>
        </p:txBody>
      </p:sp>
      <p:sp>
        <p:nvSpPr>
          <p:cNvPr id="9" name="Rounded Rectangle 8"/>
          <p:cNvSpPr/>
          <p:nvPr/>
        </p:nvSpPr>
        <p:spPr>
          <a:xfrm>
            <a:off x="600075" y="3829050"/>
            <a:ext cx="3295650" cy="7620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暗号化の鍵を消す権限も分ける</a:t>
            </a:r>
          </a:p>
        </p:txBody>
      </p:sp>
      <p:sp>
        <p:nvSpPr>
          <p:cNvPr id="10" name="Rounded Rectangle 9"/>
          <p:cNvSpPr/>
          <p:nvPr/>
        </p:nvSpPr>
        <p:spPr>
          <a:xfrm>
            <a:off x="4257675" y="1257300"/>
            <a:ext cx="3676650" cy="3619500"/>
          </a:xfrm>
          <a:prstGeom prst="roundRect">
            <a:avLst>
              <a:gd name="adj" fmla="val 4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48175" y="1390650"/>
            <a:ext cx="3295650" cy="381000"/>
          </a:xfrm>
          <a:prstGeom prst="rect">
            <a:avLst/>
          </a:prstGeom>
          <a:noFill/>
        </p:spPr>
        <p:txBody>
          <a:bodyPr wrap="square" lIns="0" rIns="0" tIns="0" bIns="0" anchor="ctr">
            <a:spAutoFit/>
          </a:bodyPr>
          <a:lstStyle/>
          <a:p>
            <a:pPr algn="ctr">
              <a:lnSpc>
                <a:spcPct val="122000"/>
              </a:lnSpc>
            </a:pPr>
            <a:r>
              <a:rPr sz="2100" b="1">
                <a:solidFill>
                  <a:srgbClr val="24A046"/>
                </a:solidFill>
                <a:latin typeface="Amazon Ember"/>
                <a:ea typeface="メイリオ"/>
                <a:cs typeface="メイリオ"/>
              </a:rPr>
              <a:t>止まったら気づく</a:t>
            </a:r>
          </a:p>
        </p:txBody>
      </p:sp>
      <p:sp>
        <p:nvSpPr>
          <p:cNvPr id="12" name="Rounded Rectangle 11"/>
          <p:cNvSpPr/>
          <p:nvPr/>
        </p:nvSpPr>
        <p:spPr>
          <a:xfrm>
            <a:off x="4448175" y="1962150"/>
            <a:ext cx="3295650" cy="7620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最後に成功した時刻を見張る</a:t>
            </a:r>
          </a:p>
        </p:txBody>
      </p:sp>
      <p:sp>
        <p:nvSpPr>
          <p:cNvPr id="13" name="Rounded Rectangle 12"/>
          <p:cNvSpPr/>
          <p:nvPr/>
        </p:nvSpPr>
        <p:spPr>
          <a:xfrm>
            <a:off x="4448175" y="2895600"/>
            <a:ext cx="3295650" cy="7620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見張りが止まっても別の経路で知らせる</a:t>
            </a:r>
          </a:p>
        </p:txBody>
      </p:sp>
      <p:sp>
        <p:nvSpPr>
          <p:cNvPr id="14" name="Rounded Rectangle 13"/>
          <p:cNvSpPr/>
          <p:nvPr/>
        </p:nvSpPr>
        <p:spPr>
          <a:xfrm>
            <a:off x="4448175" y="3829050"/>
            <a:ext cx="3295650" cy="7620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試しのログで通しを確かめる</a:t>
            </a:r>
          </a:p>
        </p:txBody>
      </p:sp>
      <p:sp>
        <p:nvSpPr>
          <p:cNvPr id="15" name="Rounded Rectangle 14"/>
          <p:cNvSpPr/>
          <p:nvPr/>
        </p:nvSpPr>
        <p:spPr>
          <a:xfrm>
            <a:off x="8105775" y="1257300"/>
            <a:ext cx="3676650" cy="3619500"/>
          </a:xfrm>
          <a:prstGeom prst="roundRect">
            <a:avLst>
              <a:gd name="adj" fmla="val 4000"/>
            </a:avLst>
          </a:prstGeom>
          <a:solidFill>
            <a:srgbClr val="161A1E"/>
          </a:solidFill>
          <a:ln w="19050">
            <a:solidFill>
              <a:srgbClr val="464A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6275" y="1390650"/>
            <a:ext cx="3295650" cy="381000"/>
          </a:xfrm>
          <a:prstGeom prst="rect">
            <a:avLst/>
          </a:prstGeom>
          <a:noFill/>
        </p:spPr>
        <p:txBody>
          <a:bodyPr wrap="square" lIns="0" rIns="0" tIns="0" bIns="0" anchor="ctr">
            <a:spAutoFit/>
          </a:bodyPr>
          <a:lstStyle/>
          <a:p>
            <a:pPr algn="ctr">
              <a:lnSpc>
                <a:spcPct val="122000"/>
              </a:lnSpc>
            </a:pPr>
            <a:r>
              <a:rPr sz="2100" b="1">
                <a:solidFill>
                  <a:srgbClr val="24A046"/>
                </a:solidFill>
                <a:latin typeface="Amazon Ember"/>
                <a:ea typeface="メイリオ"/>
                <a:cs typeface="メイリオ"/>
              </a:rPr>
              <a:t>重ならない・見逃さない</a:t>
            </a:r>
          </a:p>
        </p:txBody>
      </p:sp>
      <p:sp>
        <p:nvSpPr>
          <p:cNvPr id="17" name="Rounded Rectangle 16"/>
          <p:cNvSpPr/>
          <p:nvPr/>
        </p:nvSpPr>
        <p:spPr>
          <a:xfrm>
            <a:off x="8296275" y="1962150"/>
            <a:ext cx="3295650" cy="7620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ログの ID で重なりを除く</a:t>
            </a:r>
          </a:p>
        </p:txBody>
      </p:sp>
      <p:sp>
        <p:nvSpPr>
          <p:cNvPr id="18" name="Rounded Rectangle 17"/>
          <p:cNvSpPr/>
          <p:nvPr/>
        </p:nvSpPr>
        <p:spPr>
          <a:xfrm>
            <a:off x="8296275" y="2895600"/>
            <a:ext cx="3295650" cy="7620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時刻は世界標準時で持つ</a:t>
            </a:r>
          </a:p>
        </p:txBody>
      </p:sp>
      <p:sp>
        <p:nvSpPr>
          <p:cNvPr id="19" name="Rounded Rectangle 18"/>
          <p:cNvSpPr/>
          <p:nvPr/>
        </p:nvSpPr>
        <p:spPr>
          <a:xfrm>
            <a:off x="8296275" y="3829050"/>
            <a:ext cx="3295650" cy="7620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遅れて届く分も検索する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AUDIT LOG</a:t>
            </a:r>
          </a:p>
        </p:txBody>
      </p:sp>
      <p:sp>
        <p:nvSpPr>
          <p:cNvPr id="3" name="TextBox 2"/>
          <p:cNvSpPr txBox="1"/>
          <p:nvPr/>
        </p:nvSpPr>
        <p:spPr>
          <a:xfrm>
            <a:off x="409575" y="476250"/>
            <a:ext cx="11449050" cy="476250"/>
          </a:xfrm>
          <a:prstGeom prst="rect">
            <a:avLst/>
          </a:prstGeom>
          <a:noFill/>
        </p:spPr>
        <p:txBody>
          <a:bodyPr wrap="square" lIns="0" rIns="0" tIns="0" bIns="0" anchor="ctr">
            <a:spAutoFit/>
          </a:bodyPr>
          <a:lstStyle/>
          <a:p>
            <a:pPr algn="l">
              <a:lnSpc>
                <a:spcPct val="122000"/>
              </a:lnSpc>
            </a:pPr>
            <a:r>
              <a:rPr sz="3000" b="1">
                <a:solidFill>
                  <a:srgbClr val="FFFFFF"/>
                </a:solidFill>
                <a:latin typeface="Amazon Ember"/>
                <a:ea typeface="メイリオ"/>
                <a:cs typeface="メイリオ"/>
              </a:rPr>
              <a:t>危険な操作は、GitHub の操作の名前で絞り込めば見つけられる</a:t>
            </a:r>
          </a:p>
        </p:txBody>
      </p:sp>
      <p:sp>
        <p:nvSpPr>
          <p:cNvPr id="4" name="TextBox 3"/>
          <p:cNvSpPr txBox="1"/>
          <p:nvPr/>
        </p:nvSpPr>
        <p:spPr>
          <a:xfrm>
            <a:off x="409575" y="1009650"/>
            <a:ext cx="11449050" cy="278892"/>
          </a:xfrm>
          <a:prstGeom prst="rect">
            <a:avLst/>
          </a:prstGeom>
          <a:noFill/>
        </p:spPr>
        <p:txBody>
          <a:bodyPr wrap="square" lIns="0" rIns="0" tIns="0" bIns="0" anchor="ctr">
            <a:spAutoFit/>
          </a:bodyPr>
          <a:lstStyle/>
          <a:p>
            <a:pPr algn="l">
              <a:lnSpc>
                <a:spcPct val="122000"/>
              </a:lnSpc>
            </a:pPr>
            <a:r>
              <a:rPr sz="1800" b="0">
                <a:solidFill>
                  <a:srgbClr val="8C8C8C"/>
                </a:solidFill>
                <a:latin typeface="Amazon Ember"/>
                <a:ea typeface="メイリオ"/>
                <a:cs typeface="メイリオ"/>
              </a:rPr>
              <a:t>決めた危険な操作を見つける仕組みで、すべての不正を見つけるものではない</a:t>
            </a:r>
          </a:p>
        </p:txBody>
      </p:sp>
      <p:sp>
        <p:nvSpPr>
          <p:cNvPr id="5" name="Rectangle 4"/>
          <p:cNvSpPr/>
          <p:nvPr/>
        </p:nvSpPr>
        <p:spPr>
          <a:xfrm>
            <a:off x="409575" y="1364742"/>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09575" y="1552575"/>
          <a:ext cx="11449050" cy="2476500"/>
        </p:xfrm>
        <a:graphic>
          <a:graphicData uri="http://schemas.openxmlformats.org/drawingml/2006/table">
            <a:tbl>
              <a:tblPr>
                <a:tableStyleId>{2D5ABB26-0587-4C30-8999-92F81FD0307C}</a:tableStyleId>
              </a:tblPr>
              <a:tblGrid>
                <a:gridCol w="5724525"/>
                <a:gridCol w="5724525"/>
              </a:tblGrid>
              <a:tr h="428625">
                <a:tc>
                  <a:txBody>
                    <a:bodyPr wrap="square" anchor="ctr"/>
                    <a:lstStyle/>
                    <a:p>
                      <a:pPr algn="l">
                        <a:lnSpc>
                          <a:spcPct val="122000"/>
                        </a:lnSpc>
                      </a:pPr>
                      <a:r>
                        <a:rPr sz="1800" b="1">
                          <a:solidFill>
                            <a:srgbClr val="41B3FF"/>
                          </a:solidFill>
                          <a:latin typeface="Amazon Ember"/>
                          <a:ea typeface="メイリオ"/>
                          <a:cs typeface="メイリオ"/>
                        </a:rPr>
                        <a:t>見張りたいこと</a:t>
                      </a:r>
                    </a:p>
                  </a:txBody>
                  <a:tcPr marL="95250" marR="95250" marT="38100" marB="38100" anchor="ctr">
                    <a:lnB w="15875" cap="flat">
                      <a:solidFill>
                        <a:srgbClr val="5C5C5C"/>
                      </a:solidFill>
                    </a:lnB>
                    <a:solidFill>
                      <a:srgbClr val="1F3E56"/>
                    </a:solidFill>
                  </a:tcPr>
                </a:tc>
                <a:tc>
                  <a:txBody>
                    <a:bodyPr wrap="square" anchor="ctr"/>
                    <a:lstStyle/>
                    <a:p>
                      <a:pPr algn="l">
                        <a:lnSpc>
                          <a:spcPct val="122000"/>
                        </a:lnSpc>
                      </a:pPr>
                      <a:r>
                        <a:rPr sz="1800" b="1">
                          <a:solidFill>
                            <a:srgbClr val="41B3FF"/>
                          </a:solidFill>
                          <a:latin typeface="Amazon Ember"/>
                          <a:ea typeface="メイリオ"/>
                          <a:cs typeface="メイリオ"/>
                        </a:rPr>
                        <a:t>操作の名前の例</a:t>
                      </a:r>
                    </a:p>
                  </a:txBody>
                  <a:tcPr marL="95250" marR="95250" marT="38100" marB="38100" anchor="ctr">
                    <a:lnB w="15875" cap="flat">
                      <a:solidFill>
                        <a:srgbClr val="5C5C5C"/>
                      </a:solidFill>
                    </a:lnB>
                    <a:solidFill>
                      <a:srgbClr val="1F3E56"/>
                    </a:solidFill>
                  </a:tcPr>
                </a:tc>
              </a:tr>
              <a:tr h="409575">
                <a:tc>
                  <a:txBody>
                    <a:bodyPr wrap="square" anchor="ctr"/>
                    <a:lstStyle/>
                    <a:p>
                      <a:pPr algn="l">
                        <a:lnSpc>
                          <a:spcPct val="122000"/>
                        </a:lnSpc>
                      </a:pPr>
                      <a:r>
                        <a:rPr sz="1800" b="0">
                          <a:solidFill>
                            <a:srgbClr val="F3F3F7"/>
                          </a:solidFill>
                          <a:latin typeface="Amazon Ember"/>
                          <a:ea typeface="メイリオ"/>
                          <a:cs typeface="メイリオ"/>
                        </a:rPr>
                        <a:t>リポジトリが公開された、削除された</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800" b="0">
                          <a:solidFill>
                            <a:srgbClr val="F3F3F7"/>
                          </a:solidFill>
                          <a:latin typeface="Amazon Ember"/>
                          <a:ea typeface="メイリオ"/>
                          <a:cs typeface="メイリオ"/>
                        </a:rPr>
                        <a:t>repo.access、repo.destroy</a:t>
                      </a:r>
                    </a:p>
                  </a:txBody>
                  <a:tcPr marL="95250" marR="95250" marT="38100" marB="38100" anchor="ctr">
                    <a:lnB w="9525" cap="flat">
                      <a:solidFill>
                        <a:srgbClr val="383838"/>
                      </a:solidFill>
                    </a:lnB>
                    <a:solidFill>
                      <a:srgbClr val="161D26"/>
                    </a:solidFill>
                  </a:tcPr>
                </a:tc>
              </a:tr>
              <a:tr h="409575">
                <a:tc>
                  <a:txBody>
                    <a:bodyPr wrap="square" anchor="ctr"/>
                    <a:lstStyle/>
                    <a:p>
                      <a:pPr algn="l">
                        <a:lnSpc>
                          <a:spcPct val="122000"/>
                        </a:lnSpc>
                      </a:pPr>
                      <a:r>
                        <a:rPr sz="1800" b="0">
                          <a:solidFill>
                            <a:srgbClr val="F3F3F7"/>
                          </a:solidFill>
                          <a:latin typeface="Amazon Ember"/>
                          <a:ea typeface="メイリオ"/>
                          <a:cs typeface="メイリオ"/>
                        </a:rPr>
                        <a:t>メンバーが加わった、権限が変わった</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800" b="0">
                          <a:solidFill>
                            <a:srgbClr val="F3F3F7"/>
                          </a:solidFill>
                          <a:latin typeface="Amazon Ember"/>
                          <a:ea typeface="メイリオ"/>
                          <a:cs typeface="メイリオ"/>
                        </a:rPr>
                        <a:t>org.add_member、org.update_member</a:t>
                      </a:r>
                    </a:p>
                  </a:txBody>
                  <a:tcPr marL="95250" marR="95250" marT="38100" marB="38100" anchor="ctr">
                    <a:lnB w="9525" cap="flat">
                      <a:solidFill>
                        <a:srgbClr val="383838"/>
                      </a:solidFill>
                    </a:lnB>
                    <a:solidFill>
                      <a:srgbClr val="161D26"/>
                    </a:solidFill>
                  </a:tcPr>
                </a:tc>
              </a:tr>
              <a:tr h="409575">
                <a:tc>
                  <a:txBody>
                    <a:bodyPr wrap="square" anchor="ctr"/>
                    <a:lstStyle/>
                    <a:p>
                      <a:pPr algn="l">
                        <a:lnSpc>
                          <a:spcPct val="122000"/>
                        </a:lnSpc>
                      </a:pPr>
                      <a:r>
                        <a:rPr sz="1800" b="0">
                          <a:solidFill>
                            <a:srgbClr val="F3F3F7"/>
                          </a:solidFill>
                          <a:latin typeface="Amazon Ember"/>
                          <a:ea typeface="メイリオ"/>
                          <a:cs typeface="メイリオ"/>
                        </a:rPr>
                        <a:t>2 段階認証の必須設定が外された</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800" b="0">
                          <a:solidFill>
                            <a:srgbClr val="F3F3F7"/>
                          </a:solidFill>
                          <a:latin typeface="Amazon Ember"/>
                          <a:ea typeface="メイリオ"/>
                          <a:cs typeface="メイリオ"/>
                        </a:rPr>
                        <a:t>org.disable_two_factor_requirement</a:t>
                      </a:r>
                    </a:p>
                  </a:txBody>
                  <a:tcPr marL="95250" marR="95250" marT="38100" marB="38100" anchor="ctr">
                    <a:lnB w="9525" cap="flat">
                      <a:solidFill>
                        <a:srgbClr val="383838"/>
                      </a:solidFill>
                    </a:lnB>
                    <a:solidFill>
                      <a:srgbClr val="161D26"/>
                    </a:solidFill>
                  </a:tcPr>
                </a:tc>
              </a:tr>
              <a:tr h="409575">
                <a:tc>
                  <a:txBody>
                    <a:bodyPr wrap="square" anchor="ctr"/>
                    <a:lstStyle/>
                    <a:p>
                      <a:pPr algn="l">
                        <a:lnSpc>
                          <a:spcPct val="122000"/>
                        </a:lnSpc>
                      </a:pPr>
                      <a:r>
                        <a:rPr sz="1800" b="0">
                          <a:solidFill>
                            <a:srgbClr val="F3F3F7"/>
                          </a:solidFill>
                          <a:latin typeface="Amazon Ember"/>
                          <a:ea typeface="メイリオ"/>
                          <a:cs typeface="メイリオ"/>
                        </a:rPr>
                        <a:t>大事なブランチの保護が外された</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800" b="0">
                          <a:solidFill>
                            <a:srgbClr val="F3F3F7"/>
                          </a:solidFill>
                          <a:latin typeface="Amazon Ember"/>
                          <a:ea typeface="メイリオ"/>
                          <a:cs typeface="メイリオ"/>
                        </a:rPr>
                        <a:t>protected_branch.destroy</a:t>
                      </a:r>
                    </a:p>
                  </a:txBody>
                  <a:tcPr marL="95250" marR="95250" marT="38100" marB="38100" anchor="ctr">
                    <a:lnB w="9525" cap="flat">
                      <a:solidFill>
                        <a:srgbClr val="383838"/>
                      </a:solidFill>
                    </a:lnB>
                    <a:solidFill>
                      <a:srgbClr val="161D26"/>
                    </a:solidFill>
                  </a:tcPr>
                </a:tc>
              </a:tr>
              <a:tr h="409575">
                <a:tc>
                  <a:txBody>
                    <a:bodyPr wrap="square" anchor="ctr"/>
                    <a:lstStyle/>
                    <a:p>
                      <a:pPr algn="l">
                        <a:lnSpc>
                          <a:spcPct val="122000"/>
                        </a:lnSpc>
                      </a:pPr>
                      <a:r>
                        <a:rPr sz="1800" b="0">
                          <a:solidFill>
                            <a:srgbClr val="F3F3F7"/>
                          </a:solidFill>
                          <a:latin typeface="Amazon Ember"/>
                          <a:ea typeface="メイリオ"/>
                          <a:cs typeface="メイリオ"/>
                        </a:rPr>
                        <a:t>いつもより多い clone やダウンロード</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800" b="0">
                          <a:solidFill>
                            <a:srgbClr val="F3F3F7"/>
                          </a:solidFill>
                          <a:latin typeface="Amazon Ember"/>
                          <a:ea typeface="メイリオ"/>
                          <a:cs typeface="メイリオ"/>
                        </a:rPr>
                        <a:t>git.clone、repo.download_zip</a:t>
                      </a:r>
                    </a:p>
                  </a:txBody>
                  <a:tcPr marL="95250" marR="95250" marT="38100" marB="38100" anchor="ctr">
                    <a:lnB w="9525" cap="flat">
                      <a:solidFill>
                        <a:srgbClr val="383838"/>
                      </a:solidFill>
                    </a:lnB>
                    <a:solidFill>
                      <a:srgbClr val="161D26"/>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COST</a:t>
            </a:r>
          </a:p>
        </p:txBody>
      </p:sp>
      <p:sp>
        <p:nvSpPr>
          <p:cNvPr id="3" name="TextBox 2"/>
          <p:cNvSpPr txBox="1"/>
          <p:nvPr/>
        </p:nvSpPr>
        <p:spPr>
          <a:xfrm>
            <a:off x="409575" y="476250"/>
            <a:ext cx="11449050" cy="539750"/>
          </a:xfrm>
          <a:prstGeom prst="rect">
            <a:avLst/>
          </a:prstGeom>
          <a:noFill/>
        </p:spPr>
        <p:txBody>
          <a:bodyPr wrap="square" lIns="0" rIns="0" tIns="0" bIns="0" anchor="ctr">
            <a:spAutoFit/>
          </a:bodyPr>
          <a:lstStyle/>
          <a:p>
            <a:pPr algn="l">
              <a:lnSpc>
                <a:spcPct val="122000"/>
              </a:lnSpc>
            </a:pPr>
            <a:r>
              <a:rPr sz="3400" b="1">
                <a:solidFill>
                  <a:srgbClr val="FFFFFF"/>
                </a:solidFill>
                <a:latin typeface="Amazon Ember"/>
                <a:ea typeface="メイリオ"/>
                <a:cs typeface="メイリオ"/>
              </a:rPr>
              <a:t>費用の目安: 主な料金は使った量に応じて決まる</a:t>
            </a:r>
          </a:p>
        </p:txBody>
      </p:sp>
      <p:sp>
        <p:nvSpPr>
          <p:cNvPr id="4" name="TextBox 3"/>
          <p:cNvSpPr txBox="1"/>
          <p:nvPr/>
        </p:nvSpPr>
        <p:spPr>
          <a:xfrm>
            <a:off x="409575" y="1073150"/>
            <a:ext cx="11449050" cy="278892"/>
          </a:xfrm>
          <a:prstGeom prst="rect">
            <a:avLst/>
          </a:prstGeom>
          <a:noFill/>
        </p:spPr>
        <p:txBody>
          <a:bodyPr wrap="square" lIns="0" rIns="0" tIns="0" bIns="0" anchor="ctr">
            <a:spAutoFit/>
          </a:bodyPr>
          <a:lstStyle/>
          <a:p>
            <a:pPr algn="l">
              <a:lnSpc>
                <a:spcPct val="122000"/>
              </a:lnSpc>
            </a:pPr>
            <a:r>
              <a:rPr sz="1800" b="0">
                <a:solidFill>
                  <a:srgbClr val="8C8C8C"/>
                </a:solidFill>
                <a:latin typeface="Amazon Ember"/>
                <a:ea typeface="メイリオ"/>
                <a:cs typeface="メイリオ"/>
              </a:rPr>
              <a:t>2026 年 10 月 13 日に料金ページで確かめた値</a:t>
            </a:r>
          </a:p>
        </p:txBody>
      </p:sp>
      <p:sp>
        <p:nvSpPr>
          <p:cNvPr id="5" name="Rectangle 4"/>
          <p:cNvSpPr/>
          <p:nvPr/>
        </p:nvSpPr>
        <p:spPr>
          <a:xfrm>
            <a:off x="409575" y="1428242"/>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09575" y="1609725"/>
          <a:ext cx="11449050" cy="3143250"/>
        </p:xfrm>
        <a:graphic>
          <a:graphicData uri="http://schemas.openxmlformats.org/drawingml/2006/table">
            <a:tbl>
              <a:tblPr>
                <a:tableStyleId>{2D5ABB26-0587-4C30-8999-92F81FD0307C}</a:tableStyleId>
              </a:tblPr>
              <a:tblGrid>
                <a:gridCol w="3892677"/>
                <a:gridCol w="5953506"/>
                <a:gridCol w="1602867"/>
              </a:tblGrid>
              <a:tr h="409575">
                <a:tc>
                  <a:txBody>
                    <a:bodyPr wrap="square" anchor="ctr"/>
                    <a:lstStyle/>
                    <a:p>
                      <a:pPr algn="l">
                        <a:lnSpc>
                          <a:spcPct val="122000"/>
                        </a:lnSpc>
                      </a:pPr>
                      <a:r>
                        <a:rPr sz="1700" b="1">
                          <a:solidFill>
                            <a:srgbClr val="41B3FF"/>
                          </a:solidFill>
                          <a:latin typeface="Amazon Ember"/>
                          <a:ea typeface="メイリオ"/>
                          <a:cs typeface="メイリオ"/>
                        </a:rPr>
                        <a:t>項目</a:t>
                      </a:r>
                    </a:p>
                  </a:txBody>
                  <a:tcPr marL="95250" marR="95250" marT="38100" marB="38100" anchor="ctr">
                    <a:lnB w="15875" cap="flat">
                      <a:solidFill>
                        <a:srgbClr val="5C5C5C"/>
                      </a:solidFill>
                    </a:lnB>
                    <a:solidFill>
                      <a:srgbClr val="1F3E56"/>
                    </a:solidFill>
                  </a:tcPr>
                </a:tc>
                <a:tc>
                  <a:txBody>
                    <a:bodyPr wrap="square" anchor="ctr"/>
                    <a:lstStyle/>
                    <a:p>
                      <a:pPr algn="l">
                        <a:lnSpc>
                          <a:spcPct val="122000"/>
                        </a:lnSpc>
                      </a:pPr>
                      <a:r>
                        <a:rPr sz="1700" b="1">
                          <a:solidFill>
                            <a:srgbClr val="41B3FF"/>
                          </a:solidFill>
                          <a:latin typeface="Amazon Ember"/>
                          <a:ea typeface="メイリオ"/>
                          <a:cs typeface="メイリオ"/>
                        </a:rPr>
                        <a:t>料金</a:t>
                      </a:r>
                    </a:p>
                  </a:txBody>
                  <a:tcPr marL="95250" marR="95250" marT="38100" marB="38100" anchor="ctr">
                    <a:lnB w="15875" cap="flat">
                      <a:solidFill>
                        <a:srgbClr val="5C5C5C"/>
                      </a:solidFill>
                    </a:lnB>
                    <a:solidFill>
                      <a:srgbClr val="1F3E56"/>
                    </a:solidFill>
                  </a:tcPr>
                </a:tc>
                <a:tc>
                  <a:txBody>
                    <a:bodyPr wrap="square" anchor="ctr"/>
                    <a:lstStyle/>
                    <a:p>
                      <a:pPr algn="l">
                        <a:lnSpc>
                          <a:spcPct val="122000"/>
                        </a:lnSpc>
                      </a:pPr>
                      <a:r>
                        <a:rPr sz="1700" b="1">
                          <a:solidFill>
                            <a:srgbClr val="41B3FF"/>
                          </a:solidFill>
                          <a:latin typeface="Amazon Ember"/>
                          <a:ea typeface="メイリオ"/>
                          <a:cs typeface="メイリオ"/>
                        </a:rPr>
                        <a:t>出典</a:t>
                      </a:r>
                    </a:p>
                  </a:txBody>
                  <a:tcPr marL="95250" marR="95250" marT="38100" marB="38100" anchor="ctr">
                    <a:lnB w="15875" cap="flat">
                      <a:solidFill>
                        <a:srgbClr val="5C5C5C"/>
                      </a:solidFill>
                    </a:lnB>
                    <a:solidFill>
                      <a:srgbClr val="1F3E56"/>
                    </a:solidFill>
                  </a:tcPr>
                </a:tc>
              </a:tr>
              <a:tr h="390525">
                <a:tc>
                  <a:txBody>
                    <a:bodyPr wrap="square" anchor="ctr"/>
                    <a:lstStyle/>
                    <a:p>
                      <a:pPr algn="l">
                        <a:lnSpc>
                          <a:spcPct val="122000"/>
                        </a:lnSpc>
                      </a:pPr>
                      <a:r>
                        <a:rPr sz="1700" b="0">
                          <a:solidFill>
                            <a:srgbClr val="F3F3F7"/>
                          </a:solidFill>
                          <a:latin typeface="Amazon Ember"/>
                          <a:ea typeface="メイリオ"/>
                          <a:cs typeface="メイリオ"/>
                        </a:rPr>
                        <a:t>AgentCore Gateway</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a:solidFill>
                            <a:srgbClr val="F3F3F7"/>
                          </a:solidFill>
                          <a:latin typeface="Amazon Ember"/>
                          <a:ea typeface="メイリオ"/>
                          <a:cs typeface="メイリオ"/>
                        </a:rPr>
                        <a:t>ツールの呼び出し 1,000 回あたり 0.005 ドル</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u="sng">
                          <a:solidFill>
                            <a:srgbClr val="41B3FF"/>
                          </a:solidFill>
                          <a:latin typeface="Amazon Ember"/>
                          <a:ea typeface="メイリオ"/>
                          <a:cs typeface="メイリオ"/>
                          <a:hlinkClick r:id="rId2"/>
                        </a:rPr>
                        <a:t>料金</a:t>
                      </a:r>
                    </a:p>
                  </a:txBody>
                  <a:tcPr marL="95250" marR="95250" marT="38100" marB="38100" anchor="ctr">
                    <a:lnB w="9525" cap="flat">
                      <a:solidFill>
                        <a:srgbClr val="383838"/>
                      </a:solidFill>
                    </a:lnB>
                    <a:solidFill>
                      <a:srgbClr val="161D26"/>
                    </a:solidFill>
                  </a:tcPr>
                </a:tc>
              </a:tr>
              <a:tr h="390525">
                <a:tc>
                  <a:txBody>
                    <a:bodyPr wrap="square" anchor="ctr"/>
                    <a:lstStyle/>
                    <a:p>
                      <a:pPr algn="l">
                        <a:lnSpc>
                          <a:spcPct val="122000"/>
                        </a:lnSpc>
                      </a:pPr>
                      <a:r>
                        <a:rPr sz="1700" b="0">
                          <a:solidFill>
                            <a:srgbClr val="F3F3F7"/>
                          </a:solidFill>
                          <a:latin typeface="Amazon Ember"/>
                          <a:ea typeface="メイリオ"/>
                          <a:cs typeface="メイリオ"/>
                        </a:rPr>
                        <a:t>Policy in AgentCore</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a:solidFill>
                            <a:srgbClr val="F3F3F7"/>
                          </a:solidFill>
                          <a:latin typeface="Amazon Ember"/>
                          <a:ea typeface="メイリオ"/>
                          <a:cs typeface="メイリオ"/>
                        </a:rPr>
                        <a:t>判定 1,000 回あたり 0.025 ドル</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u="sng">
                          <a:solidFill>
                            <a:srgbClr val="41B3FF"/>
                          </a:solidFill>
                          <a:latin typeface="Amazon Ember"/>
                          <a:ea typeface="メイリオ"/>
                          <a:cs typeface="メイリオ"/>
                          <a:hlinkClick r:id="rId2"/>
                        </a:rPr>
                        <a:t>料金</a:t>
                      </a:r>
                    </a:p>
                  </a:txBody>
                  <a:tcPr marL="95250" marR="95250" marT="38100" marB="38100" anchor="ctr">
                    <a:lnB w="9525" cap="flat">
                      <a:solidFill>
                        <a:srgbClr val="383838"/>
                      </a:solidFill>
                    </a:lnB>
                    <a:solidFill>
                      <a:srgbClr val="161D26"/>
                    </a:solidFill>
                  </a:tcPr>
                </a:tc>
              </a:tr>
              <a:tr h="390525">
                <a:tc>
                  <a:txBody>
                    <a:bodyPr wrap="square" anchor="ctr"/>
                    <a:lstStyle/>
                    <a:p>
                      <a:pPr algn="l">
                        <a:lnSpc>
                          <a:spcPct val="122000"/>
                        </a:lnSpc>
                      </a:pPr>
                      <a:r>
                        <a:rPr sz="1700" b="0">
                          <a:solidFill>
                            <a:srgbClr val="F3F3F7"/>
                          </a:solidFill>
                          <a:latin typeface="Amazon Ember"/>
                          <a:ea typeface="メイリオ"/>
                          <a:cs typeface="メイリオ"/>
                        </a:rPr>
                        <a:t>AgentCore Identity</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a:solidFill>
                            <a:srgbClr val="F3F3F7"/>
                          </a:solidFill>
                          <a:latin typeface="Amazon Ember"/>
                          <a:ea typeface="メイリオ"/>
                          <a:cs typeface="メイリオ"/>
                        </a:rPr>
                        <a:t>Gateway 経由なら追加料金なし</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u="sng">
                          <a:solidFill>
                            <a:srgbClr val="41B3FF"/>
                          </a:solidFill>
                          <a:latin typeface="Amazon Ember"/>
                          <a:ea typeface="メイリオ"/>
                          <a:cs typeface="メイリオ"/>
                          <a:hlinkClick r:id="rId2"/>
                        </a:rPr>
                        <a:t>料金</a:t>
                      </a:r>
                    </a:p>
                  </a:txBody>
                  <a:tcPr marL="95250" marR="95250" marT="38100" marB="38100" anchor="ctr">
                    <a:lnB w="9525" cap="flat">
                      <a:solidFill>
                        <a:srgbClr val="383838"/>
                      </a:solidFill>
                    </a:lnB>
                    <a:solidFill>
                      <a:srgbClr val="161D26"/>
                    </a:solidFill>
                  </a:tcPr>
                </a:tc>
              </a:tr>
              <a:tr h="390525">
                <a:tc>
                  <a:txBody>
                    <a:bodyPr wrap="square" anchor="ctr"/>
                    <a:lstStyle/>
                    <a:p>
                      <a:pPr algn="l">
                        <a:lnSpc>
                          <a:spcPct val="122000"/>
                        </a:lnSpc>
                      </a:pPr>
                      <a:r>
                        <a:rPr sz="1700" b="0">
                          <a:solidFill>
                            <a:srgbClr val="F3F3F7"/>
                          </a:solidFill>
                          <a:latin typeface="Amazon Ember"/>
                          <a:ea typeface="メイリオ"/>
                          <a:cs typeface="メイリオ"/>
                        </a:rPr>
                        <a:t>CloudTrail のデータイベント</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a:solidFill>
                            <a:srgbClr val="F3F3F7"/>
                          </a:solidFill>
                          <a:latin typeface="Amazon Ember"/>
                          <a:ea typeface="メイリオ"/>
                          <a:cs typeface="メイリオ"/>
                        </a:rPr>
                        <a:t>記録した件数に応じた料金</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u="sng">
                          <a:solidFill>
                            <a:srgbClr val="41B3FF"/>
                          </a:solidFill>
                          <a:latin typeface="Amazon Ember"/>
                          <a:ea typeface="メイリオ"/>
                          <a:cs typeface="メイリオ"/>
                          <a:hlinkClick r:id="rId3"/>
                        </a:rPr>
                        <a:t>料金</a:t>
                      </a:r>
                    </a:p>
                  </a:txBody>
                  <a:tcPr marL="95250" marR="95250" marT="38100" marB="38100" anchor="ctr">
                    <a:lnB w="9525" cap="flat">
                      <a:solidFill>
                        <a:srgbClr val="383838"/>
                      </a:solidFill>
                    </a:lnB>
                    <a:solidFill>
                      <a:srgbClr val="161D26"/>
                    </a:solidFill>
                  </a:tcPr>
                </a:tc>
              </a:tr>
              <a:tr h="390525">
                <a:tc>
                  <a:txBody>
                    <a:bodyPr wrap="square" anchor="ctr"/>
                    <a:lstStyle/>
                    <a:p>
                      <a:pPr algn="l">
                        <a:lnSpc>
                          <a:spcPct val="122000"/>
                        </a:lnSpc>
                      </a:pPr>
                      <a:r>
                        <a:rPr sz="1700" b="0">
                          <a:solidFill>
                            <a:srgbClr val="F3F3F7"/>
                          </a:solidFill>
                          <a:latin typeface="Amazon Ember"/>
                          <a:ea typeface="メイリオ"/>
                          <a:cs typeface="メイリオ"/>
                        </a:rPr>
                        <a:t>Athena</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a:solidFill>
                            <a:srgbClr val="F3F3F7"/>
                          </a:solidFill>
                          <a:latin typeface="Amazon Ember"/>
                          <a:ea typeface="メイリオ"/>
                          <a:cs typeface="メイリオ"/>
                        </a:rPr>
                        <a:t>SQL が読んだデータの量に応じた料金</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u="sng">
                          <a:solidFill>
                            <a:srgbClr val="41B3FF"/>
                          </a:solidFill>
                          <a:latin typeface="Amazon Ember"/>
                          <a:ea typeface="メイリオ"/>
                          <a:cs typeface="メイリオ"/>
                          <a:hlinkClick r:id="rId4"/>
                        </a:rPr>
                        <a:t>料金</a:t>
                      </a:r>
                    </a:p>
                  </a:txBody>
                  <a:tcPr marL="95250" marR="95250" marT="38100" marB="38100" anchor="ctr">
                    <a:lnB w="9525" cap="flat">
                      <a:solidFill>
                        <a:srgbClr val="383838"/>
                      </a:solidFill>
                    </a:lnB>
                    <a:solidFill>
                      <a:srgbClr val="161D26"/>
                    </a:solidFill>
                  </a:tcPr>
                </a:tc>
              </a:tr>
              <a:tr h="390525">
                <a:tc>
                  <a:txBody>
                    <a:bodyPr wrap="square" anchor="ctr"/>
                    <a:lstStyle/>
                    <a:p>
                      <a:pPr algn="l">
                        <a:lnSpc>
                          <a:spcPct val="122000"/>
                        </a:lnSpc>
                      </a:pPr>
                      <a:r>
                        <a:rPr sz="1700" b="0">
                          <a:solidFill>
                            <a:srgbClr val="F3F3F7"/>
                          </a:solidFill>
                          <a:latin typeface="Amazon Ember"/>
                          <a:ea typeface="メイリオ"/>
                          <a:cs typeface="メイリオ"/>
                        </a:rPr>
                        <a:t>Secrets Manager</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a:solidFill>
                            <a:srgbClr val="F3F3F7"/>
                          </a:solidFill>
                          <a:latin typeface="Amazon Ember"/>
                          <a:ea typeface="メイリオ"/>
                          <a:cs typeface="メイリオ"/>
                        </a:rPr>
                        <a:t>鍵の数と呼び出しの回数に応じた料金</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u="sng">
                          <a:solidFill>
                            <a:srgbClr val="41B3FF"/>
                          </a:solidFill>
                          <a:latin typeface="Amazon Ember"/>
                          <a:ea typeface="メイリオ"/>
                          <a:cs typeface="メイリオ"/>
                          <a:hlinkClick r:id="rId5"/>
                        </a:rPr>
                        <a:t>料金</a:t>
                      </a:r>
                    </a:p>
                  </a:txBody>
                  <a:tcPr marL="95250" marR="95250" marT="38100" marB="38100" anchor="ctr">
                    <a:lnB w="9525" cap="flat">
                      <a:solidFill>
                        <a:srgbClr val="383838"/>
                      </a:solidFill>
                    </a:lnB>
                    <a:solidFill>
                      <a:srgbClr val="161D26"/>
                    </a:solidFill>
                  </a:tcPr>
                </a:tc>
              </a:tr>
              <a:tr h="390525">
                <a:tc>
                  <a:txBody>
                    <a:bodyPr wrap="square" anchor="ctr"/>
                    <a:lstStyle/>
                    <a:p>
                      <a:pPr algn="l">
                        <a:lnSpc>
                          <a:spcPct val="122000"/>
                        </a:lnSpc>
                      </a:pPr>
                      <a:r>
                        <a:rPr sz="1700" b="0">
                          <a:solidFill>
                            <a:srgbClr val="F3F3F7"/>
                          </a:solidFill>
                          <a:latin typeface="Amazon Ember"/>
                          <a:ea typeface="メイリオ"/>
                          <a:cs typeface="メイリオ"/>
                        </a:rPr>
                        <a:t>(比べる相手) AppFabric</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a:solidFill>
                            <a:srgbClr val="F3F3F7"/>
                          </a:solidFill>
                          <a:latin typeface="Amazon Ember"/>
                          <a:ea typeface="メイリオ"/>
                          <a:cs typeface="メイリオ"/>
                        </a:rPr>
                        <a:t>利用者 1 人あたり月 3 ドル</a:t>
                      </a:r>
                    </a:p>
                  </a:txBody>
                  <a:tcPr marL="95250" marR="95250" marT="38100" marB="38100" anchor="ctr">
                    <a:lnB w="9525" cap="flat">
                      <a:solidFill>
                        <a:srgbClr val="383838"/>
                      </a:solidFill>
                    </a:lnB>
                    <a:solidFill>
                      <a:srgbClr val="161D26"/>
                    </a:solidFill>
                  </a:tcPr>
                </a:tc>
                <a:tc>
                  <a:txBody>
                    <a:bodyPr wrap="square" anchor="ctr"/>
                    <a:lstStyle/>
                    <a:p>
                      <a:pPr algn="l">
                        <a:lnSpc>
                          <a:spcPct val="122000"/>
                        </a:lnSpc>
                      </a:pPr>
                      <a:r>
                        <a:rPr sz="1700" b="0" u="sng">
                          <a:solidFill>
                            <a:srgbClr val="41B3FF"/>
                          </a:solidFill>
                          <a:latin typeface="Amazon Ember"/>
                          <a:ea typeface="メイリオ"/>
                          <a:cs typeface="メイリオ"/>
                          <a:hlinkClick r:id="rId6"/>
                        </a:rPr>
                        <a:t>料金</a:t>
                      </a:r>
                    </a:p>
                  </a:txBody>
                  <a:tcPr marL="95250" marR="95250" marT="38100" marB="38100" anchor="ctr">
                    <a:lnB w="9525" cap="flat">
                      <a:solidFill>
                        <a:srgbClr val="383838"/>
                      </a:solidFill>
                    </a:lnB>
                    <a:solidFill>
                      <a:srgbClr val="161D26"/>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spTree>
      <p:nvGrpSpPr>
        <p:cNvPr id="1" name=""/>
        <p:cNvGrpSpPr/>
        <p:nvPr/>
      </p:nvGrpSpPr>
      <p:grpSpPr/>
      <p:sp>
        <p:nvSpPr>
          <p:cNvPr id="2" name="TextBox 1"/>
          <p:cNvSpPr txBox="1"/>
          <p:nvPr/>
        </p:nvSpPr>
        <p:spPr>
          <a:xfrm>
            <a:off x="409575" y="247650"/>
            <a:ext cx="11449050" cy="209550"/>
          </a:xfrm>
          <a:prstGeom prst="rect">
            <a:avLst/>
          </a:prstGeom>
          <a:noFill/>
        </p:spPr>
        <p:txBody>
          <a:bodyPr wrap="square" lIns="0" rIns="0" tIns="0" bIns="0" anchor="ctr">
            <a:spAutoFit/>
          </a:bodyPr>
          <a:lstStyle/>
          <a:p>
            <a:pPr algn="l">
              <a:lnSpc>
                <a:spcPct val="122000"/>
              </a:lnSpc>
            </a:pPr>
            <a:r>
              <a:rPr sz="1300" b="1">
                <a:solidFill>
                  <a:srgbClr val="41B3FF"/>
                </a:solidFill>
                <a:latin typeface="Amazon Ember"/>
                <a:ea typeface="メイリオ"/>
                <a:cs typeface="メイリオ"/>
              </a:rPr>
              <a:t>NEXT</a:t>
            </a:r>
          </a:p>
        </p:txBody>
      </p:sp>
      <p:sp>
        <p:nvSpPr>
          <p:cNvPr id="3" name="TextBox 2"/>
          <p:cNvSpPr txBox="1"/>
          <p:nvPr/>
        </p:nvSpPr>
        <p:spPr>
          <a:xfrm>
            <a:off x="409575" y="476250"/>
            <a:ext cx="11449050" cy="539750"/>
          </a:xfrm>
          <a:prstGeom prst="rect">
            <a:avLst/>
          </a:prstGeom>
          <a:noFill/>
        </p:spPr>
        <p:txBody>
          <a:bodyPr wrap="square" lIns="0" rIns="0" tIns="0" bIns="0" anchor="ctr">
            <a:spAutoFit/>
          </a:bodyPr>
          <a:lstStyle/>
          <a:p>
            <a:pPr algn="l">
              <a:lnSpc>
                <a:spcPct val="122000"/>
              </a:lnSpc>
            </a:pPr>
            <a:r>
              <a:rPr sz="3400" b="1">
                <a:solidFill>
                  <a:srgbClr val="FFFFFF"/>
                </a:solidFill>
                <a:latin typeface="Amazon Ember"/>
                <a:ea typeface="メイリオ"/>
                <a:cs typeface="メイリオ"/>
              </a:rPr>
              <a:t>ご判断いただきたいことと、次の一歩</a:t>
            </a:r>
          </a:p>
        </p:txBody>
      </p:sp>
      <p:sp>
        <p:nvSpPr>
          <p:cNvPr id="4" name="Rectangle 3"/>
          <p:cNvSpPr/>
          <p:nvPr/>
        </p:nvSpPr>
        <p:spPr>
          <a:xfrm>
            <a:off x="409575" y="1073150"/>
            <a:ext cx="11449050" cy="9525"/>
          </a:xfrm>
          <a:prstGeom prst="rect">
            <a:avLst/>
          </a:prstGeom>
          <a:solidFill>
            <a:srgbClr val="5C5C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09575" y="1314450"/>
            <a:ext cx="171450" cy="171450"/>
          </a:xfrm>
          <a:prstGeom prst="roundRect">
            <a:avLst>
              <a:gd name="adj" fmla="val 20000"/>
            </a:avLst>
          </a:prstGeom>
          <a:solidFill>
            <a:srgbClr val="FBD332"/>
          </a:solidFill>
          <a:ln w="1270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7225"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ご判断いただくこと</a:t>
            </a:r>
          </a:p>
        </p:txBody>
      </p:sp>
      <p:sp>
        <p:nvSpPr>
          <p:cNvPr id="7" name="Rounded Rectangle 6"/>
          <p:cNvSpPr/>
          <p:nvPr/>
        </p:nvSpPr>
        <p:spPr>
          <a:xfrm>
            <a:off x="2533650" y="1314450"/>
            <a:ext cx="171450" cy="171450"/>
          </a:xfrm>
          <a:prstGeom prst="roundRect">
            <a:avLst>
              <a:gd name="adj" fmla="val 20000"/>
            </a:avLst>
          </a:prstGeom>
          <a:solidFill>
            <a:srgbClr val="24A046"/>
          </a:solidFill>
          <a:ln w="1270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81300" y="1257300"/>
            <a:ext cx="2476500" cy="285750"/>
          </a:xfrm>
          <a:prstGeom prst="rect">
            <a:avLst/>
          </a:prstGeom>
          <a:noFill/>
        </p:spPr>
        <p:txBody>
          <a:bodyPr wrap="square" lIns="0" rIns="0" tIns="0" bIns="0" anchor="ctr">
            <a:spAutoFit/>
          </a:bodyPr>
          <a:lstStyle/>
          <a:p>
            <a:pPr algn="l">
              <a:lnSpc>
                <a:spcPct val="122000"/>
              </a:lnSpc>
            </a:pPr>
            <a:r>
              <a:rPr sz="1500" b="0">
                <a:solidFill>
                  <a:srgbClr val="A0A0A8"/>
                </a:solidFill>
                <a:latin typeface="Amazon Ember"/>
                <a:ea typeface="メイリオ"/>
                <a:cs typeface="メイリオ"/>
              </a:rPr>
              <a:t>次の一歩</a:t>
            </a:r>
          </a:p>
        </p:txBody>
      </p:sp>
      <p:sp>
        <p:nvSpPr>
          <p:cNvPr id="9" name="TextBox 8"/>
          <p:cNvSpPr txBox="1"/>
          <p:nvPr/>
        </p:nvSpPr>
        <p:spPr>
          <a:xfrm>
            <a:off x="409575" y="1619250"/>
            <a:ext cx="5467350" cy="3429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ご判断いただくこと</a:t>
            </a:r>
          </a:p>
        </p:txBody>
      </p:sp>
      <p:sp>
        <p:nvSpPr>
          <p:cNvPr id="10" name="TextBox 9"/>
          <p:cNvSpPr txBox="1"/>
          <p:nvPr/>
        </p:nvSpPr>
        <p:spPr>
          <a:xfrm>
            <a:off x="6315075" y="1619250"/>
            <a:ext cx="5467350" cy="342900"/>
          </a:xfrm>
          <a:prstGeom prst="rect">
            <a:avLst/>
          </a:prstGeom>
          <a:noFill/>
        </p:spPr>
        <p:txBody>
          <a:bodyPr wrap="square" lIns="0" rIns="0" tIns="0" bIns="0" anchor="ctr">
            <a:spAutoFit/>
          </a:bodyPr>
          <a:lstStyle/>
          <a:p>
            <a:pPr algn="ctr">
              <a:lnSpc>
                <a:spcPct val="122000"/>
              </a:lnSpc>
            </a:pPr>
            <a:r>
              <a:rPr sz="2100" b="1">
                <a:solidFill>
                  <a:srgbClr val="F5F5F8"/>
                </a:solidFill>
                <a:latin typeface="Amazon Ember"/>
                <a:ea typeface="メイリオ"/>
                <a:cs typeface="メイリオ"/>
              </a:rPr>
              <a:t>次の一歩</a:t>
            </a:r>
          </a:p>
        </p:txBody>
      </p:sp>
      <p:sp>
        <p:nvSpPr>
          <p:cNvPr id="11" name="Rounded Rectangle 10"/>
          <p:cNvSpPr/>
          <p:nvPr/>
        </p:nvSpPr>
        <p:spPr>
          <a:xfrm>
            <a:off x="409575" y="2095500"/>
            <a:ext cx="5467350" cy="6096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MCP の接続先を Gateway にそろえる案で検証するか</a:t>
            </a:r>
          </a:p>
        </p:txBody>
      </p:sp>
      <p:sp>
        <p:nvSpPr>
          <p:cNvPr id="12" name="Rounded Rectangle 11"/>
          <p:cNvSpPr/>
          <p:nvPr/>
        </p:nvSpPr>
        <p:spPr>
          <a:xfrm>
            <a:off x="6315075" y="2095500"/>
            <a:ext cx="5467350" cy="6096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お使いのツールで Gateway につながるかを試す</a:t>
            </a:r>
          </a:p>
        </p:txBody>
      </p:sp>
      <p:sp>
        <p:nvSpPr>
          <p:cNvPr id="13" name="Rounded Rectangle 12"/>
          <p:cNvSpPr/>
          <p:nvPr/>
        </p:nvSpPr>
        <p:spPr>
          <a:xfrm>
            <a:off x="409575" y="2857500"/>
            <a:ext cx="5467350" cy="6096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監査ログを S3 と Athena から始めるか</a:t>
            </a:r>
          </a:p>
        </p:txBody>
      </p:sp>
      <p:sp>
        <p:nvSpPr>
          <p:cNvPr id="14" name="Rounded Rectangle 13"/>
          <p:cNvSpPr/>
          <p:nvPr/>
        </p:nvSpPr>
        <p:spPr>
          <a:xfrm>
            <a:off x="6315075" y="2857500"/>
            <a:ext cx="5467350" cy="6096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GitHub を登録し、Policy と記録を確かめる</a:t>
            </a:r>
          </a:p>
        </p:txBody>
      </p:sp>
      <p:sp>
        <p:nvSpPr>
          <p:cNvPr id="15" name="Rounded Rectangle 14"/>
          <p:cNvSpPr/>
          <p:nvPr/>
        </p:nvSpPr>
        <p:spPr>
          <a:xfrm>
            <a:off x="409575" y="3619500"/>
            <a:ext cx="5467350" cy="6096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ログの保管期間と専用アカウント</a:t>
            </a:r>
          </a:p>
        </p:txBody>
      </p:sp>
      <p:sp>
        <p:nvSpPr>
          <p:cNvPr id="16" name="Rounded Rectangle 15"/>
          <p:cNvSpPr/>
          <p:nvPr/>
        </p:nvSpPr>
        <p:spPr>
          <a:xfrm>
            <a:off x="6315075" y="3619500"/>
            <a:ext cx="5467350" cy="6096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GitHub の監査ログを S3 へ送る</a:t>
            </a:r>
          </a:p>
        </p:txBody>
      </p:sp>
      <p:sp>
        <p:nvSpPr>
          <p:cNvPr id="17" name="Rounded Rectangle 16"/>
          <p:cNvSpPr/>
          <p:nvPr/>
        </p:nvSpPr>
        <p:spPr>
          <a:xfrm>
            <a:off x="409575" y="4381500"/>
            <a:ext cx="5467350" cy="609600"/>
          </a:xfrm>
          <a:prstGeom prst="roundRect">
            <a:avLst>
              <a:gd name="adj" fmla="val 12000"/>
            </a:avLst>
          </a:prstGeom>
          <a:solidFill>
            <a:srgbClr val="50420E"/>
          </a:solidFill>
          <a:ln w="19050">
            <a:solidFill>
              <a:srgbClr val="FBD332"/>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freee 社への問い合わせの担当</a:t>
            </a:r>
          </a:p>
        </p:txBody>
      </p:sp>
      <p:sp>
        <p:nvSpPr>
          <p:cNvPr id="18" name="Rounded Rectangle 17"/>
          <p:cNvSpPr/>
          <p:nvPr/>
        </p:nvSpPr>
        <p:spPr>
          <a:xfrm>
            <a:off x="6315075" y="4381500"/>
            <a:ext cx="5467350" cy="609600"/>
          </a:xfrm>
          <a:prstGeom prst="roundRect">
            <a:avLst>
              <a:gd name="adj" fmla="val 12000"/>
            </a:avLst>
          </a:prstGeom>
          <a:solidFill>
            <a:srgbClr val="124022"/>
          </a:solidFill>
          <a:ln w="19050">
            <a:solidFill>
              <a:srgbClr val="24A046"/>
            </a:solid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19050" bIns="19050"/>
          <a:lstStyle/>
          <a:p>
            <a:pPr algn="ctr">
              <a:lnSpc>
                <a:spcPct val="122000"/>
              </a:lnSpc>
            </a:pPr>
            <a:r>
              <a:rPr sz="1700" b="1">
                <a:solidFill>
                  <a:srgbClr val="F5F5F8"/>
                </a:solidFill>
                <a:latin typeface="Amazon Ember"/>
                <a:ea typeface="メイリオ"/>
                <a:cs typeface="メイリオ"/>
              </a:rPr>
              <a:t>見張る操作を決め、SQL と通知を作る</a:t>
            </a:r>
          </a:p>
        </p:txBody>
      </p:sp>
    </p:spTree>
  </p:cSld>
  <p:clrMapOvr>
    <a:masterClrMapping/>
  </p:clrMapOvr>
</p:sld>
</file>

<file path=ppt/theme/theme1.xml><?xml version="1.0" encoding="utf-8"?>
<a:theme xmlns:a="http://schemas.openxmlformats.org/drawingml/2006/main" name="AWS Confidential Dark">
  <a:themeElements>
    <a:clrScheme name="AWS 2024">
      <a:dk1>
        <a:srgbClr val="000000"/>
      </a:dk1>
      <a:lt1>
        <a:srgbClr val="FFFFFF"/>
      </a:lt1>
      <a:dk2>
        <a:srgbClr val="161D26"/>
      </a:dk2>
      <a:lt2>
        <a:srgbClr val="F3F3F7"/>
      </a:lt2>
      <a:accent1>
        <a:srgbClr val="41B3FF"/>
      </a:accent1>
      <a:accent2>
        <a:srgbClr val="AD5CFF"/>
      </a:accent2>
      <a:accent3>
        <a:srgbClr val="00E500"/>
      </a:accent3>
      <a:accent4>
        <a:srgbClr val="FF5C85"/>
      </a:accent4>
      <a:accent5>
        <a:srgbClr val="FF693C"/>
      </a:accent5>
      <a:accent6>
        <a:srgbClr val="FBD332"/>
      </a:accent6>
      <a:hlink>
        <a:srgbClr val="41B1E8"/>
      </a:hlink>
      <a:folHlink>
        <a:srgbClr val="41B1E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lumMod val="75000"/>
          </a:schemeClr>
        </a:solidFill>
        <a:ln>
          <a:noFill/>
        </a:ln>
      </a:spPr>
      <a:bodyPr rtlCol="0" anchor="ctr"/>
      <a:lstStyle>
        <a:defPPr algn="ctr">
          <a:defRPr kumimoji="1" smtClean="0">
            <a:latin typeface="Amazon Ember Display" panose="020F0603020204020204" pitchFamily="34" charset="0"/>
            <a:ea typeface="メイリオ" panose="020B0604030504040204" pitchFamily="34" charset="-128"/>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none" rtlCol="0">
        <a:spAutoFit/>
      </a:bodyPr>
      <a:lstStyle>
        <a:defPPr algn="l">
          <a:defRPr kumimoji="1" smtClean="0">
            <a:latin typeface="Amazon Ember Display" panose="020F0603020204020204" pitchFamily="34" charset="0"/>
            <a:ea typeface="メイリオ" panose="020B0604030504040204" pitchFamily="34"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ne Brand 2022 Dark">
      <a:dk1>
        <a:srgbClr val="000000"/>
      </a:dk1>
      <a:lt1>
        <a:sysClr val="window" lastClr="FFFFFF"/>
      </a:lt1>
      <a:dk2>
        <a:srgbClr val="232F3E"/>
      </a:dk2>
      <a:lt2>
        <a:srgbClr val="F1F3F3"/>
      </a:lt2>
      <a:accent1>
        <a:srgbClr val="FF8500"/>
      </a:accent1>
      <a:accent2>
        <a:srgbClr val="7C59ED"/>
      </a:accent2>
      <a:accent3>
        <a:srgbClr val="38EF7D"/>
      </a:accent3>
      <a:accent4>
        <a:srgbClr val="F46DBA"/>
      </a:accent4>
      <a:accent5>
        <a:srgbClr val="9FFCEA"/>
      </a:accent5>
      <a:accent6>
        <a:srgbClr val="FBD8BF"/>
      </a:accent6>
      <a:hlink>
        <a:srgbClr val="41B1E8"/>
      </a:hlink>
      <a:folHlink>
        <a:srgbClr val="41B1E8"/>
      </a:folHlink>
    </a:clrScheme>
    <a:fontScheme name="Ember Heavy and Normal">
      <a:majorFont>
        <a:latin typeface="Amazon Ember Heavy"/>
        <a:ea typeface=""/>
        <a:cs typeface=""/>
      </a:majorFont>
      <a:minorFont>
        <a:latin typeface="Amazon Emb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31027CB-BA99-4849-AD2B-D501A617C772}">
  <we:reference id="wa200001625" version="1.0.0.8" store="en-US" storeType="OMEX"/>
  <we:alternateReferences>
    <we:reference id="wa200001625" version="1.0.0.8" store="wa20000162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103425</TotalTime>
  <Words>1507</Words>
  <Application>Microsoft Macintosh PowerPoint</Application>
  <PresentationFormat>Widescreen</PresentationFormat>
  <Paragraphs>93</Paragraphs>
  <Slides>11</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Meiryo</vt:lpstr>
      <vt:lpstr>システムフォント（レギュラー）</vt:lpstr>
      <vt:lpstr>Amazon Ember</vt:lpstr>
      <vt:lpstr>Amazon Ember Display</vt:lpstr>
      <vt:lpstr>Amazon Ember Mono</vt:lpstr>
      <vt:lpstr>Arial</vt:lpstr>
      <vt:lpstr>AWS Confidential Dark</vt:lpstr>
      <vt:lpstr>PFN 様向けの取り組み状況</vt:lpstr>
      <vt:lpstr>PowerPoint Presentation</vt:lpstr>
      <vt:lpstr>PowerPoint Presentation</vt:lpstr>
      <vt:lpstr>PLaMo3 on Trainium</vt:lpstr>
      <vt:lpstr>PowerPoint Presentation</vt:lpstr>
      <vt:lpstr>PowerPoint Presentation</vt:lpstr>
      <vt:lpstr>Native PyTorch</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template includes</dc:title>
  <dc:creator>Microsoft Office User</dc:creator>
  <cp:lastModifiedBy>Akazawa, Toshinobu</cp:lastModifiedBy>
  <cp:revision>1088</cp:revision>
  <cp:lastPrinted>2026-06-30T17:34:27Z</cp:lastPrinted>
  <dcterms:created xsi:type="dcterms:W3CDTF">2022-07-18T16:28:56Z</dcterms:created>
  <dcterms:modified xsi:type="dcterms:W3CDTF">2026-06-30T17:42:46Z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2025-07-23T09:55:06Z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72dc440f-c268-47a9-b913-f18389bbf79d</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