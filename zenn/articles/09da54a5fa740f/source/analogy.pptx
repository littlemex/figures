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4490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41B3FF"/>
                </a:solidFill>
                <a:latin typeface="Amazon Ember"/>
                <a:ea typeface="メイリオ"/>
                <a:cs typeface="メイリオ"/>
              </a:rPr>
              <a:t>ANALOGY TO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476250"/>
            <a:ext cx="114490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>
                <a:solidFill>
                  <a:srgbClr val="FFFFFF"/>
                </a:solidFill>
                <a:latin typeface="Amazon Ember"/>
                <a:ea typeface="メイリオ"/>
                <a:cs typeface="メイリオ"/>
              </a:rPr>
              <a:t>通行証のたとえで見る構成: 誰がどこで何をするか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575" y="1073150"/>
            <a:ext cx="11449050" cy="9525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9575" y="131445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6E727A"/>
          </a:solidFill>
          <a:ln w="1270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25" y="12573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他社の製品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5950" y="131445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3600" y="12573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AWS が提供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6175" y="131445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3825" y="12573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通行証をもらう流れ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0" y="131445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7900" y="12573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呼び出しの流れ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3325" y="1619250"/>
            <a:ext cx="5867400" cy="15240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725" y="1657350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Entra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5725" y="2057400"/>
            <a:ext cx="1714500" cy="9144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認可サーバー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発行所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0725" y="2057400"/>
            <a:ext cx="1714500" cy="9144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利用者の一覧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社員の名簿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05725" y="2057400"/>
            <a:ext cx="1714500" cy="9144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アプリ登録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アプリの名簿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1809750"/>
            <a:ext cx="1905000" cy="7620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利用者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社員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3905250"/>
            <a:ext cx="2095500" cy="9144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AI エージェント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社員の代理人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0075" y="3905250"/>
            <a:ext cx="3048000" cy="9144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AgentCore Gateway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機密エリアの受付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9325" y="390525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6E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SaaS の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MCP サーバー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90825" y="5286375"/>
            <a:ext cx="2381250" cy="7620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Policy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入ってよい部屋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7825" y="5286375"/>
            <a:ext cx="2476500" cy="7620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AgentCore Identity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金庫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39325" y="5286375"/>
            <a:ext cx="1905000" cy="7620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CloudTrail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記録帳</a:t>
            </a:r>
          </a:p>
        </p:txBody>
      </p:sp>
      <p:cxnSp>
        <p:nvCxnSpPr>
          <p:cNvPr id="25" name="Connector 24"/>
          <p:cNvCxnSpPr>
            <a:stCxn id="18" idx="3"/>
            <a:endCxn id="15" idx="1"/>
          </p:cNvCxnSpPr>
          <p:nvPr/>
        </p:nvCxnSpPr>
        <p:spPr>
          <a:xfrm>
            <a:off x="2314575" y="2190750"/>
            <a:ext cx="1581150" cy="323850"/>
          </a:xfrm>
          <a:prstGeom prst="line">
            <a:avLst/>
          </a:prstGeom>
          <a:ln w="31750">
            <a:solidFill>
              <a:srgbClr val="24A04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9" idx="0"/>
            <a:endCxn id="15" idx="2"/>
          </p:cNvCxnSpPr>
          <p:nvPr/>
        </p:nvCxnSpPr>
        <p:spPr>
          <a:xfrm flipV="1">
            <a:off x="1457325" y="2971800"/>
            <a:ext cx="3295650" cy="933450"/>
          </a:xfrm>
          <a:prstGeom prst="line">
            <a:avLst/>
          </a:prstGeom>
          <a:ln w="3175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3"/>
            <a:endCxn id="16" idx="1"/>
          </p:cNvCxnSpPr>
          <p:nvPr/>
        </p:nvCxnSpPr>
        <p:spPr>
          <a:xfrm flipV="1">
            <a:off x="5610225" y="2514600"/>
            <a:ext cx="190500" cy="0"/>
          </a:xfrm>
          <a:prstGeom prst="line">
            <a:avLst/>
          </a:prstGeom>
          <a:ln w="25400">
            <a:solidFill>
              <a:srgbClr val="24A04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6" idx="3"/>
            <a:endCxn id="17" idx="1"/>
          </p:cNvCxnSpPr>
          <p:nvPr/>
        </p:nvCxnSpPr>
        <p:spPr>
          <a:xfrm flipV="1">
            <a:off x="7515225" y="2514600"/>
            <a:ext cx="190500" cy="0"/>
          </a:xfrm>
          <a:prstGeom prst="line">
            <a:avLst/>
          </a:prstGeom>
          <a:ln w="25400">
            <a:solidFill>
              <a:srgbClr val="24A04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9" idx="3"/>
            <a:endCxn id="20" idx="1"/>
          </p:cNvCxnSpPr>
          <p:nvPr/>
        </p:nvCxnSpPr>
        <p:spPr>
          <a:xfrm flipV="1">
            <a:off x="2505075" y="4362450"/>
            <a:ext cx="1905000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2" idx="0"/>
            <a:endCxn id="20" idx="2"/>
          </p:cNvCxnSpPr>
          <p:nvPr/>
        </p:nvCxnSpPr>
        <p:spPr>
          <a:xfrm flipV="1">
            <a:off x="3981450" y="4819650"/>
            <a:ext cx="1952625" cy="466725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3" idx="0"/>
            <a:endCxn id="20" idx="2"/>
          </p:cNvCxnSpPr>
          <p:nvPr/>
        </p:nvCxnSpPr>
        <p:spPr>
          <a:xfrm flipH="1" flipV="1">
            <a:off x="5934075" y="4819650"/>
            <a:ext cx="762000" cy="466725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0" idx="3"/>
            <a:endCxn id="21" idx="1"/>
          </p:cNvCxnSpPr>
          <p:nvPr/>
        </p:nvCxnSpPr>
        <p:spPr>
          <a:xfrm flipV="1">
            <a:off x="7458075" y="4362450"/>
            <a:ext cx="2381250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20" idx="3"/>
            <a:endCxn id="24" idx="1"/>
          </p:cNvCxnSpPr>
          <p:nvPr/>
        </p:nvCxnSpPr>
        <p:spPr>
          <a:xfrm>
            <a:off x="7458075" y="4362450"/>
            <a:ext cx="2381250" cy="1304925"/>
          </a:xfrm>
          <a:prstGeom prst="line">
            <a:avLst/>
          </a:prstGeom>
          <a:ln w="15875">
            <a:solidFill>
              <a:srgbClr val="A0A0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14575" y="2533650"/>
            <a:ext cx="16192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4A046"/>
                </a:solidFill>
                <a:latin typeface="Amazon Ember"/>
                <a:ea typeface="メイリオ"/>
                <a:cs typeface="メイリオ"/>
              </a:rPr>
              <a:t>1. 社員証で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24A046"/>
                </a:solidFill>
                <a:latin typeface="Amazon Ember"/>
                <a:ea typeface="メイリオ"/>
                <a:cs typeface="メイリオ"/>
              </a:rPr>
              <a:t>サインイン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575" y="272415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4A046"/>
                </a:solidFill>
                <a:latin typeface="Amazon Ember"/>
                <a:ea typeface="メイリオ"/>
                <a:cs typeface="メイリオ"/>
              </a:rPr>
              <a:t>2. 代理人用の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24A046"/>
                </a:solidFill>
                <a:latin typeface="Amazon Ember"/>
                <a:ea typeface="メイリオ"/>
                <a:cs typeface="メイリオ"/>
              </a:rPr>
              <a:t>通行証をもらう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3575" y="16573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4A046"/>
                </a:solidFill>
                <a:latin typeface="Amazon Ember"/>
                <a:ea typeface="メイリオ"/>
                <a:cs typeface="メイリオ"/>
              </a:rPr>
              <a:t>3. 名簿を 2 つ確かめて出す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2225" y="35052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4. 通行証を見せる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5381625"/>
            <a:ext cx="2000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5. 入ってよい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部屋かを判定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1950" y="5476875"/>
            <a:ext cx="1619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6. 金庫の鍵を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受付に渡す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3825" y="35052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7. 鍵を使って呼ぶ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1575" y="4572000"/>
            <a:ext cx="1524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8. 記録する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